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79" r:id="rId4"/>
    <p:sldId id="263" r:id="rId5"/>
    <p:sldId id="264" r:id="rId6"/>
    <p:sldId id="268" r:id="rId7"/>
    <p:sldId id="271" r:id="rId8"/>
    <p:sldId id="265" r:id="rId9"/>
    <p:sldId id="276" r:id="rId10"/>
    <p:sldId id="280" r:id="rId11"/>
    <p:sldId id="278" r:id="rId12"/>
    <p:sldId id="277" r:id="rId13"/>
    <p:sldId id="26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5" autoAdjust="0"/>
    <p:restoredTop sz="94660"/>
  </p:normalViewPr>
  <p:slideViewPr>
    <p:cSldViewPr snapToGrid="0">
      <p:cViewPr>
        <p:scale>
          <a:sx n="77" d="100"/>
          <a:sy n="77" d="100"/>
        </p:scale>
        <p:origin x="3150" y="19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5947-D7FE-4306-BA8A-6A7705032833}" type="datetimeFigureOut">
              <a:rPr lang="en-KE" smtClean="0"/>
              <a:t>03/22/2026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0667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5947-D7FE-4306-BA8A-6A7705032833}" type="datetimeFigureOut">
              <a:rPr lang="en-KE" smtClean="0"/>
              <a:t>03/22/2026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609351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5947-D7FE-4306-BA8A-6A7705032833}" type="datetimeFigureOut">
              <a:rPr lang="en-KE" smtClean="0"/>
              <a:t>03/22/2026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6273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5947-D7FE-4306-BA8A-6A7705032833}" type="datetimeFigureOut">
              <a:rPr lang="en-KE" smtClean="0"/>
              <a:t>03/22/2026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951277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5947-D7FE-4306-BA8A-6A7705032833}" type="datetimeFigureOut">
              <a:rPr lang="en-KE" smtClean="0"/>
              <a:t>03/22/2026</a:t>
            </a:fld>
            <a:endParaRPr lang="en-K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232810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5947-D7FE-4306-BA8A-6A7705032833}" type="datetimeFigureOut">
              <a:rPr lang="en-KE" smtClean="0"/>
              <a:t>03/22/2026</a:t>
            </a:fld>
            <a:endParaRPr lang="en-K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374018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5947-D7FE-4306-BA8A-6A7705032833}" type="datetimeFigureOut">
              <a:rPr lang="en-KE" smtClean="0"/>
              <a:t>03/22/2026</a:t>
            </a:fld>
            <a:endParaRPr lang="en-K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K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072369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A755947-D7FE-4306-BA8A-6A7705032833}" type="datetimeFigureOut">
              <a:rPr lang="en-KE" smtClean="0"/>
              <a:t>03/22/2026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671725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5947-D7FE-4306-BA8A-6A7705032833}" type="datetimeFigureOut">
              <a:rPr lang="en-KE" smtClean="0"/>
              <a:t>03/22/2026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77609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5947-D7FE-4306-BA8A-6A7705032833}" type="datetimeFigureOut">
              <a:rPr lang="en-KE" smtClean="0"/>
              <a:t>03/22/2026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149483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5947-D7FE-4306-BA8A-6A7705032833}" type="datetimeFigureOut">
              <a:rPr lang="en-KE" smtClean="0"/>
              <a:t>03/22/2026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026368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A755947-D7FE-4306-BA8A-6A7705032833}" type="datetimeFigureOut">
              <a:rPr lang="en-KE" smtClean="0"/>
              <a:t>03/22/2026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2000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9">
            <a:extLst>
              <a:ext uri="{FF2B5EF4-FFF2-40B4-BE49-F238E27FC236}">
                <a16:creationId xmlns:a16="http://schemas.microsoft.com/office/drawing/2014/main" id="{EB1836F0-F9E0-4D93-9BDD-7EEC6EA05F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5C14E0-76D5-15C8-3B21-ABAB15F79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926" y="461513"/>
            <a:ext cx="11189388" cy="368601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Short Course On Machine Learning and AI</a:t>
            </a:r>
            <a:br>
              <a:rPr lang="en-US" dirty="0"/>
            </a:br>
            <a:r>
              <a:rPr lang="en-US" dirty="0"/>
              <a:t>2026</a:t>
            </a:r>
            <a:endParaRPr lang="en-K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E0A7EF-E25D-2618-B40B-612B188832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22653" y="4574328"/>
            <a:ext cx="6269347" cy="123861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John Kamau</a:t>
            </a:r>
            <a:endParaRPr lang="en-KE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9" name="Straight Connector 11">
            <a:extLst>
              <a:ext uri="{FF2B5EF4-FFF2-40B4-BE49-F238E27FC236}">
                <a16:creationId xmlns:a16="http://schemas.microsoft.com/office/drawing/2014/main" id="{7A49EFD3-A806-4D59-99F1-AA9AFAE4E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071" y="4343400"/>
            <a:ext cx="5636107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3">
            <a:extLst>
              <a:ext uri="{FF2B5EF4-FFF2-40B4-BE49-F238E27FC236}">
                <a16:creationId xmlns:a16="http://schemas.microsoft.com/office/drawing/2014/main" id="{6D2F28D1-82F9-40FE-935C-85ECF7660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E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4B670E93-2F53-48FC-AB6C-E99E22D17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80B922-5418-5FB0-E6C7-80EB57E4D0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72" y="6400800"/>
            <a:ext cx="396109" cy="4033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554284-03BD-5CA0-8E68-3BA4882524A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6254" y="6396768"/>
            <a:ext cx="794874" cy="411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555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HeaderBar"/>
          <p:cNvSpPr>
            <a:spLocks noGrp="1"/>
          </p:cNvSpPr>
          <p:nvPr/>
        </p:nvSpPr>
        <p:spPr>
          <a:xfrm>
            <a:off x="0" y="0"/>
            <a:ext cx="12192000" cy="800000"/>
          </a:xfrm>
          <a:prstGeom prst="rect">
            <a:avLst/>
          </a:prstGeom>
          <a:solidFill>
            <a:srgbClr val="15616D"/>
          </a:solidFill>
          <a:ln>
            <a:noFill/>
          </a:ln>
        </p:spPr>
        <p:txBody>
          <a:bodyPr anchor="ctr">
            <a:normAutofit/>
          </a:bodyPr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Trebuchet MS"/>
              </a:rPr>
              <a:t>  Session 4: AI Integration — Bringing It All Together</a:t>
            </a:r>
          </a:p>
        </p:txBody>
      </p:sp>
      <p:sp>
        <p:nvSpPr>
          <p:cNvPr id="10" name="TB10"/>
          <p:cNvSpPr txBox="1">
            <a:spLocks noGrp="1"/>
          </p:cNvSpPr>
          <p:nvPr/>
        </p:nvSpPr>
        <p:spPr>
          <a:xfrm>
            <a:off x="457200" y="950000"/>
            <a:ext cx="11200000" cy="4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400" b="0" dirty="0">
                <a:solidFill>
                  <a:srgbClr val="555555"/>
                </a:solidFill>
                <a:latin typeface="Calibri"/>
              </a:rPr>
              <a:t>Today we wrap everything into production-ready systems that run automatically</a:t>
            </a:r>
          </a:p>
        </p:txBody>
      </p:sp>
      <p:sp>
        <p:nvSpPr>
          <p:cNvPr id="11" name="RC11"/>
          <p:cNvSpPr txBox="1">
            <a:spLocks noGrp="1"/>
          </p:cNvSpPr>
          <p:nvPr/>
        </p:nvSpPr>
        <p:spPr>
          <a:xfrm>
            <a:off x="457200" y="1500000"/>
            <a:ext cx="2600000" cy="1700000"/>
          </a:xfrm>
          <a:prstGeom prst="roundRect">
            <a:avLst>
              <a:gd name="adj" fmla="val 16667"/>
            </a:avLst>
          </a:prstGeom>
          <a:solidFill>
            <a:srgbClr val="15616D"/>
          </a:solidFill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3600" b="1" dirty="0">
                <a:solidFill>
                  <a:srgbClr val="FFFFFF"/>
                </a:solidFill>
                <a:latin typeface="Trebuchet MS"/>
              </a:rPr>
              <a:t>APIs</a:t>
            </a:r>
          </a:p>
          <a:p>
            <a:pPr algn="ctr"/>
            <a:r>
              <a:rPr lang="en-US" sz="1100" b="0" dirty="0">
                <a:solidFill>
                  <a:srgbClr val="C5CAB8"/>
                </a:solidFill>
                <a:latin typeface="Calibri"/>
              </a:rPr>
              <a:t>Serve ML models as web endpoints</a:t>
            </a:r>
          </a:p>
        </p:txBody>
      </p:sp>
      <p:sp>
        <p:nvSpPr>
          <p:cNvPr id="12" name="RC12"/>
          <p:cNvSpPr txBox="1">
            <a:spLocks noGrp="1"/>
          </p:cNvSpPr>
          <p:nvPr/>
        </p:nvSpPr>
        <p:spPr>
          <a:xfrm>
            <a:off x="3250000" y="1500000"/>
            <a:ext cx="2600000" cy="1700000"/>
          </a:xfrm>
          <a:prstGeom prst="roundRect">
            <a:avLst>
              <a:gd name="adj" fmla="val 16667"/>
            </a:avLst>
          </a:prstGeom>
          <a:solidFill>
            <a:srgbClr val="BC5308"/>
          </a:solidFill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3600" b="1" dirty="0">
                <a:solidFill>
                  <a:srgbClr val="FFFFFF"/>
                </a:solidFill>
                <a:latin typeface="Trebuchet MS"/>
              </a:rPr>
              <a:t>Pipelines</a:t>
            </a:r>
          </a:p>
          <a:p>
            <a:pPr algn="ctr"/>
            <a:r>
              <a:rPr lang="en-US" sz="1100" b="0" dirty="0">
                <a:solidFill>
                  <a:srgbClr val="C5CAB8"/>
                </a:solidFill>
                <a:latin typeface="Calibri"/>
              </a:rPr>
              <a:t>Automate data flow end-to-end</a:t>
            </a:r>
          </a:p>
        </p:txBody>
      </p:sp>
      <p:sp>
        <p:nvSpPr>
          <p:cNvPr id="13" name="RC13"/>
          <p:cNvSpPr txBox="1">
            <a:spLocks noGrp="1"/>
          </p:cNvSpPr>
          <p:nvPr/>
        </p:nvSpPr>
        <p:spPr>
          <a:xfrm>
            <a:off x="6050000" y="1500000"/>
            <a:ext cx="2600000" cy="1700000"/>
          </a:xfrm>
          <a:prstGeom prst="roundRect">
            <a:avLst>
              <a:gd name="adj" fmla="val 16667"/>
            </a:avLst>
          </a:prstGeom>
          <a:solidFill>
            <a:srgbClr val="FF7D00"/>
          </a:solidFill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3600" b="1" dirty="0">
                <a:solidFill>
                  <a:srgbClr val="001524"/>
                </a:solidFill>
                <a:latin typeface="Trebuchet MS"/>
              </a:rPr>
              <a:t>Scheduling</a:t>
            </a:r>
          </a:p>
          <a:p>
            <a:pPr algn="ctr"/>
            <a:r>
              <a:rPr lang="en-US" sz="1100" b="0" dirty="0">
                <a:solidFill>
                  <a:srgbClr val="001524"/>
                </a:solidFill>
                <a:latin typeface="Calibri"/>
              </a:rPr>
              <a:t>GitHub Actions: free CI/CD automation</a:t>
            </a:r>
          </a:p>
        </p:txBody>
      </p:sp>
      <p:sp>
        <p:nvSpPr>
          <p:cNvPr id="14" name="RC14"/>
          <p:cNvSpPr txBox="1">
            <a:spLocks noGrp="1"/>
          </p:cNvSpPr>
          <p:nvPr/>
        </p:nvSpPr>
        <p:spPr>
          <a:xfrm>
            <a:off x="8850000" y="1500000"/>
            <a:ext cx="2900000" cy="1700000"/>
          </a:xfrm>
          <a:prstGeom prst="roundRect">
            <a:avLst>
              <a:gd name="adj" fmla="val 16667"/>
            </a:avLst>
          </a:prstGeom>
          <a:solidFill>
            <a:srgbClr val="8AA79F"/>
          </a:solidFill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3600" b="1" dirty="0">
                <a:solidFill>
                  <a:srgbClr val="001524"/>
                </a:solidFill>
                <a:latin typeface="Trebuchet MS"/>
              </a:rPr>
              <a:t>Monitoring</a:t>
            </a:r>
          </a:p>
          <a:p>
            <a:pPr algn="ctr"/>
            <a:r>
              <a:rPr lang="en-US" sz="1100" b="0" dirty="0">
                <a:solidFill>
                  <a:srgbClr val="001524"/>
                </a:solidFill>
                <a:latin typeface="Calibri"/>
              </a:rPr>
              <a:t>Track model performance in production</a:t>
            </a:r>
          </a:p>
        </p:txBody>
      </p:sp>
      <p:sp>
        <p:nvSpPr>
          <p:cNvPr id="20" name="TB20"/>
          <p:cNvSpPr txBox="1">
            <a:spLocks noGrp="1"/>
          </p:cNvSpPr>
          <p:nvPr/>
        </p:nvSpPr>
        <p:spPr>
          <a:xfrm>
            <a:off x="457200" y="3400000"/>
            <a:ext cx="11200000" cy="45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800" b="1" dirty="0">
                <a:solidFill>
                  <a:srgbClr val="15616D"/>
                </a:solidFill>
                <a:latin typeface="Trebuchet MS"/>
              </a:rPr>
              <a:t>The 4-Session Journey — What You've Learned</a:t>
            </a:r>
          </a:p>
        </p:txBody>
      </p:sp>
      <p:sp>
        <p:nvSpPr>
          <p:cNvPr id="21" name="CB21"/>
          <p:cNvSpPr>
            <a:spLocks noGrp="1"/>
          </p:cNvSpPr>
          <p:nvPr/>
        </p:nvSpPr>
        <p:spPr>
          <a:xfrm>
            <a:off x="457200" y="3950000"/>
            <a:ext cx="2650000" cy="2200000"/>
          </a:xfrm>
          <a:prstGeom prst="rect">
            <a:avLst/>
          </a:prstGeom>
          <a:solidFill>
            <a:srgbClr val="15616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B22"/>
          <p:cNvSpPr txBox="1">
            <a:spLocks noGrp="1"/>
          </p:cNvSpPr>
          <p:nvPr/>
        </p:nvSpPr>
        <p:spPr>
          <a:xfrm>
            <a:off x="600000" y="4050000"/>
            <a:ext cx="2400000" cy="4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Calibri"/>
              </a:rPr>
              <a:t>Session 1</a:t>
            </a:r>
          </a:p>
        </p:txBody>
      </p:sp>
      <p:sp>
        <p:nvSpPr>
          <p:cNvPr id="23" name="TB23"/>
          <p:cNvSpPr txBox="1">
            <a:spLocks noGrp="1"/>
          </p:cNvSpPr>
          <p:nvPr/>
        </p:nvSpPr>
        <p:spPr>
          <a:xfrm>
            <a:off x="600000" y="4500000"/>
            <a:ext cx="2400000" cy="6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200" b="0" dirty="0">
                <a:solidFill>
                  <a:srgbClr val="C5CAB8"/>
                </a:solidFill>
                <a:latin typeface="Calibri"/>
              </a:rPr>
              <a:t>Classical ML: Random Forest, Gradient Boosting, scikit-learn</a:t>
            </a:r>
          </a:p>
        </p:txBody>
      </p:sp>
      <p:sp>
        <p:nvSpPr>
          <p:cNvPr id="24" name="CB24"/>
          <p:cNvSpPr>
            <a:spLocks noGrp="1"/>
          </p:cNvSpPr>
          <p:nvPr/>
        </p:nvSpPr>
        <p:spPr>
          <a:xfrm>
            <a:off x="3300000" y="3950000"/>
            <a:ext cx="2650000" cy="2200000"/>
          </a:xfrm>
          <a:prstGeom prst="rect">
            <a:avLst/>
          </a:prstGeom>
          <a:solidFill>
            <a:srgbClr val="BC530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B25"/>
          <p:cNvSpPr txBox="1">
            <a:spLocks noGrp="1"/>
          </p:cNvSpPr>
          <p:nvPr/>
        </p:nvSpPr>
        <p:spPr>
          <a:xfrm>
            <a:off x="3450000" y="4050000"/>
            <a:ext cx="2400000" cy="4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Calibri"/>
              </a:rPr>
              <a:t>Session 2</a:t>
            </a:r>
          </a:p>
        </p:txBody>
      </p:sp>
      <p:sp>
        <p:nvSpPr>
          <p:cNvPr id="26" name="TB26"/>
          <p:cNvSpPr txBox="1">
            <a:spLocks noGrp="1"/>
          </p:cNvSpPr>
          <p:nvPr/>
        </p:nvSpPr>
        <p:spPr>
          <a:xfrm>
            <a:off x="3450000" y="4500000"/>
            <a:ext cx="2400000" cy="6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200" b="0" dirty="0">
                <a:solidFill>
                  <a:srgbClr val="FFECD1"/>
                </a:solidFill>
                <a:latin typeface="Calibri"/>
              </a:rPr>
              <a:t>NLP: Bag-of-Words, spaCy NER, AutoML with H2O</a:t>
            </a:r>
          </a:p>
        </p:txBody>
      </p:sp>
      <p:sp>
        <p:nvSpPr>
          <p:cNvPr id="27" name="CB27"/>
          <p:cNvSpPr>
            <a:spLocks noGrp="1"/>
          </p:cNvSpPr>
          <p:nvPr/>
        </p:nvSpPr>
        <p:spPr>
          <a:xfrm>
            <a:off x="6150000" y="3950000"/>
            <a:ext cx="2650000" cy="2200000"/>
          </a:xfrm>
          <a:prstGeom prst="rect">
            <a:avLst/>
          </a:prstGeom>
          <a:solidFill>
            <a:srgbClr val="FF7D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TB28"/>
          <p:cNvSpPr txBox="1">
            <a:spLocks noGrp="1"/>
          </p:cNvSpPr>
          <p:nvPr/>
        </p:nvSpPr>
        <p:spPr>
          <a:xfrm>
            <a:off x="6300000" y="4050000"/>
            <a:ext cx="2400000" cy="4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600" b="1" dirty="0">
                <a:solidFill>
                  <a:srgbClr val="001524"/>
                </a:solidFill>
                <a:latin typeface="Calibri"/>
              </a:rPr>
              <a:t>Session 3</a:t>
            </a:r>
          </a:p>
        </p:txBody>
      </p:sp>
      <p:sp>
        <p:nvSpPr>
          <p:cNvPr id="29" name="TB29"/>
          <p:cNvSpPr txBox="1">
            <a:spLocks noGrp="1"/>
          </p:cNvSpPr>
          <p:nvPr/>
        </p:nvSpPr>
        <p:spPr>
          <a:xfrm>
            <a:off x="6300000" y="4500000"/>
            <a:ext cx="2400000" cy="6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200" b="0" dirty="0">
                <a:solidFill>
                  <a:srgbClr val="001524"/>
                </a:solidFill>
                <a:latin typeface="Calibri"/>
              </a:rPr>
              <a:t>LLMs: Ollama local models, Hugging Face, prompt engineering</a:t>
            </a:r>
          </a:p>
        </p:txBody>
      </p:sp>
      <p:sp>
        <p:nvSpPr>
          <p:cNvPr id="30" name="CB30"/>
          <p:cNvSpPr>
            <a:spLocks noGrp="1"/>
          </p:cNvSpPr>
          <p:nvPr/>
        </p:nvSpPr>
        <p:spPr>
          <a:xfrm>
            <a:off x="9000000" y="3950000"/>
            <a:ext cx="2750000" cy="2200000"/>
          </a:xfrm>
          <a:prstGeom prst="rect">
            <a:avLst/>
          </a:prstGeom>
          <a:solidFill>
            <a:srgbClr val="8AA79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TB31"/>
          <p:cNvSpPr txBox="1">
            <a:spLocks noGrp="1"/>
          </p:cNvSpPr>
          <p:nvPr/>
        </p:nvSpPr>
        <p:spPr>
          <a:xfrm>
            <a:off x="9150000" y="4050000"/>
            <a:ext cx="2500000" cy="4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600" b="1" dirty="0">
                <a:solidFill>
                  <a:srgbClr val="001524"/>
                </a:solidFill>
                <a:latin typeface="Calibri"/>
              </a:rPr>
              <a:t>Session 4</a:t>
            </a:r>
          </a:p>
        </p:txBody>
      </p:sp>
      <p:sp>
        <p:nvSpPr>
          <p:cNvPr id="32" name="TB32"/>
          <p:cNvSpPr txBox="1">
            <a:spLocks noGrp="1"/>
          </p:cNvSpPr>
          <p:nvPr/>
        </p:nvSpPr>
        <p:spPr>
          <a:xfrm>
            <a:off x="9150000" y="4500000"/>
            <a:ext cx="2500000" cy="6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200" b="0" dirty="0">
                <a:solidFill>
                  <a:srgbClr val="001524"/>
                </a:solidFill>
                <a:latin typeface="Calibri"/>
              </a:rPr>
              <a:t>Integration: FastAPI, pipelines, GitHub Actions automation</a:t>
            </a:r>
          </a:p>
        </p:txBody>
      </p:sp>
      <p:sp>
        <p:nvSpPr>
          <p:cNvPr id="90" name="FooterBar"/>
          <p:cNvSpPr>
            <a:spLocks noGrp="1"/>
          </p:cNvSpPr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15616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HeaderBar"/>
          <p:cNvSpPr>
            <a:spLocks noGrp="1"/>
          </p:cNvSpPr>
          <p:nvPr/>
        </p:nvSpPr>
        <p:spPr>
          <a:xfrm>
            <a:off x="0" y="0"/>
            <a:ext cx="12192000" cy="800000"/>
          </a:xfrm>
          <a:prstGeom prst="rect">
            <a:avLst/>
          </a:prstGeom>
          <a:solidFill>
            <a:srgbClr val="15616D"/>
          </a:solidFill>
          <a:ln>
            <a:noFill/>
          </a:ln>
        </p:spPr>
        <p:txBody>
          <a:bodyPr anchor="ctr">
            <a:normAutofit/>
          </a:bodyPr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Trebuchet MS"/>
              </a:rPr>
              <a:t>  APIs — Serving Your ML Model to the World</a:t>
            </a:r>
          </a:p>
        </p:txBody>
      </p:sp>
      <p:sp>
        <p:nvSpPr>
          <p:cNvPr id="10" name="CB10"/>
          <p:cNvSpPr>
            <a:spLocks noGrp="1"/>
          </p:cNvSpPr>
          <p:nvPr/>
        </p:nvSpPr>
        <p:spPr>
          <a:xfrm>
            <a:off x="457200" y="950000"/>
            <a:ext cx="5500000" cy="4700000"/>
          </a:xfrm>
          <a:prstGeom prst="rect">
            <a:avLst/>
          </a:prstGeom>
          <a:solidFill>
            <a:srgbClr val="00152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B11"/>
          <p:cNvSpPr txBox="1">
            <a:spLocks noGrp="1"/>
          </p:cNvSpPr>
          <p:nvPr/>
        </p:nvSpPr>
        <p:spPr>
          <a:xfrm>
            <a:off x="600000" y="1020000"/>
            <a:ext cx="5200000" cy="5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800" b="1" dirty="0">
                <a:solidFill>
                  <a:srgbClr val="FF7D00"/>
                </a:solidFill>
                <a:latin typeface="Trebuchet MS"/>
              </a:rPr>
              <a:t>What is a REST API?</a:t>
            </a:r>
          </a:p>
        </p:txBody>
      </p:sp>
      <p:sp>
        <p:nvSpPr>
          <p:cNvPr id="12" name="BL12"/>
          <p:cNvSpPr txBox="1">
            <a:spLocks noGrp="1"/>
          </p:cNvSpPr>
          <p:nvPr/>
        </p:nvSpPr>
        <p:spPr>
          <a:xfrm>
            <a:off x="600000" y="1620000"/>
            <a:ext cx="5100000" cy="39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300" b="0" dirty="0">
                <a:solidFill>
                  <a:srgbClr val="C5CAB8"/>
                </a:solidFill>
                <a:latin typeface="Calibri"/>
              </a:rPr>
              <a:t>A way for software to communicate over HTTP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300" b="0" dirty="0">
                <a:solidFill>
                  <a:srgbClr val="C5CAB8"/>
                </a:solidFill>
                <a:latin typeface="Calibri"/>
              </a:rPr>
              <a:t>Client sends request - Server runs model - Returns JSON result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300" b="0" dirty="0">
                <a:solidFill>
                  <a:srgbClr val="C5CAB8"/>
                </a:solidFill>
                <a:latin typeface="Calibri"/>
              </a:rPr>
              <a:t>Same way your phone app talks to a server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endParaRPr lang="en-US" sz="1300" b="0" dirty="0">
              <a:solidFill>
                <a:srgbClr val="C5CAB8"/>
              </a:solidFill>
              <a:latin typeface="Calibri"/>
            </a:endParaRP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8AA79F"/>
                </a:solidFill>
                <a:latin typeface="Trebuchet MS"/>
              </a:rPr>
              <a:t>FastAPI — Modern Python Web Framework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200" b="0" dirty="0">
                <a:solidFill>
                  <a:srgbClr val="C5CAB8"/>
                </a:solidFill>
                <a:latin typeface="Calibri"/>
              </a:rPr>
              <a:t>pip install fastapi uvicorn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endParaRPr lang="en-US" sz="1200" b="0" dirty="0">
              <a:solidFill>
                <a:srgbClr val="C5CAB8"/>
              </a:solidFill>
              <a:latin typeface="Calibri"/>
            </a:endParaRP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200" b="0" dirty="0">
                <a:solidFill>
                  <a:srgbClr val="C5CAB8"/>
                </a:solidFill>
                <a:latin typeface="Calibri"/>
              </a:rPr>
              <a:t>from fastapi import FastAPI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200" b="0" dirty="0">
                <a:solidFill>
                  <a:srgbClr val="C5CAB8"/>
                </a:solidFill>
                <a:latin typeface="Calibri"/>
              </a:rPr>
              <a:t>app = FastAPI()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endParaRPr lang="en-US" sz="1200" b="0" dirty="0">
              <a:solidFill>
                <a:srgbClr val="C5CAB8"/>
              </a:solidFill>
              <a:latin typeface="Calibri"/>
            </a:endParaRP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200" b="0" dirty="0">
                <a:solidFill>
                  <a:srgbClr val="FF7D00"/>
                </a:solidFill>
                <a:latin typeface="Calibri"/>
              </a:rPr>
              <a:t>@app.post('/predict')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200" b="0" dirty="0">
                <a:solidFill>
                  <a:srgbClr val="C5CAB8"/>
                </a:solidFill>
                <a:latin typeface="Calibri"/>
              </a:rPr>
              <a:t>def predict(rainfall: float):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200" b="0" dirty="0">
                <a:solidFill>
                  <a:srgbClr val="C5CAB8"/>
                </a:solidFill>
                <a:latin typeface="Calibri"/>
              </a:rPr>
              <a:t>    yield_pred = model.predict([[rainfall]])[0]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200" b="0" dirty="0">
                <a:solidFill>
                  <a:srgbClr val="C5CAB8"/>
                </a:solidFill>
                <a:latin typeface="Calibri"/>
              </a:rPr>
              <a:t>    return {'predicted_yield_tonnes': yield_pred}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endParaRPr lang="en-US" sz="1200" b="0" dirty="0">
              <a:solidFill>
                <a:srgbClr val="C5CAB8"/>
              </a:solidFill>
              <a:latin typeface="Calibri"/>
            </a:endParaRP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200" b="0" dirty="0">
                <a:solidFill>
                  <a:srgbClr val="8AA79F"/>
                </a:solidFill>
                <a:latin typeface="Calibri"/>
              </a:rPr>
              <a:t>uvicorn main:app --reload  # runs on localhost:8000</a:t>
            </a:r>
          </a:p>
        </p:txBody>
      </p:sp>
      <p:sp>
        <p:nvSpPr>
          <p:cNvPr id="20" name="CB20"/>
          <p:cNvSpPr>
            <a:spLocks noGrp="1"/>
          </p:cNvSpPr>
          <p:nvPr/>
        </p:nvSpPr>
        <p:spPr>
          <a:xfrm>
            <a:off x="6200000" y="950000"/>
            <a:ext cx="5550000" cy="47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B21"/>
          <p:cNvSpPr txBox="1">
            <a:spLocks noGrp="1"/>
          </p:cNvSpPr>
          <p:nvPr/>
        </p:nvSpPr>
        <p:spPr>
          <a:xfrm>
            <a:off x="6400000" y="1020000"/>
            <a:ext cx="5100000" cy="5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800" b="1" dirty="0">
                <a:solidFill>
                  <a:srgbClr val="15616D"/>
                </a:solidFill>
                <a:latin typeface="Trebuchet MS"/>
              </a:rPr>
              <a:t>Why FastAPI?</a:t>
            </a:r>
          </a:p>
        </p:txBody>
      </p:sp>
      <p:sp>
        <p:nvSpPr>
          <p:cNvPr id="22" name="BL22"/>
          <p:cNvSpPr txBox="1">
            <a:spLocks noGrp="1"/>
          </p:cNvSpPr>
          <p:nvPr/>
        </p:nvSpPr>
        <p:spPr>
          <a:xfrm>
            <a:off x="6400000" y="1620000"/>
            <a:ext cx="5100000" cy="39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15616D"/>
                </a:solidFill>
                <a:latin typeface="Trebuchet MS"/>
              </a:rPr>
              <a:t>Auto-generated documentation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200" b="0" dirty="0">
                <a:solidFill>
                  <a:srgbClr val="444444"/>
                </a:solidFill>
                <a:latin typeface="Calibri"/>
              </a:rPr>
              <a:t>Visit /docs in browser — interactive Swagger UI for free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200" b="0" dirty="0">
                <a:solidFill>
                  <a:srgbClr val="444444"/>
                </a:solidFill>
                <a:latin typeface="Calibri"/>
              </a:rPr>
              <a:t>Test your API without writing a frontend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endParaRPr lang="en-US" sz="1200" b="0" dirty="0">
              <a:solidFill>
                <a:srgbClr val="444444"/>
              </a:solidFill>
              <a:latin typeface="Calibri"/>
            </a:endParaRP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15616D"/>
                </a:solidFill>
                <a:latin typeface="Trebuchet MS"/>
              </a:rPr>
              <a:t>Async support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200" b="0" dirty="0">
                <a:solidFill>
                  <a:srgbClr val="444444"/>
                </a:solidFill>
                <a:latin typeface="Calibri"/>
              </a:rPr>
              <a:t>Handle 1000s of concurrent requests efficiently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endParaRPr lang="en-US" sz="1200" b="0" dirty="0">
              <a:solidFill>
                <a:srgbClr val="444444"/>
              </a:solidFill>
              <a:latin typeface="Calibri"/>
            </a:endParaRP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15616D"/>
                </a:solidFill>
                <a:latin typeface="Trebuchet MS"/>
              </a:rPr>
              <a:t>Type validation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200" b="0" dirty="0">
                <a:solidFill>
                  <a:srgbClr val="444444"/>
                </a:solidFill>
                <a:latin typeface="Calibri"/>
              </a:rPr>
              <a:t>Pydantic auto-validates request/response types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200" b="0" dirty="0">
                <a:solidFill>
                  <a:srgbClr val="444444"/>
                </a:solidFill>
                <a:latin typeface="Calibri"/>
              </a:rPr>
              <a:t>Catches bad inputs before they reach your model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endParaRPr lang="en-US" sz="1200" b="0" dirty="0">
              <a:solidFill>
                <a:srgbClr val="444444"/>
              </a:solidFill>
              <a:latin typeface="Calibri"/>
            </a:endParaRP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300" b="1" dirty="0">
                <a:solidFill>
                  <a:srgbClr val="BC5308"/>
                </a:solidFill>
                <a:latin typeface="Calibri"/>
              </a:rPr>
              <a:t>Real-world: Safaricom, Andela teams use FastAPI internally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200" b="0" dirty="0">
                <a:solidFill>
                  <a:srgbClr val="444444"/>
                </a:solidFill>
                <a:latin typeface="Calibri"/>
              </a:rPr>
              <a:t>Industry standard for ML serving in Python alongside Flask</a:t>
            </a:r>
          </a:p>
        </p:txBody>
      </p:sp>
      <p:sp>
        <p:nvSpPr>
          <p:cNvPr id="90" name="FooterBar"/>
          <p:cNvSpPr>
            <a:spLocks noGrp="1"/>
          </p:cNvSpPr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15616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HeaderBar"/>
          <p:cNvSpPr>
            <a:spLocks noGrp="1"/>
          </p:cNvSpPr>
          <p:nvPr/>
        </p:nvSpPr>
        <p:spPr>
          <a:xfrm>
            <a:off x="0" y="0"/>
            <a:ext cx="12192000" cy="800000"/>
          </a:xfrm>
          <a:prstGeom prst="rect">
            <a:avLst/>
          </a:prstGeom>
          <a:solidFill>
            <a:srgbClr val="15616D"/>
          </a:solidFill>
          <a:ln>
            <a:noFill/>
          </a:ln>
        </p:spPr>
        <p:txBody>
          <a:bodyPr anchor="ctr">
            <a:normAutofit/>
          </a:bodyPr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Trebuchet MS"/>
              </a:rPr>
              <a:t>  Building an End-to-End AI Pipeline</a:t>
            </a:r>
          </a:p>
        </p:txBody>
      </p:sp>
      <p:sp>
        <p:nvSpPr>
          <p:cNvPr id="10" name="TB10"/>
          <p:cNvSpPr txBox="1">
            <a:spLocks noGrp="1"/>
          </p:cNvSpPr>
          <p:nvPr/>
        </p:nvSpPr>
        <p:spPr>
          <a:xfrm>
            <a:off x="457200" y="950000"/>
            <a:ext cx="11200000" cy="35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400" b="0" dirty="0">
                <a:solidFill>
                  <a:srgbClr val="555555"/>
                </a:solidFill>
                <a:latin typeface="Calibri"/>
              </a:rPr>
              <a:t>Demo: Read streaming news → summarize with LLM → classify sentiment → save to CSV</a:t>
            </a:r>
          </a:p>
        </p:txBody>
      </p:sp>
      <p:sp>
        <p:nvSpPr>
          <p:cNvPr id="11" name="CB11"/>
          <p:cNvSpPr>
            <a:spLocks noGrp="1"/>
          </p:cNvSpPr>
          <p:nvPr/>
        </p:nvSpPr>
        <p:spPr>
          <a:xfrm>
            <a:off x="457200" y="1380000"/>
            <a:ext cx="220000" cy="4800000"/>
          </a:xfrm>
          <a:prstGeom prst="rect">
            <a:avLst/>
          </a:prstGeom>
          <a:solidFill>
            <a:srgbClr val="15616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CB12"/>
          <p:cNvSpPr>
            <a:spLocks noGrp="1"/>
          </p:cNvSpPr>
          <p:nvPr/>
        </p:nvSpPr>
        <p:spPr>
          <a:xfrm>
            <a:off x="700000" y="1380000"/>
            <a:ext cx="2300000" cy="900000"/>
          </a:xfrm>
          <a:prstGeom prst="rect">
            <a:avLst/>
          </a:prstGeom>
          <a:solidFill>
            <a:srgbClr val="15616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TB13"/>
          <p:cNvSpPr txBox="1">
            <a:spLocks noGrp="1"/>
          </p:cNvSpPr>
          <p:nvPr/>
        </p:nvSpPr>
        <p:spPr>
          <a:xfrm>
            <a:off x="750000" y="1430000"/>
            <a:ext cx="2200000" cy="8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1. Read Stream</a:t>
            </a:r>
          </a:p>
        </p:txBody>
      </p:sp>
      <p:sp>
        <p:nvSpPr>
          <p:cNvPr id="14" name="BL14"/>
          <p:cNvSpPr txBox="1">
            <a:spLocks noGrp="1"/>
          </p:cNvSpPr>
          <p:nvPr/>
        </p:nvSpPr>
        <p:spPr>
          <a:xfrm>
            <a:off x="700000" y="2350000"/>
            <a:ext cx="2300000" cy="11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150" b="0" dirty="0">
                <a:solidFill>
                  <a:srgbClr val="444444"/>
                </a:solidFill>
                <a:latin typeface="Calibri"/>
              </a:rPr>
              <a:t>Open news_stream.txt line by line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150" b="0" dirty="0">
                <a:solidFill>
                  <a:srgbClr val="444444"/>
                </a:solidFill>
                <a:latin typeface="Calibri"/>
              </a:rPr>
              <a:t>Or fetch RSS feed: feedparser library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150" b="0" dirty="0">
                <a:solidFill>
                  <a:srgbClr val="444444"/>
                </a:solidFill>
                <a:latin typeface="Calibri"/>
              </a:rPr>
              <a:t>Process in batches of 10 articles</a:t>
            </a:r>
          </a:p>
        </p:txBody>
      </p:sp>
      <p:sp>
        <p:nvSpPr>
          <p:cNvPr id="15" name="CB15"/>
          <p:cNvSpPr>
            <a:spLocks noGrp="1"/>
          </p:cNvSpPr>
          <p:nvPr/>
        </p:nvSpPr>
        <p:spPr>
          <a:xfrm>
            <a:off x="3150000" y="1380000"/>
            <a:ext cx="2300000" cy="900000"/>
          </a:xfrm>
          <a:prstGeom prst="rect">
            <a:avLst/>
          </a:prstGeom>
          <a:solidFill>
            <a:srgbClr val="BC530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B16"/>
          <p:cNvSpPr txBox="1">
            <a:spLocks noGrp="1"/>
          </p:cNvSpPr>
          <p:nvPr/>
        </p:nvSpPr>
        <p:spPr>
          <a:xfrm>
            <a:off x="3200000" y="1430000"/>
            <a:ext cx="2200000" cy="8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2. Summarize</a:t>
            </a:r>
          </a:p>
        </p:txBody>
      </p:sp>
      <p:sp>
        <p:nvSpPr>
          <p:cNvPr id="17" name="BL17"/>
          <p:cNvSpPr txBox="1">
            <a:spLocks noGrp="1"/>
          </p:cNvSpPr>
          <p:nvPr/>
        </p:nvSpPr>
        <p:spPr>
          <a:xfrm>
            <a:off x="3150000" y="2350000"/>
            <a:ext cx="2300000" cy="11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150" b="0" dirty="0">
                <a:solidFill>
                  <a:srgbClr val="444444"/>
                </a:solidFill>
                <a:latin typeface="Calibri"/>
              </a:rPr>
              <a:t>Call Ollama or HuggingFace pipeline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150" b="0" dirty="0">
                <a:solidFill>
                  <a:srgbClr val="444444"/>
                </a:solidFill>
                <a:latin typeface="Calibri"/>
              </a:rPr>
              <a:t>Compress 500-word article to 3 sentences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150" b="0" dirty="0">
                <a:solidFill>
                  <a:srgbClr val="444444"/>
                </a:solidFill>
                <a:latin typeface="Calibri"/>
              </a:rPr>
              <a:t>Cache results to avoid re-processing</a:t>
            </a:r>
          </a:p>
        </p:txBody>
      </p:sp>
      <p:sp>
        <p:nvSpPr>
          <p:cNvPr id="18" name="CB18"/>
          <p:cNvSpPr>
            <a:spLocks noGrp="1"/>
          </p:cNvSpPr>
          <p:nvPr/>
        </p:nvSpPr>
        <p:spPr>
          <a:xfrm>
            <a:off x="5600000" y="1380000"/>
            <a:ext cx="2300000" cy="900000"/>
          </a:xfrm>
          <a:prstGeom prst="rect">
            <a:avLst/>
          </a:prstGeom>
          <a:solidFill>
            <a:srgbClr val="FF7D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B19"/>
          <p:cNvSpPr txBox="1">
            <a:spLocks noGrp="1"/>
          </p:cNvSpPr>
          <p:nvPr/>
        </p:nvSpPr>
        <p:spPr>
          <a:xfrm>
            <a:off x="5650000" y="1430000"/>
            <a:ext cx="2200000" cy="8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400" b="1" dirty="0">
                <a:solidFill>
                  <a:srgbClr val="001524"/>
                </a:solidFill>
                <a:latin typeface="Calibri"/>
              </a:rPr>
              <a:t>3. Classify</a:t>
            </a:r>
          </a:p>
        </p:txBody>
      </p:sp>
      <p:sp>
        <p:nvSpPr>
          <p:cNvPr id="20" name="BL20"/>
          <p:cNvSpPr txBox="1">
            <a:spLocks noGrp="1"/>
          </p:cNvSpPr>
          <p:nvPr/>
        </p:nvSpPr>
        <p:spPr>
          <a:xfrm>
            <a:off x="5600000" y="2350000"/>
            <a:ext cx="2300000" cy="11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150" b="0" dirty="0">
                <a:solidFill>
                  <a:srgbClr val="444444"/>
                </a:solidFill>
                <a:latin typeface="Calibri"/>
              </a:rPr>
              <a:t>HuggingFace sentiment pipeline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150" b="0" dirty="0">
                <a:solidFill>
                  <a:srgbClr val="444444"/>
                </a:solidFill>
                <a:latin typeface="Calibri"/>
              </a:rPr>
              <a:t>Or trained Naive Bayes from Session 2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150" b="0" dirty="0">
                <a:solidFill>
                  <a:srgbClr val="444444"/>
                </a:solidFill>
                <a:latin typeface="Calibri"/>
              </a:rPr>
              <a:t>Label: Positive / Negative / Neutral</a:t>
            </a:r>
          </a:p>
        </p:txBody>
      </p:sp>
      <p:sp>
        <p:nvSpPr>
          <p:cNvPr id="21" name="CB21"/>
          <p:cNvSpPr>
            <a:spLocks noGrp="1"/>
          </p:cNvSpPr>
          <p:nvPr/>
        </p:nvSpPr>
        <p:spPr>
          <a:xfrm>
            <a:off x="8050000" y="1380000"/>
            <a:ext cx="2300000" cy="900000"/>
          </a:xfrm>
          <a:prstGeom prst="rect">
            <a:avLst/>
          </a:prstGeom>
          <a:solidFill>
            <a:srgbClr val="8AA79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B22"/>
          <p:cNvSpPr txBox="1">
            <a:spLocks noGrp="1"/>
          </p:cNvSpPr>
          <p:nvPr/>
        </p:nvSpPr>
        <p:spPr>
          <a:xfrm>
            <a:off x="8100000" y="1430000"/>
            <a:ext cx="2200000" cy="8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400" b="1" dirty="0">
                <a:solidFill>
                  <a:srgbClr val="001524"/>
                </a:solidFill>
                <a:latin typeface="Calibri"/>
              </a:rPr>
              <a:t>4. Save Results</a:t>
            </a:r>
          </a:p>
        </p:txBody>
      </p:sp>
      <p:sp>
        <p:nvSpPr>
          <p:cNvPr id="23" name="BL23"/>
          <p:cNvSpPr txBox="1">
            <a:spLocks noGrp="1"/>
          </p:cNvSpPr>
          <p:nvPr/>
        </p:nvSpPr>
        <p:spPr>
          <a:xfrm>
            <a:off x="8050000" y="2350000"/>
            <a:ext cx="2300000" cy="11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150" b="0" dirty="0">
                <a:solidFill>
                  <a:srgbClr val="444444"/>
                </a:solidFill>
                <a:latin typeface="Calibri"/>
              </a:rPr>
              <a:t>Append to CSV with pandas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150" b="0" dirty="0">
                <a:solidFill>
                  <a:srgbClr val="444444"/>
                </a:solidFill>
                <a:latin typeface="Calibri"/>
              </a:rPr>
              <a:t>Or insert to SQLite / PostgreSQL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150" b="0" dirty="0">
                <a:solidFill>
                  <a:srgbClr val="444444"/>
                </a:solidFill>
                <a:latin typeface="Calibri"/>
              </a:rPr>
              <a:t>Generate daily summary report</a:t>
            </a:r>
          </a:p>
        </p:txBody>
      </p:sp>
      <p:sp>
        <p:nvSpPr>
          <p:cNvPr id="24" name="CB24"/>
          <p:cNvSpPr>
            <a:spLocks noGrp="1"/>
          </p:cNvSpPr>
          <p:nvPr/>
        </p:nvSpPr>
        <p:spPr>
          <a:xfrm>
            <a:off x="457200" y="3600000"/>
            <a:ext cx="11200000" cy="2500000"/>
          </a:xfrm>
          <a:prstGeom prst="rect">
            <a:avLst/>
          </a:prstGeom>
          <a:solidFill>
            <a:srgbClr val="00152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B25"/>
          <p:cNvSpPr txBox="1">
            <a:spLocks noGrp="1"/>
          </p:cNvSpPr>
          <p:nvPr/>
        </p:nvSpPr>
        <p:spPr>
          <a:xfrm>
            <a:off x="600000" y="3700000"/>
            <a:ext cx="11000000" cy="45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600" b="1" dirty="0">
                <a:solidFill>
                  <a:srgbClr val="FF7D00"/>
                </a:solidFill>
                <a:latin typeface="Calibri"/>
              </a:rPr>
              <a:t>Pipeline Code Skeleton</a:t>
            </a:r>
          </a:p>
        </p:txBody>
      </p:sp>
      <p:sp>
        <p:nvSpPr>
          <p:cNvPr id="26" name="BL26"/>
          <p:cNvSpPr txBox="1">
            <a:spLocks noGrp="1"/>
          </p:cNvSpPr>
          <p:nvPr/>
        </p:nvSpPr>
        <p:spPr>
          <a:xfrm>
            <a:off x="600000" y="4200000"/>
            <a:ext cx="10800000" cy="17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200" b="0" dirty="0">
                <a:solidFill>
                  <a:srgbClr val="C5CAB8"/>
                </a:solidFill>
                <a:latin typeface="Calibri"/>
              </a:rPr>
              <a:t>import pandas as pd; from transformers import pipeline; import requests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200" b="0" dirty="0">
                <a:solidFill>
                  <a:srgbClr val="C5CAB8"/>
                </a:solidFill>
                <a:latin typeface="Calibri"/>
              </a:rPr>
              <a:t>summarizer = pipeline('summarization', model='facebook/bart-large-cnn')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200" b="0" dirty="0">
                <a:solidFill>
                  <a:srgbClr val="C5CAB8"/>
                </a:solidFill>
                <a:latin typeface="Calibri"/>
              </a:rPr>
              <a:t>results = []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200" b="0" dirty="0">
                <a:solidFill>
                  <a:srgbClr val="C5CAB8"/>
                </a:solidFill>
                <a:latin typeface="Calibri"/>
              </a:rPr>
              <a:t>for line in open('news_stream.txt'):  summary = summarizer(line)[0]['summary_text']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200" b="0" dirty="0">
                <a:solidFill>
                  <a:srgbClr val="C5CAB8"/>
                </a:solidFill>
                <a:latin typeface="Calibri"/>
              </a:rPr>
              <a:t>    results.append({'original': line, 'summary': summary})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200" b="0" dirty="0">
                <a:solidFill>
                  <a:srgbClr val="8AA79F"/>
                </a:solidFill>
                <a:latin typeface="Calibri"/>
              </a:rPr>
              <a:t>pd.DataFrame(results).to_csv('summaries.csv', index=False)  # save output</a:t>
            </a:r>
          </a:p>
        </p:txBody>
      </p:sp>
      <p:sp>
        <p:nvSpPr>
          <p:cNvPr id="90" name="FooterBar"/>
          <p:cNvSpPr>
            <a:spLocks noGrp="1"/>
          </p:cNvSpPr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15616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HeaderBar"/>
          <p:cNvSpPr>
            <a:spLocks noGrp="1"/>
          </p:cNvSpPr>
          <p:nvPr/>
        </p:nvSpPr>
        <p:spPr>
          <a:xfrm>
            <a:off x="0" y="0"/>
            <a:ext cx="12192000" cy="800000"/>
          </a:xfrm>
          <a:prstGeom prst="rect">
            <a:avLst/>
          </a:prstGeom>
          <a:solidFill>
            <a:srgbClr val="15616D"/>
          </a:solidFill>
          <a:ln>
            <a:noFill/>
          </a:ln>
        </p:spPr>
        <p:txBody>
          <a:bodyPr anchor="ctr">
            <a:normAutofit/>
          </a:bodyPr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Trebuchet MS"/>
              </a:rPr>
              <a:t>  GitHub Actions — Free Automated Scheduling</a:t>
            </a:r>
          </a:p>
        </p:txBody>
      </p:sp>
      <p:sp>
        <p:nvSpPr>
          <p:cNvPr id="10" name="TB10"/>
          <p:cNvSpPr txBox="1">
            <a:spLocks noGrp="1"/>
          </p:cNvSpPr>
          <p:nvPr/>
        </p:nvSpPr>
        <p:spPr>
          <a:xfrm>
            <a:off x="457200" y="950000"/>
            <a:ext cx="11200000" cy="35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400" b="0" dirty="0">
                <a:solidFill>
                  <a:srgbClr val="555555"/>
                </a:solidFill>
                <a:latin typeface="Calibri"/>
              </a:rPr>
              <a:t>Run your AI pipeline automatically every day — zero server cost with GitHub Actions free tier</a:t>
            </a:r>
          </a:p>
        </p:txBody>
      </p:sp>
      <p:sp>
        <p:nvSpPr>
          <p:cNvPr id="11" name="CB11"/>
          <p:cNvSpPr>
            <a:spLocks noGrp="1"/>
          </p:cNvSpPr>
          <p:nvPr/>
        </p:nvSpPr>
        <p:spPr>
          <a:xfrm>
            <a:off x="457200" y="1380000"/>
            <a:ext cx="5500000" cy="4800000"/>
          </a:xfrm>
          <a:prstGeom prst="rect">
            <a:avLst/>
          </a:prstGeom>
          <a:solidFill>
            <a:srgbClr val="00152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B12"/>
          <p:cNvSpPr txBox="1">
            <a:spLocks noGrp="1"/>
          </p:cNvSpPr>
          <p:nvPr/>
        </p:nvSpPr>
        <p:spPr>
          <a:xfrm>
            <a:off x="600000" y="1450000"/>
            <a:ext cx="5200000" cy="5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600" b="1" dirty="0">
                <a:solidFill>
                  <a:srgbClr val="FF7D00"/>
                </a:solidFill>
                <a:latin typeface="Calibri"/>
              </a:rPr>
              <a:t>Workflow YAML (.github/workflows/daily.yml)</a:t>
            </a:r>
          </a:p>
        </p:txBody>
      </p:sp>
      <p:sp>
        <p:nvSpPr>
          <p:cNvPr id="13" name="BL13"/>
          <p:cNvSpPr txBox="1">
            <a:spLocks noGrp="1"/>
          </p:cNvSpPr>
          <p:nvPr/>
        </p:nvSpPr>
        <p:spPr>
          <a:xfrm>
            <a:off x="600000" y="2000000"/>
            <a:ext cx="5100000" cy="40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200" b="0" dirty="0">
                <a:solidFill>
                  <a:srgbClr val="C5CAB8"/>
                </a:solidFill>
                <a:latin typeface="Calibri"/>
              </a:rPr>
              <a:t>name: Daily News Pipeline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endParaRPr lang="en-US" sz="1200" b="0" dirty="0">
              <a:solidFill>
                <a:srgbClr val="C5CAB8"/>
              </a:solidFill>
              <a:latin typeface="Calibri"/>
            </a:endParaRP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200" b="0" dirty="0">
                <a:solidFill>
                  <a:srgbClr val="8AA79F"/>
                </a:solidFill>
                <a:latin typeface="Calibri"/>
              </a:rPr>
              <a:t>on: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200" b="0" dirty="0">
                <a:solidFill>
                  <a:srgbClr val="C5CAB8"/>
                </a:solidFill>
                <a:latin typeface="Calibri"/>
              </a:rPr>
              <a:t>  schedule: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200" b="0" dirty="0">
                <a:solidFill>
                  <a:srgbClr val="C5CAB8"/>
                </a:solidFill>
                <a:latin typeface="Calibri"/>
              </a:rPr>
              <a:t>    - cron: '0 6 * * *'  # every day at 6am UTC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200" b="0" dirty="0">
                <a:solidFill>
                  <a:srgbClr val="C5CAB8"/>
                </a:solidFill>
                <a:latin typeface="Calibri"/>
              </a:rPr>
              <a:t>  workflow_dispatch:  # allow manual trigger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endParaRPr lang="en-US" sz="1200" b="0" dirty="0">
              <a:solidFill>
                <a:srgbClr val="C5CAB8"/>
              </a:solidFill>
              <a:latin typeface="Calibri"/>
            </a:endParaRP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200" b="0" dirty="0">
                <a:solidFill>
                  <a:srgbClr val="8AA79F"/>
                </a:solidFill>
                <a:latin typeface="Calibri"/>
              </a:rPr>
              <a:t>jobs: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200" b="0" dirty="0">
                <a:solidFill>
                  <a:srgbClr val="C5CAB8"/>
                </a:solidFill>
                <a:latin typeface="Calibri"/>
              </a:rPr>
              <a:t>  run-pipeline: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200" b="0" dirty="0">
                <a:solidFill>
                  <a:srgbClr val="C5CAB8"/>
                </a:solidFill>
                <a:latin typeface="Calibri"/>
              </a:rPr>
              <a:t>    runs-on: ubuntu-latest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200" b="0" dirty="0">
                <a:solidFill>
                  <a:srgbClr val="C5CAB8"/>
                </a:solidFill>
                <a:latin typeface="Calibri"/>
              </a:rPr>
              <a:t>    steps: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200" b="0" dirty="0">
                <a:solidFill>
                  <a:srgbClr val="C5CAB8"/>
                </a:solidFill>
                <a:latin typeface="Calibri"/>
              </a:rPr>
              <a:t>      - uses: actions/checkout@v4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200" b="0" dirty="0">
                <a:solidFill>
                  <a:srgbClr val="C5CAB8"/>
                </a:solidFill>
                <a:latin typeface="Calibri"/>
              </a:rPr>
              <a:t>      - uses: actions/setup-python@v5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200" b="0" dirty="0">
                <a:solidFill>
                  <a:srgbClr val="C5CAB8"/>
                </a:solidFill>
                <a:latin typeface="Calibri"/>
              </a:rPr>
              <a:t>        with: {python-version: '3.11'}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200" b="0" dirty="0">
                <a:solidFill>
                  <a:srgbClr val="C5CAB8"/>
                </a:solidFill>
                <a:latin typeface="Calibri"/>
              </a:rPr>
              <a:t>      - run: pip install -r requirements.txt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200" b="0" dirty="0">
                <a:solidFill>
                  <a:srgbClr val="FF7D00"/>
                </a:solidFill>
                <a:latin typeface="Calibri"/>
              </a:rPr>
              <a:t>      - run: python pipeline.py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200" b="0" dirty="0">
                <a:solidFill>
                  <a:srgbClr val="C5CAB8"/>
                </a:solidFill>
                <a:latin typeface="Calibri"/>
              </a:rPr>
              <a:t>      - run: git add . &amp;&amp; git commit -m 'Daily results'</a:t>
            </a:r>
          </a:p>
        </p:txBody>
      </p:sp>
      <p:sp>
        <p:nvSpPr>
          <p:cNvPr id="20" name="CB20"/>
          <p:cNvSpPr>
            <a:spLocks noGrp="1"/>
          </p:cNvSpPr>
          <p:nvPr/>
        </p:nvSpPr>
        <p:spPr>
          <a:xfrm>
            <a:off x="6200000" y="1380000"/>
            <a:ext cx="5550000" cy="48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B21"/>
          <p:cNvSpPr txBox="1">
            <a:spLocks noGrp="1"/>
          </p:cNvSpPr>
          <p:nvPr/>
        </p:nvSpPr>
        <p:spPr>
          <a:xfrm>
            <a:off x="6400000" y="1450000"/>
            <a:ext cx="5100000" cy="5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800" b="1" dirty="0">
                <a:solidFill>
                  <a:srgbClr val="15616D"/>
                </a:solidFill>
                <a:latin typeface="Trebuchet MS"/>
              </a:rPr>
              <a:t>What GitHub Actions Gives You</a:t>
            </a:r>
          </a:p>
        </p:txBody>
      </p:sp>
      <p:sp>
        <p:nvSpPr>
          <p:cNvPr id="22" name="BL22"/>
          <p:cNvSpPr txBox="1">
            <a:spLocks noGrp="1"/>
          </p:cNvSpPr>
          <p:nvPr/>
        </p:nvSpPr>
        <p:spPr>
          <a:xfrm>
            <a:off x="6400000" y="2050000"/>
            <a:ext cx="5100000" cy="40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15616D"/>
                </a:solidFill>
                <a:latin typeface="Trebuchet MS"/>
              </a:rPr>
              <a:t>Free compute time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200" b="0" dirty="0">
                <a:solidFill>
                  <a:srgbClr val="444444"/>
                </a:solidFill>
                <a:latin typeface="Calibri"/>
              </a:rPr>
              <a:t>2,000 minutes/month free on public repos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200" b="0" dirty="0">
                <a:solidFill>
                  <a:srgbClr val="444444"/>
                </a:solidFill>
                <a:latin typeface="Calibri"/>
              </a:rPr>
              <a:t>Enough for a daily 10-minute pipeline every day of the year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endParaRPr lang="en-US" sz="1200" b="0" dirty="0">
              <a:solidFill>
                <a:srgbClr val="444444"/>
              </a:solidFill>
              <a:latin typeface="Calibri"/>
            </a:endParaRP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BC5308"/>
                </a:solidFill>
                <a:latin typeface="Trebuchet MS"/>
              </a:rPr>
              <a:t>Scheduled or event-triggered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200" b="0" dirty="0">
                <a:solidFill>
                  <a:srgbClr val="444444"/>
                </a:solidFill>
                <a:latin typeface="Calibri"/>
              </a:rPr>
              <a:t>Cron syntax: run at specific times daily/weekly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200" b="0" dirty="0">
                <a:solidFill>
                  <a:srgbClr val="444444"/>
                </a:solidFill>
                <a:latin typeface="Calibri"/>
              </a:rPr>
              <a:t>Trigger on new data push, PR, or manual button click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endParaRPr lang="en-US" sz="1200" b="0" dirty="0">
              <a:solidFill>
                <a:srgbClr val="444444"/>
              </a:solidFill>
              <a:latin typeface="Calibri"/>
            </a:endParaRP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8AA79F"/>
                </a:solidFill>
                <a:latin typeface="Trebuchet MS"/>
              </a:rPr>
              <a:t>Built-in secrets management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200" b="0" dirty="0">
                <a:solidFill>
                  <a:srgbClr val="444444"/>
                </a:solidFill>
                <a:latin typeface="Calibri"/>
              </a:rPr>
              <a:t>Store API keys, database passwords securely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200" b="0" dirty="0">
                <a:solidFill>
                  <a:srgbClr val="444444"/>
                </a:solidFill>
                <a:latin typeface="Calibri"/>
              </a:rPr>
              <a:t>Reference as: secrets.MY_API_KEY in workflow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endParaRPr lang="en-US" sz="1200" b="0" dirty="0">
              <a:solidFill>
                <a:srgbClr val="444444"/>
              </a:solidFill>
              <a:latin typeface="Calibri"/>
            </a:endParaRP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FF7D00"/>
                </a:solidFill>
                <a:latin typeface="Trebuchet MS"/>
              </a:rPr>
              <a:t>Real use case in Kenya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200" b="0" dirty="0">
                <a:solidFill>
                  <a:srgbClr val="444444"/>
                </a:solidFill>
                <a:latin typeface="Calibri"/>
              </a:rPr>
              <a:t>Daily M-Pesa transaction anomaly report — automated, free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200" b="0" dirty="0">
                <a:solidFill>
                  <a:srgbClr val="444444"/>
                </a:solidFill>
                <a:latin typeface="Calibri"/>
              </a:rPr>
              <a:t>Weekly crop yield forecast emailed to farmers via Twilio SMS</a:t>
            </a:r>
          </a:p>
        </p:txBody>
      </p:sp>
      <p:sp>
        <p:nvSpPr>
          <p:cNvPr id="90" name="FooterBar"/>
          <p:cNvSpPr>
            <a:spLocks noGrp="1"/>
          </p:cNvSpPr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15616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HeaderBar"/>
          <p:cNvSpPr>
            <a:spLocks noGrp="1"/>
          </p:cNvSpPr>
          <p:nvPr/>
        </p:nvSpPr>
        <p:spPr>
          <a:xfrm>
            <a:off x="0" y="0"/>
            <a:ext cx="12192000" cy="800000"/>
          </a:xfrm>
          <a:prstGeom prst="rect">
            <a:avLst/>
          </a:prstGeom>
          <a:solidFill>
            <a:srgbClr val="15616D"/>
          </a:solidFill>
          <a:ln>
            <a:noFill/>
          </a:ln>
        </p:spPr>
        <p:txBody>
          <a:bodyPr anchor="ctr">
            <a:normAutofit/>
          </a:bodyPr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Trebuchet MS"/>
              </a:rPr>
              <a:t>  Model Deployment — Where to Host Your AI</a:t>
            </a:r>
          </a:p>
        </p:txBody>
      </p:sp>
      <p:sp>
        <p:nvSpPr>
          <p:cNvPr id="10" name="TB10"/>
          <p:cNvSpPr txBox="1">
            <a:spLocks noGrp="1"/>
          </p:cNvSpPr>
          <p:nvPr/>
        </p:nvSpPr>
        <p:spPr>
          <a:xfrm>
            <a:off x="457200" y="950000"/>
            <a:ext cx="11200000" cy="35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400" b="0" dirty="0">
                <a:solidFill>
                  <a:srgbClr val="555555"/>
                </a:solidFill>
                <a:latin typeface="Calibri"/>
              </a:rPr>
              <a:t>Choose the right deployment option based on your scale, budget, and privacy requirements</a:t>
            </a:r>
          </a:p>
        </p:txBody>
      </p:sp>
      <p:sp>
        <p:nvSpPr>
          <p:cNvPr id="11" name="CB11"/>
          <p:cNvSpPr>
            <a:spLocks noGrp="1"/>
          </p:cNvSpPr>
          <p:nvPr/>
        </p:nvSpPr>
        <p:spPr>
          <a:xfrm>
            <a:off x="457200" y="1380000"/>
            <a:ext cx="11200000" cy="480000"/>
          </a:xfrm>
          <a:prstGeom prst="rect">
            <a:avLst/>
          </a:prstGeom>
          <a:solidFill>
            <a:srgbClr val="15616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B12"/>
          <p:cNvSpPr txBox="1">
            <a:spLocks noGrp="1"/>
          </p:cNvSpPr>
          <p:nvPr/>
        </p:nvSpPr>
        <p:spPr>
          <a:xfrm>
            <a:off x="520000" y="1410000"/>
            <a:ext cx="2500000" cy="42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Option</a:t>
            </a:r>
          </a:p>
        </p:txBody>
      </p:sp>
      <p:sp>
        <p:nvSpPr>
          <p:cNvPr id="13" name="TB13"/>
          <p:cNvSpPr txBox="1">
            <a:spLocks noGrp="1"/>
          </p:cNvSpPr>
          <p:nvPr/>
        </p:nvSpPr>
        <p:spPr>
          <a:xfrm>
            <a:off x="3200000" y="1410000"/>
            <a:ext cx="2000000" cy="42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4" name="TB14"/>
          <p:cNvSpPr txBox="1">
            <a:spLocks noGrp="1"/>
          </p:cNvSpPr>
          <p:nvPr/>
        </p:nvSpPr>
        <p:spPr>
          <a:xfrm>
            <a:off x="5350000" y="1410000"/>
            <a:ext cx="2000000" cy="42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Scale</a:t>
            </a:r>
          </a:p>
        </p:txBody>
      </p:sp>
      <p:sp>
        <p:nvSpPr>
          <p:cNvPr id="15" name="TB15"/>
          <p:cNvSpPr txBox="1">
            <a:spLocks noGrp="1"/>
          </p:cNvSpPr>
          <p:nvPr/>
        </p:nvSpPr>
        <p:spPr>
          <a:xfrm>
            <a:off x="7500000" y="1410000"/>
            <a:ext cx="3800000" cy="42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Best For</a:t>
            </a:r>
          </a:p>
        </p:txBody>
      </p:sp>
      <p:sp>
        <p:nvSpPr>
          <p:cNvPr id="16" name="CB16"/>
          <p:cNvSpPr>
            <a:spLocks noGrp="1"/>
          </p:cNvSpPr>
          <p:nvPr/>
        </p:nvSpPr>
        <p:spPr>
          <a:xfrm>
            <a:off x="457200" y="1860000"/>
            <a:ext cx="11200000" cy="440000"/>
          </a:xfrm>
          <a:prstGeom prst="rect">
            <a:avLst/>
          </a:prstGeom>
          <a:solidFill>
            <a:srgbClr val="F0F8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B17"/>
          <p:cNvSpPr txBox="1">
            <a:spLocks noGrp="1"/>
          </p:cNvSpPr>
          <p:nvPr/>
        </p:nvSpPr>
        <p:spPr>
          <a:xfrm>
            <a:off x="520000" y="1890000"/>
            <a:ext cx="2500000" cy="38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300" b="1" dirty="0">
                <a:solidFill>
                  <a:srgbClr val="15616D"/>
                </a:solidFill>
                <a:latin typeface="Calibri"/>
              </a:rPr>
              <a:t>Localhost (FastAPI)</a:t>
            </a:r>
          </a:p>
        </p:txBody>
      </p:sp>
      <p:sp>
        <p:nvSpPr>
          <p:cNvPr id="18" name="TB18"/>
          <p:cNvSpPr txBox="1">
            <a:spLocks noGrp="1"/>
          </p:cNvSpPr>
          <p:nvPr/>
        </p:nvSpPr>
        <p:spPr>
          <a:xfrm>
            <a:off x="3200000" y="1890000"/>
            <a:ext cx="2000000" cy="38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300" b="0" dirty="0">
                <a:solidFill>
                  <a:srgbClr val="333333"/>
                </a:solidFill>
                <a:latin typeface="Calibri"/>
              </a:rPr>
              <a:t>Free</a:t>
            </a:r>
          </a:p>
        </p:txBody>
      </p:sp>
      <p:sp>
        <p:nvSpPr>
          <p:cNvPr id="19" name="TB19"/>
          <p:cNvSpPr txBox="1">
            <a:spLocks noGrp="1"/>
          </p:cNvSpPr>
          <p:nvPr/>
        </p:nvSpPr>
        <p:spPr>
          <a:xfrm>
            <a:off x="5350000" y="1890000"/>
            <a:ext cx="2000000" cy="38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300" b="0" dirty="0">
                <a:solidFill>
                  <a:srgbClr val="333333"/>
                </a:solidFill>
                <a:latin typeface="Calibri"/>
              </a:rPr>
              <a:t>Personal</a:t>
            </a:r>
          </a:p>
        </p:txBody>
      </p:sp>
      <p:sp>
        <p:nvSpPr>
          <p:cNvPr id="20" name="TB20"/>
          <p:cNvSpPr txBox="1">
            <a:spLocks noGrp="1"/>
          </p:cNvSpPr>
          <p:nvPr/>
        </p:nvSpPr>
        <p:spPr>
          <a:xfrm>
            <a:off x="7500000" y="1890000"/>
            <a:ext cx="3800000" cy="38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300" b="0" dirty="0">
                <a:solidFill>
                  <a:srgbClr val="333333"/>
                </a:solidFill>
                <a:latin typeface="Calibri"/>
              </a:rPr>
              <a:t>Dev, testing, demos</a:t>
            </a:r>
          </a:p>
        </p:txBody>
      </p:sp>
      <p:sp>
        <p:nvSpPr>
          <p:cNvPr id="21" name="CB21"/>
          <p:cNvSpPr>
            <a:spLocks noGrp="1"/>
          </p:cNvSpPr>
          <p:nvPr/>
        </p:nvSpPr>
        <p:spPr>
          <a:xfrm>
            <a:off x="457200" y="2300000"/>
            <a:ext cx="11200000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B22"/>
          <p:cNvSpPr txBox="1">
            <a:spLocks noGrp="1"/>
          </p:cNvSpPr>
          <p:nvPr/>
        </p:nvSpPr>
        <p:spPr>
          <a:xfrm>
            <a:off x="520000" y="2330000"/>
            <a:ext cx="2500000" cy="38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300" b="1" dirty="0">
                <a:solidFill>
                  <a:srgbClr val="BC5308"/>
                </a:solidFill>
                <a:latin typeface="Calibri"/>
              </a:rPr>
              <a:t>HuggingFace Spaces</a:t>
            </a:r>
          </a:p>
        </p:txBody>
      </p:sp>
      <p:sp>
        <p:nvSpPr>
          <p:cNvPr id="23" name="TB23"/>
          <p:cNvSpPr txBox="1">
            <a:spLocks noGrp="1"/>
          </p:cNvSpPr>
          <p:nvPr/>
        </p:nvSpPr>
        <p:spPr>
          <a:xfrm>
            <a:off x="3200000" y="2330000"/>
            <a:ext cx="2000000" cy="38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300" b="0" dirty="0">
                <a:solidFill>
                  <a:srgbClr val="333333"/>
                </a:solidFill>
                <a:latin typeface="Calibri"/>
              </a:rPr>
              <a:t>Free / $9/mo</a:t>
            </a:r>
          </a:p>
        </p:txBody>
      </p:sp>
      <p:sp>
        <p:nvSpPr>
          <p:cNvPr id="24" name="TB24"/>
          <p:cNvSpPr txBox="1">
            <a:spLocks noGrp="1"/>
          </p:cNvSpPr>
          <p:nvPr/>
        </p:nvSpPr>
        <p:spPr>
          <a:xfrm>
            <a:off x="5350000" y="2330000"/>
            <a:ext cx="2000000" cy="38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300" b="0" dirty="0">
                <a:solidFill>
                  <a:srgbClr val="333333"/>
                </a:solidFill>
                <a:latin typeface="Calibri"/>
              </a:rPr>
              <a:t>Small-medium</a:t>
            </a:r>
          </a:p>
        </p:txBody>
      </p:sp>
      <p:sp>
        <p:nvSpPr>
          <p:cNvPr id="25" name="TB25"/>
          <p:cNvSpPr txBox="1">
            <a:spLocks noGrp="1"/>
          </p:cNvSpPr>
          <p:nvPr/>
        </p:nvSpPr>
        <p:spPr>
          <a:xfrm>
            <a:off x="7500000" y="2330000"/>
            <a:ext cx="3800000" cy="38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300" b="0" dirty="0">
                <a:solidFill>
                  <a:srgbClr val="333333"/>
                </a:solidFill>
                <a:latin typeface="Calibri"/>
              </a:rPr>
              <a:t>Prototypes, student projects, demos</a:t>
            </a:r>
          </a:p>
        </p:txBody>
      </p:sp>
      <p:sp>
        <p:nvSpPr>
          <p:cNvPr id="26" name="CB26"/>
          <p:cNvSpPr>
            <a:spLocks noGrp="1"/>
          </p:cNvSpPr>
          <p:nvPr/>
        </p:nvSpPr>
        <p:spPr>
          <a:xfrm>
            <a:off x="457200" y="2740000"/>
            <a:ext cx="11200000" cy="440000"/>
          </a:xfrm>
          <a:prstGeom prst="rect">
            <a:avLst/>
          </a:prstGeom>
          <a:solidFill>
            <a:srgbClr val="F0F8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TB27"/>
          <p:cNvSpPr txBox="1">
            <a:spLocks noGrp="1"/>
          </p:cNvSpPr>
          <p:nvPr/>
        </p:nvSpPr>
        <p:spPr>
          <a:xfrm>
            <a:off x="520000" y="2770000"/>
            <a:ext cx="2500000" cy="38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300" b="1" dirty="0">
                <a:solidFill>
                  <a:srgbClr val="15616D"/>
                </a:solidFill>
                <a:latin typeface="Calibri"/>
              </a:rPr>
              <a:t>Railway / Render</a:t>
            </a:r>
          </a:p>
        </p:txBody>
      </p:sp>
      <p:sp>
        <p:nvSpPr>
          <p:cNvPr id="28" name="TB28"/>
          <p:cNvSpPr txBox="1">
            <a:spLocks noGrp="1"/>
          </p:cNvSpPr>
          <p:nvPr/>
        </p:nvSpPr>
        <p:spPr>
          <a:xfrm>
            <a:off x="3200000" y="2770000"/>
            <a:ext cx="2000000" cy="38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300" b="0" dirty="0">
                <a:solidFill>
                  <a:srgbClr val="333333"/>
                </a:solidFill>
                <a:latin typeface="Calibri"/>
              </a:rPr>
              <a:t>$5-20/mo</a:t>
            </a:r>
          </a:p>
        </p:txBody>
      </p:sp>
      <p:sp>
        <p:nvSpPr>
          <p:cNvPr id="29" name="TB29"/>
          <p:cNvSpPr txBox="1">
            <a:spLocks noGrp="1"/>
          </p:cNvSpPr>
          <p:nvPr/>
        </p:nvSpPr>
        <p:spPr>
          <a:xfrm>
            <a:off x="5350000" y="2770000"/>
            <a:ext cx="2000000" cy="38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300" b="0" dirty="0">
                <a:solidFill>
                  <a:srgbClr val="333333"/>
                </a:solidFill>
                <a:latin typeface="Calibri"/>
              </a:rPr>
              <a:t>Medium</a:t>
            </a:r>
          </a:p>
        </p:txBody>
      </p:sp>
      <p:sp>
        <p:nvSpPr>
          <p:cNvPr id="30" name="TB30"/>
          <p:cNvSpPr txBox="1">
            <a:spLocks noGrp="1"/>
          </p:cNvSpPr>
          <p:nvPr/>
        </p:nvSpPr>
        <p:spPr>
          <a:xfrm>
            <a:off x="7500000" y="2770000"/>
            <a:ext cx="3800000" cy="38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300" b="0" dirty="0">
                <a:solidFill>
                  <a:srgbClr val="333333"/>
                </a:solidFill>
                <a:latin typeface="Calibri"/>
              </a:rPr>
              <a:t>Startups, MVP products, APIs</a:t>
            </a:r>
          </a:p>
        </p:txBody>
      </p:sp>
      <p:sp>
        <p:nvSpPr>
          <p:cNvPr id="31" name="CB31"/>
          <p:cNvSpPr>
            <a:spLocks noGrp="1"/>
          </p:cNvSpPr>
          <p:nvPr/>
        </p:nvSpPr>
        <p:spPr>
          <a:xfrm>
            <a:off x="457200" y="3180000"/>
            <a:ext cx="11200000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TB32"/>
          <p:cNvSpPr txBox="1">
            <a:spLocks noGrp="1"/>
          </p:cNvSpPr>
          <p:nvPr/>
        </p:nvSpPr>
        <p:spPr>
          <a:xfrm>
            <a:off x="520000" y="3210000"/>
            <a:ext cx="2500000" cy="38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300" b="1" dirty="0">
                <a:solidFill>
                  <a:srgbClr val="BC5308"/>
                </a:solidFill>
                <a:latin typeface="Calibri"/>
              </a:rPr>
              <a:t>AWS / GCP / Azure</a:t>
            </a:r>
          </a:p>
        </p:txBody>
      </p:sp>
      <p:sp>
        <p:nvSpPr>
          <p:cNvPr id="33" name="TB33"/>
          <p:cNvSpPr txBox="1">
            <a:spLocks noGrp="1"/>
          </p:cNvSpPr>
          <p:nvPr/>
        </p:nvSpPr>
        <p:spPr>
          <a:xfrm>
            <a:off x="3200000" y="3210000"/>
            <a:ext cx="2000000" cy="38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300" b="0" dirty="0">
                <a:solidFill>
                  <a:srgbClr val="333333"/>
                </a:solidFill>
                <a:latin typeface="Calibri"/>
              </a:rPr>
              <a:t>$50-500+/mo</a:t>
            </a:r>
          </a:p>
        </p:txBody>
      </p:sp>
      <p:sp>
        <p:nvSpPr>
          <p:cNvPr id="34" name="TB34"/>
          <p:cNvSpPr txBox="1">
            <a:spLocks noGrp="1"/>
          </p:cNvSpPr>
          <p:nvPr/>
        </p:nvSpPr>
        <p:spPr>
          <a:xfrm>
            <a:off x="5350000" y="3210000"/>
            <a:ext cx="2000000" cy="38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300" b="0" dirty="0">
                <a:solidFill>
                  <a:srgbClr val="333333"/>
                </a:solidFill>
                <a:latin typeface="Calibri"/>
              </a:rPr>
              <a:t>Enterprise</a:t>
            </a:r>
          </a:p>
        </p:txBody>
      </p:sp>
      <p:sp>
        <p:nvSpPr>
          <p:cNvPr id="35" name="TB35"/>
          <p:cNvSpPr txBox="1">
            <a:spLocks noGrp="1"/>
          </p:cNvSpPr>
          <p:nvPr/>
        </p:nvSpPr>
        <p:spPr>
          <a:xfrm>
            <a:off x="7500000" y="3210000"/>
            <a:ext cx="3800000" cy="38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300" b="0" dirty="0">
                <a:solidFill>
                  <a:srgbClr val="333333"/>
                </a:solidFill>
                <a:latin typeface="Calibri"/>
              </a:rPr>
              <a:t>Production, high-traffic, Safaricom-scale</a:t>
            </a:r>
          </a:p>
        </p:txBody>
      </p:sp>
      <p:sp>
        <p:nvSpPr>
          <p:cNvPr id="36" name="CB36"/>
          <p:cNvSpPr>
            <a:spLocks noGrp="1"/>
          </p:cNvSpPr>
          <p:nvPr/>
        </p:nvSpPr>
        <p:spPr>
          <a:xfrm>
            <a:off x="457200" y="3620000"/>
            <a:ext cx="11200000" cy="440000"/>
          </a:xfrm>
          <a:prstGeom prst="rect">
            <a:avLst/>
          </a:prstGeom>
          <a:solidFill>
            <a:srgbClr val="F0F8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TB37"/>
          <p:cNvSpPr txBox="1">
            <a:spLocks noGrp="1"/>
          </p:cNvSpPr>
          <p:nvPr/>
        </p:nvSpPr>
        <p:spPr>
          <a:xfrm>
            <a:off x="520000" y="3650000"/>
            <a:ext cx="2500000" cy="38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300" b="1" dirty="0">
                <a:solidFill>
                  <a:srgbClr val="8AA79F"/>
                </a:solidFill>
                <a:latin typeface="Calibri"/>
              </a:rPr>
              <a:t>On-premise Server</a:t>
            </a:r>
          </a:p>
        </p:txBody>
      </p:sp>
      <p:sp>
        <p:nvSpPr>
          <p:cNvPr id="38" name="TB38"/>
          <p:cNvSpPr txBox="1">
            <a:spLocks noGrp="1"/>
          </p:cNvSpPr>
          <p:nvPr/>
        </p:nvSpPr>
        <p:spPr>
          <a:xfrm>
            <a:off x="3200000" y="3650000"/>
            <a:ext cx="2000000" cy="38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300" b="0" dirty="0">
                <a:solidFill>
                  <a:srgbClr val="333333"/>
                </a:solidFill>
                <a:latin typeface="Calibri"/>
              </a:rPr>
              <a:t>Hardware cost</a:t>
            </a:r>
          </a:p>
        </p:txBody>
      </p:sp>
      <p:sp>
        <p:nvSpPr>
          <p:cNvPr id="39" name="TB39"/>
          <p:cNvSpPr txBox="1">
            <a:spLocks noGrp="1"/>
          </p:cNvSpPr>
          <p:nvPr/>
        </p:nvSpPr>
        <p:spPr>
          <a:xfrm>
            <a:off x="5350000" y="3650000"/>
            <a:ext cx="2000000" cy="38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300" b="0" dirty="0">
                <a:solidFill>
                  <a:srgbClr val="333333"/>
                </a:solidFill>
                <a:latin typeface="Calibri"/>
              </a:rPr>
              <a:t>Controlled</a:t>
            </a:r>
          </a:p>
        </p:txBody>
      </p:sp>
      <p:sp>
        <p:nvSpPr>
          <p:cNvPr id="40" name="TB40"/>
          <p:cNvSpPr txBox="1">
            <a:spLocks noGrp="1"/>
          </p:cNvSpPr>
          <p:nvPr/>
        </p:nvSpPr>
        <p:spPr>
          <a:xfrm>
            <a:off x="7500000" y="3650000"/>
            <a:ext cx="3800000" cy="38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300" b="0" dirty="0">
                <a:solidFill>
                  <a:srgbClr val="333333"/>
                </a:solidFill>
                <a:latin typeface="Calibri"/>
              </a:rPr>
              <a:t>Banks, hospitals — data sovereignty required</a:t>
            </a:r>
          </a:p>
        </p:txBody>
      </p:sp>
      <p:sp>
        <p:nvSpPr>
          <p:cNvPr id="50" name="TB50"/>
          <p:cNvSpPr txBox="1">
            <a:spLocks noGrp="1"/>
          </p:cNvSpPr>
          <p:nvPr/>
        </p:nvSpPr>
        <p:spPr>
          <a:xfrm>
            <a:off x="457200" y="4250000"/>
            <a:ext cx="11200000" cy="35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400" b="1" dirty="0">
                <a:solidFill>
                  <a:srgbClr val="15616D"/>
                </a:solidFill>
                <a:latin typeface="Calibri"/>
              </a:rPr>
              <a:t>Kenyan context: Start with HuggingFace Spaces or Railway — then migrate to AWS as you scale</a:t>
            </a:r>
          </a:p>
        </p:txBody>
      </p:sp>
      <p:sp>
        <p:nvSpPr>
          <p:cNvPr id="51" name="BL51"/>
          <p:cNvSpPr txBox="1">
            <a:spLocks noGrp="1"/>
          </p:cNvSpPr>
          <p:nvPr/>
        </p:nvSpPr>
        <p:spPr>
          <a:xfrm>
            <a:off x="457200" y="4650000"/>
            <a:ext cx="11200000" cy="15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250" b="0" dirty="0">
                <a:solidFill>
                  <a:srgbClr val="444444"/>
                </a:solidFill>
                <a:latin typeface="Calibri"/>
              </a:rPr>
              <a:t>iXAfrica NBOX1 (Kenya): local cloud option — keep data in East Africa, supports AI workloads, 22.5 MW capacity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250" b="0" dirty="0">
                <a:solidFill>
                  <a:srgbClr val="444444"/>
                </a:solidFill>
                <a:latin typeface="Calibri"/>
              </a:rPr>
              <a:t>Key principle: start simple (Spaces/Railway), prove the product, then invest in infrastructure as revenue grows</a:t>
            </a:r>
          </a:p>
        </p:txBody>
      </p:sp>
      <p:sp>
        <p:nvSpPr>
          <p:cNvPr id="90" name="FooterBar"/>
          <p:cNvSpPr>
            <a:spLocks noGrp="1"/>
          </p:cNvSpPr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15616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HeaderBar"/>
          <p:cNvSpPr>
            <a:spLocks noGrp="1"/>
          </p:cNvSpPr>
          <p:nvPr/>
        </p:nvSpPr>
        <p:spPr>
          <a:xfrm>
            <a:off x="0" y="0"/>
            <a:ext cx="12192000" cy="800000"/>
          </a:xfrm>
          <a:prstGeom prst="rect">
            <a:avLst/>
          </a:prstGeom>
          <a:solidFill>
            <a:srgbClr val="15616D"/>
          </a:solidFill>
          <a:ln>
            <a:noFill/>
          </a:ln>
        </p:spPr>
        <p:txBody>
          <a:bodyPr anchor="ctr">
            <a:normAutofit/>
          </a:bodyPr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Trebuchet MS"/>
              </a:rPr>
              <a:t>  MLOps — Keeping Models Healthy in Production</a:t>
            </a:r>
          </a:p>
        </p:txBody>
      </p:sp>
      <p:sp>
        <p:nvSpPr>
          <p:cNvPr id="10" name="TB10"/>
          <p:cNvSpPr txBox="1">
            <a:spLocks noGrp="1"/>
          </p:cNvSpPr>
          <p:nvPr/>
        </p:nvSpPr>
        <p:spPr>
          <a:xfrm>
            <a:off x="457200" y="950000"/>
            <a:ext cx="11200000" cy="35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400" b="0" dirty="0">
                <a:solidFill>
                  <a:srgbClr val="555555"/>
                </a:solidFill>
                <a:latin typeface="Calibri"/>
              </a:rPr>
              <a:t>Deploying a model is day 1 — keeping it accurate and reliable is the real challenge</a:t>
            </a:r>
          </a:p>
        </p:txBody>
      </p:sp>
      <p:sp>
        <p:nvSpPr>
          <p:cNvPr id="11" name="RC11"/>
          <p:cNvSpPr txBox="1">
            <a:spLocks noGrp="1"/>
          </p:cNvSpPr>
          <p:nvPr/>
        </p:nvSpPr>
        <p:spPr>
          <a:xfrm>
            <a:off x="457200" y="1400000"/>
            <a:ext cx="2600000" cy="1600000"/>
          </a:xfrm>
          <a:prstGeom prst="roundRect">
            <a:avLst>
              <a:gd name="adj" fmla="val 16667"/>
            </a:avLst>
          </a:prstGeom>
          <a:solidFill>
            <a:srgbClr val="BC5308"/>
          </a:solidFill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3600" b="1" dirty="0">
                <a:solidFill>
                  <a:srgbClr val="FFFFFF"/>
                </a:solidFill>
                <a:latin typeface="Trebuchet MS"/>
              </a:rPr>
              <a:t>Data Drift</a:t>
            </a:r>
          </a:p>
          <a:p>
            <a:pPr algn="ctr"/>
            <a:r>
              <a:rPr lang="en-US" sz="1100" b="0" dirty="0">
                <a:solidFill>
                  <a:srgbClr val="C5CAB8"/>
                </a:solidFill>
                <a:latin typeface="Calibri"/>
              </a:rPr>
              <a:t>Input distribution shifts over time</a:t>
            </a:r>
          </a:p>
        </p:txBody>
      </p:sp>
      <p:sp>
        <p:nvSpPr>
          <p:cNvPr id="12" name="RC12"/>
          <p:cNvSpPr txBox="1">
            <a:spLocks noGrp="1"/>
          </p:cNvSpPr>
          <p:nvPr/>
        </p:nvSpPr>
        <p:spPr>
          <a:xfrm>
            <a:off x="3250000" y="1400000"/>
            <a:ext cx="2600000" cy="1600000"/>
          </a:xfrm>
          <a:prstGeom prst="roundRect">
            <a:avLst>
              <a:gd name="adj" fmla="val 16667"/>
            </a:avLst>
          </a:prstGeom>
          <a:solidFill>
            <a:srgbClr val="15616D"/>
          </a:solidFill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3600" b="1" dirty="0">
                <a:solidFill>
                  <a:srgbClr val="FFFFFF"/>
                </a:solidFill>
                <a:latin typeface="Trebuchet MS"/>
              </a:rPr>
              <a:t>Model Decay</a:t>
            </a:r>
          </a:p>
          <a:p>
            <a:pPr algn="ctr"/>
            <a:r>
              <a:rPr lang="en-US" sz="1100" b="0" dirty="0">
                <a:solidFill>
                  <a:srgbClr val="C5CAB8"/>
                </a:solidFill>
                <a:latin typeface="Calibri"/>
              </a:rPr>
              <a:t>Accuracy drops as world changes</a:t>
            </a:r>
          </a:p>
        </p:txBody>
      </p:sp>
      <p:sp>
        <p:nvSpPr>
          <p:cNvPr id="13" name="RC13"/>
          <p:cNvSpPr txBox="1">
            <a:spLocks noGrp="1"/>
          </p:cNvSpPr>
          <p:nvPr/>
        </p:nvSpPr>
        <p:spPr>
          <a:xfrm>
            <a:off x="6050000" y="1400000"/>
            <a:ext cx="2600000" cy="1600000"/>
          </a:xfrm>
          <a:prstGeom prst="roundRect">
            <a:avLst>
              <a:gd name="adj" fmla="val 16667"/>
            </a:avLst>
          </a:prstGeom>
          <a:solidFill>
            <a:srgbClr val="FF7D00"/>
          </a:solidFill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3600" b="1" dirty="0">
                <a:solidFill>
                  <a:srgbClr val="001524"/>
                </a:solidFill>
                <a:latin typeface="Trebuchet MS"/>
              </a:rPr>
              <a:t>Monitoring</a:t>
            </a:r>
          </a:p>
          <a:p>
            <a:pPr algn="ctr"/>
            <a:r>
              <a:rPr lang="en-US" sz="1100" b="0" dirty="0">
                <a:solidFill>
                  <a:srgbClr val="001524"/>
                </a:solidFill>
                <a:latin typeface="Calibri"/>
              </a:rPr>
              <a:t>Track metrics, alerts, dashboards</a:t>
            </a:r>
          </a:p>
        </p:txBody>
      </p:sp>
      <p:sp>
        <p:nvSpPr>
          <p:cNvPr id="14" name="RC14"/>
          <p:cNvSpPr txBox="1">
            <a:spLocks noGrp="1"/>
          </p:cNvSpPr>
          <p:nvPr/>
        </p:nvSpPr>
        <p:spPr>
          <a:xfrm>
            <a:off x="8850000" y="1400000"/>
            <a:ext cx="2900000" cy="1600000"/>
          </a:xfrm>
          <a:prstGeom prst="roundRect">
            <a:avLst>
              <a:gd name="adj" fmla="val 16667"/>
            </a:avLst>
          </a:prstGeom>
          <a:solidFill>
            <a:srgbClr val="8AA79F"/>
          </a:solidFill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3600" b="1" dirty="0">
                <a:solidFill>
                  <a:srgbClr val="001524"/>
                </a:solidFill>
                <a:latin typeface="Trebuchet MS"/>
              </a:rPr>
              <a:t>Retraining</a:t>
            </a:r>
          </a:p>
          <a:p>
            <a:pPr algn="ctr"/>
            <a:r>
              <a:rPr lang="en-US" sz="1100" b="0" dirty="0">
                <a:solidFill>
                  <a:srgbClr val="001524"/>
                </a:solidFill>
                <a:latin typeface="Calibri"/>
              </a:rPr>
              <a:t>Automated pipelines for fresh models</a:t>
            </a:r>
          </a:p>
        </p:txBody>
      </p:sp>
      <p:sp>
        <p:nvSpPr>
          <p:cNvPr id="20" name="CB20"/>
          <p:cNvSpPr>
            <a:spLocks noGrp="1"/>
          </p:cNvSpPr>
          <p:nvPr/>
        </p:nvSpPr>
        <p:spPr>
          <a:xfrm>
            <a:off x="457200" y="3200000"/>
            <a:ext cx="5500000" cy="3000000"/>
          </a:xfrm>
          <a:prstGeom prst="rect">
            <a:avLst/>
          </a:prstGeom>
          <a:solidFill>
            <a:srgbClr val="F0F8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B21"/>
          <p:cNvSpPr txBox="1">
            <a:spLocks noGrp="1"/>
          </p:cNvSpPr>
          <p:nvPr/>
        </p:nvSpPr>
        <p:spPr>
          <a:xfrm>
            <a:off x="600000" y="3300000"/>
            <a:ext cx="5200000" cy="5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800" b="1" dirty="0">
                <a:solidFill>
                  <a:srgbClr val="15616D"/>
                </a:solidFill>
                <a:latin typeface="Trebuchet MS"/>
              </a:rPr>
              <a:t>What Can Go Wrong</a:t>
            </a:r>
          </a:p>
        </p:txBody>
      </p:sp>
      <p:sp>
        <p:nvSpPr>
          <p:cNvPr id="22" name="BL22"/>
          <p:cNvSpPr txBox="1">
            <a:spLocks noGrp="1"/>
          </p:cNvSpPr>
          <p:nvPr/>
        </p:nvSpPr>
        <p:spPr>
          <a:xfrm>
            <a:off x="600000" y="3900000"/>
            <a:ext cx="5100000" cy="21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250" b="0" dirty="0">
                <a:solidFill>
                  <a:srgbClr val="444444"/>
                </a:solidFill>
                <a:latin typeface="Calibri"/>
              </a:rPr>
              <a:t>Data drift: Input features shift — model trained on 2024 data, 2026 data looks different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250" b="0" dirty="0">
                <a:solidFill>
                  <a:srgbClr val="444444"/>
                </a:solidFill>
                <a:latin typeface="Calibri"/>
              </a:rPr>
              <a:t>Concept drift: The relationship between X and Y changes (e.g. economy shifts)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250" b="0" dirty="0">
                <a:solidFill>
                  <a:srgbClr val="444444"/>
                </a:solidFill>
                <a:latin typeface="Calibri"/>
              </a:rPr>
              <a:t>Infrastructure failure: Model server goes down, memory leaks, timeouts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250" b="0" dirty="0">
                <a:solidFill>
                  <a:srgbClr val="444444"/>
                </a:solidFill>
                <a:latin typeface="Calibri"/>
              </a:rPr>
              <a:t>Adversarial inputs: Users craft inputs to fool your model (fraud, prompt injection)</a:t>
            </a:r>
          </a:p>
        </p:txBody>
      </p:sp>
      <p:sp>
        <p:nvSpPr>
          <p:cNvPr id="23" name="CB23"/>
          <p:cNvSpPr>
            <a:spLocks noGrp="1"/>
          </p:cNvSpPr>
          <p:nvPr/>
        </p:nvSpPr>
        <p:spPr>
          <a:xfrm>
            <a:off x="6200000" y="3200000"/>
            <a:ext cx="5550000" cy="3000000"/>
          </a:xfrm>
          <a:prstGeom prst="rect">
            <a:avLst/>
          </a:prstGeom>
          <a:solidFill>
            <a:srgbClr val="00152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B24"/>
          <p:cNvSpPr txBox="1">
            <a:spLocks noGrp="1"/>
          </p:cNvSpPr>
          <p:nvPr/>
        </p:nvSpPr>
        <p:spPr>
          <a:xfrm>
            <a:off x="6400000" y="3300000"/>
            <a:ext cx="5100000" cy="5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800" b="1" dirty="0">
                <a:solidFill>
                  <a:srgbClr val="FF7D00"/>
                </a:solidFill>
                <a:latin typeface="Trebuchet MS"/>
              </a:rPr>
              <a:t>MLOps Toolkit</a:t>
            </a:r>
          </a:p>
        </p:txBody>
      </p:sp>
      <p:sp>
        <p:nvSpPr>
          <p:cNvPr id="25" name="BL25"/>
          <p:cNvSpPr txBox="1">
            <a:spLocks noGrp="1"/>
          </p:cNvSpPr>
          <p:nvPr/>
        </p:nvSpPr>
        <p:spPr>
          <a:xfrm>
            <a:off x="6400000" y="3900000"/>
            <a:ext cx="5100000" cy="21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250" b="0" dirty="0">
                <a:solidFill>
                  <a:srgbClr val="C5CAB8"/>
                </a:solidFill>
                <a:latin typeface="Calibri"/>
              </a:rPr>
              <a:t>MLflow — track experiments, log metrics, version models (free, open-source)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250" b="0" dirty="0">
                <a:solidFill>
                  <a:srgbClr val="C5CAB8"/>
                </a:solidFill>
                <a:latin typeface="Calibri"/>
              </a:rPr>
              <a:t>Evidently AI — data drift detection dashboards (free tier available)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250" b="0" dirty="0">
                <a:solidFill>
                  <a:srgbClr val="C5CAB8"/>
                </a:solidFill>
                <a:latin typeface="Calibri"/>
              </a:rPr>
              <a:t>Prometheus + Grafana — monitor API latency, error rates, throughput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250" b="0" dirty="0">
                <a:solidFill>
                  <a:srgbClr val="C5CAB8"/>
                </a:solidFill>
                <a:latin typeface="Calibri"/>
              </a:rPr>
              <a:t>GitHub Actions — scheduled retraining pipeline when drift detected</a:t>
            </a:r>
          </a:p>
        </p:txBody>
      </p:sp>
      <p:sp>
        <p:nvSpPr>
          <p:cNvPr id="90" name="FooterBar"/>
          <p:cNvSpPr>
            <a:spLocks noGrp="1"/>
          </p:cNvSpPr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15616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HeaderBar"/>
          <p:cNvSpPr>
            <a:spLocks noGrp="1"/>
          </p:cNvSpPr>
          <p:nvPr/>
        </p:nvSpPr>
        <p:spPr>
          <a:xfrm>
            <a:off x="0" y="0"/>
            <a:ext cx="12192000" cy="800000"/>
          </a:xfrm>
          <a:prstGeom prst="rect">
            <a:avLst/>
          </a:prstGeom>
          <a:solidFill>
            <a:srgbClr val="15616D"/>
          </a:solidFill>
          <a:ln>
            <a:noFill/>
          </a:ln>
        </p:spPr>
        <p:txBody>
          <a:bodyPr anchor="ctr">
            <a:normAutofit/>
          </a:bodyPr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Trebuchet MS"/>
              </a:rPr>
              <a:t>  Capstone Demo — Full Stack AI System</a:t>
            </a:r>
          </a:p>
        </p:txBody>
      </p:sp>
      <p:sp>
        <p:nvSpPr>
          <p:cNvPr id="10" name="TB10"/>
          <p:cNvSpPr txBox="1">
            <a:spLocks noGrp="1"/>
          </p:cNvSpPr>
          <p:nvPr/>
        </p:nvSpPr>
        <p:spPr>
          <a:xfrm>
            <a:off x="457200" y="950000"/>
            <a:ext cx="11200000" cy="35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400" b="0" dirty="0">
                <a:solidFill>
                  <a:srgbClr val="555555"/>
                </a:solidFill>
                <a:latin typeface="Calibri"/>
              </a:rPr>
              <a:t>Putting it all together: a production AI pipeline from raw data to automated delivery</a:t>
            </a:r>
          </a:p>
        </p:txBody>
      </p:sp>
      <p:sp>
        <p:nvSpPr>
          <p:cNvPr id="11" name="CB11"/>
          <p:cNvSpPr>
            <a:spLocks noGrp="1"/>
          </p:cNvSpPr>
          <p:nvPr/>
        </p:nvSpPr>
        <p:spPr>
          <a:xfrm>
            <a:off x="457200" y="1380000"/>
            <a:ext cx="11200000" cy="550000"/>
          </a:xfrm>
          <a:prstGeom prst="rect">
            <a:avLst/>
          </a:prstGeom>
          <a:solidFill>
            <a:srgbClr val="15616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B12"/>
          <p:cNvSpPr txBox="1">
            <a:spLocks noGrp="1"/>
          </p:cNvSpPr>
          <p:nvPr/>
        </p:nvSpPr>
        <p:spPr>
          <a:xfrm>
            <a:off x="600000" y="1430000"/>
            <a:ext cx="10800000" cy="45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Calibri"/>
              </a:rPr>
              <a:t>Project: Kenyan News Intelligence Dashboard — automated daily AI briefing</a:t>
            </a:r>
          </a:p>
        </p:txBody>
      </p:sp>
      <p:sp>
        <p:nvSpPr>
          <p:cNvPr id="13" name="CB13"/>
          <p:cNvSpPr>
            <a:spLocks noGrp="1"/>
          </p:cNvSpPr>
          <p:nvPr/>
        </p:nvSpPr>
        <p:spPr>
          <a:xfrm>
            <a:off x="457200" y="2080000"/>
            <a:ext cx="2150000" cy="3900000"/>
          </a:xfrm>
          <a:prstGeom prst="rect">
            <a:avLst/>
          </a:prstGeom>
          <a:solidFill>
            <a:srgbClr val="F0F8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B14"/>
          <p:cNvSpPr txBox="1">
            <a:spLocks noGrp="1"/>
          </p:cNvSpPr>
          <p:nvPr/>
        </p:nvSpPr>
        <p:spPr>
          <a:xfrm>
            <a:off x="600000" y="2160000"/>
            <a:ext cx="1900000" cy="45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400" b="1" dirty="0">
                <a:solidFill>
                  <a:srgbClr val="15616D"/>
                </a:solidFill>
                <a:latin typeface="Calibri"/>
              </a:rPr>
              <a:t>Data Layer</a:t>
            </a:r>
          </a:p>
        </p:txBody>
      </p:sp>
      <p:sp>
        <p:nvSpPr>
          <p:cNvPr id="15" name="BL15"/>
          <p:cNvSpPr txBox="1">
            <a:spLocks noGrp="1"/>
          </p:cNvSpPr>
          <p:nvPr/>
        </p:nvSpPr>
        <p:spPr>
          <a:xfrm>
            <a:off x="520000" y="2680000"/>
            <a:ext cx="2000000" cy="31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150" b="0" dirty="0">
                <a:solidFill>
                  <a:srgbClr val="444444"/>
                </a:solidFill>
                <a:latin typeface="Calibri"/>
              </a:rPr>
              <a:t>RSS feeds from Nation, Standard, Citizen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150" b="0" dirty="0">
                <a:solidFill>
                  <a:srgbClr val="444444"/>
                </a:solidFill>
                <a:latin typeface="Calibri"/>
              </a:rPr>
              <a:t>Scraped every 6 hours via GitHub Actions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150" b="0" dirty="0">
                <a:solidFill>
                  <a:srgbClr val="444444"/>
                </a:solidFill>
                <a:latin typeface="Calibri"/>
              </a:rPr>
              <a:t>Stored in SQLite with dedup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150" b="0" dirty="0">
                <a:solidFill>
                  <a:srgbClr val="444444"/>
                </a:solidFill>
                <a:latin typeface="Calibri"/>
              </a:rPr>
              <a:t>100-500 articles per day</a:t>
            </a:r>
          </a:p>
        </p:txBody>
      </p:sp>
      <p:sp>
        <p:nvSpPr>
          <p:cNvPr id="16" name="CB16"/>
          <p:cNvSpPr>
            <a:spLocks noGrp="1"/>
          </p:cNvSpPr>
          <p:nvPr/>
        </p:nvSpPr>
        <p:spPr>
          <a:xfrm>
            <a:off x="2750000" y="2080000"/>
            <a:ext cx="2150000" cy="3900000"/>
          </a:xfrm>
          <a:prstGeom prst="rect">
            <a:avLst/>
          </a:prstGeom>
          <a:solidFill>
            <a:srgbClr val="FFF5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B17"/>
          <p:cNvSpPr txBox="1">
            <a:spLocks noGrp="1"/>
          </p:cNvSpPr>
          <p:nvPr/>
        </p:nvSpPr>
        <p:spPr>
          <a:xfrm>
            <a:off x="2900000" y="2160000"/>
            <a:ext cx="1900000" cy="45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400" b="1" dirty="0">
                <a:solidFill>
                  <a:srgbClr val="BC5308"/>
                </a:solidFill>
                <a:latin typeface="Calibri"/>
              </a:rPr>
              <a:t>AI Layer</a:t>
            </a:r>
          </a:p>
        </p:txBody>
      </p:sp>
      <p:sp>
        <p:nvSpPr>
          <p:cNvPr id="18" name="BL18"/>
          <p:cNvSpPr txBox="1">
            <a:spLocks noGrp="1"/>
          </p:cNvSpPr>
          <p:nvPr/>
        </p:nvSpPr>
        <p:spPr>
          <a:xfrm>
            <a:off x="2720000" y="2680000"/>
            <a:ext cx="2100000" cy="31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150" b="0" dirty="0">
                <a:solidFill>
                  <a:srgbClr val="444444"/>
                </a:solidFill>
                <a:latin typeface="Calibri"/>
              </a:rPr>
              <a:t>Summarize: BART (HuggingFace)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150" b="0" dirty="0">
                <a:solidFill>
                  <a:srgbClr val="444444"/>
                </a:solidFill>
                <a:latin typeface="Calibri"/>
              </a:rPr>
              <a:t>Classify: Naive Bayes (Session 2)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150" b="0" dirty="0">
                <a:solidFill>
                  <a:srgbClr val="444444"/>
                </a:solidFill>
                <a:latin typeface="Calibri"/>
              </a:rPr>
              <a:t>Sentiment: HuggingFace pipeline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150" b="0" dirty="0">
                <a:solidFill>
                  <a:srgbClr val="444444"/>
                </a:solidFill>
                <a:latin typeface="Calibri"/>
              </a:rPr>
              <a:t>NER: spaCy entities extracted</a:t>
            </a:r>
          </a:p>
        </p:txBody>
      </p:sp>
      <p:sp>
        <p:nvSpPr>
          <p:cNvPr id="19" name="CB19"/>
          <p:cNvSpPr>
            <a:spLocks noGrp="1"/>
          </p:cNvSpPr>
          <p:nvPr/>
        </p:nvSpPr>
        <p:spPr>
          <a:xfrm>
            <a:off x="5050000" y="2080000"/>
            <a:ext cx="2150000" cy="3900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B20"/>
          <p:cNvSpPr txBox="1">
            <a:spLocks noGrp="1"/>
          </p:cNvSpPr>
          <p:nvPr/>
        </p:nvSpPr>
        <p:spPr>
          <a:xfrm>
            <a:off x="5200000" y="2160000"/>
            <a:ext cx="1900000" cy="45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400" b="1" dirty="0">
                <a:solidFill>
                  <a:srgbClr val="15616D"/>
                </a:solidFill>
                <a:latin typeface="Calibri"/>
              </a:rPr>
              <a:t>API Layer</a:t>
            </a:r>
          </a:p>
        </p:txBody>
      </p:sp>
      <p:sp>
        <p:nvSpPr>
          <p:cNvPr id="21" name="BL21"/>
          <p:cNvSpPr txBox="1">
            <a:spLocks noGrp="1"/>
          </p:cNvSpPr>
          <p:nvPr/>
        </p:nvSpPr>
        <p:spPr>
          <a:xfrm>
            <a:off x="5020000" y="2680000"/>
            <a:ext cx="2100000" cy="31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150" b="0" dirty="0">
                <a:solidFill>
                  <a:srgbClr val="444444"/>
                </a:solidFill>
                <a:latin typeface="Calibri"/>
              </a:rPr>
              <a:t>FastAPI: /articles, /summary, /sentiment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150" b="0" dirty="0">
                <a:solidFill>
                  <a:srgbClr val="444444"/>
                </a:solidFill>
                <a:latin typeface="Calibri"/>
              </a:rPr>
              <a:t>Deployed on Railway (free tier)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150" b="0" dirty="0">
                <a:solidFill>
                  <a:srgbClr val="444444"/>
                </a:solidFill>
                <a:latin typeface="Calibri"/>
              </a:rPr>
              <a:t>Auth with API key header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150" b="0" dirty="0">
                <a:solidFill>
                  <a:srgbClr val="444444"/>
                </a:solidFill>
                <a:latin typeface="Calibri"/>
              </a:rPr>
              <a:t>Rate limiting: 100 req/hour free</a:t>
            </a:r>
          </a:p>
        </p:txBody>
      </p:sp>
      <p:sp>
        <p:nvSpPr>
          <p:cNvPr id="22" name="CB22"/>
          <p:cNvSpPr>
            <a:spLocks noGrp="1"/>
          </p:cNvSpPr>
          <p:nvPr/>
        </p:nvSpPr>
        <p:spPr>
          <a:xfrm>
            <a:off x="7350000" y="2080000"/>
            <a:ext cx="2150000" cy="3900000"/>
          </a:xfrm>
          <a:prstGeom prst="rect">
            <a:avLst/>
          </a:prstGeom>
          <a:solidFill>
            <a:srgbClr val="F0F8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TB23"/>
          <p:cNvSpPr txBox="1">
            <a:spLocks noGrp="1"/>
          </p:cNvSpPr>
          <p:nvPr/>
        </p:nvSpPr>
        <p:spPr>
          <a:xfrm>
            <a:off x="7500000" y="2160000"/>
            <a:ext cx="1900000" cy="45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400" b="1" dirty="0">
                <a:solidFill>
                  <a:srgbClr val="8AA79F"/>
                </a:solidFill>
                <a:latin typeface="Calibri"/>
              </a:rPr>
              <a:t>Output Layer</a:t>
            </a:r>
          </a:p>
        </p:txBody>
      </p:sp>
      <p:sp>
        <p:nvSpPr>
          <p:cNvPr id="24" name="BL24"/>
          <p:cNvSpPr txBox="1">
            <a:spLocks noGrp="1"/>
          </p:cNvSpPr>
          <p:nvPr/>
        </p:nvSpPr>
        <p:spPr>
          <a:xfrm>
            <a:off x="7320000" y="2680000"/>
            <a:ext cx="2100000" cy="31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150" b="0" dirty="0">
                <a:solidFill>
                  <a:srgbClr val="444444"/>
                </a:solidFill>
                <a:latin typeface="Calibri"/>
              </a:rPr>
              <a:t>Daily email digest via SendGrid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150" b="0" dirty="0">
                <a:solidFill>
                  <a:srgbClr val="444444"/>
                </a:solidFill>
                <a:latin typeface="Calibri"/>
              </a:rPr>
              <a:t>Streamlit dashboard (charts + filters)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150" b="0" dirty="0">
                <a:solidFill>
                  <a:srgbClr val="444444"/>
                </a:solidFill>
                <a:latin typeface="Calibri"/>
              </a:rPr>
              <a:t>WhatsApp bot via Twilio API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150" b="0" dirty="0">
                <a:solidFill>
                  <a:srgbClr val="444444"/>
                </a:solidFill>
                <a:latin typeface="Calibri"/>
              </a:rPr>
              <a:t>Export to Excel for non-tech users</a:t>
            </a:r>
          </a:p>
        </p:txBody>
      </p:sp>
      <p:sp>
        <p:nvSpPr>
          <p:cNvPr id="25" name="CB25"/>
          <p:cNvSpPr>
            <a:spLocks noGrp="1"/>
          </p:cNvSpPr>
          <p:nvPr/>
        </p:nvSpPr>
        <p:spPr>
          <a:xfrm>
            <a:off x="9650000" y="2080000"/>
            <a:ext cx="2100000" cy="3900000"/>
          </a:xfrm>
          <a:prstGeom prst="rect">
            <a:avLst/>
          </a:prstGeom>
          <a:solidFill>
            <a:srgbClr val="00152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B26"/>
          <p:cNvSpPr txBox="1">
            <a:spLocks noGrp="1"/>
          </p:cNvSpPr>
          <p:nvPr/>
        </p:nvSpPr>
        <p:spPr>
          <a:xfrm>
            <a:off x="9800000" y="2160000"/>
            <a:ext cx="1800000" cy="45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400" b="1" dirty="0">
                <a:solidFill>
                  <a:srgbClr val="FF7D00"/>
                </a:solidFill>
                <a:latin typeface="Calibri"/>
              </a:rPr>
              <a:t>Automation</a:t>
            </a:r>
          </a:p>
        </p:txBody>
      </p:sp>
      <p:sp>
        <p:nvSpPr>
          <p:cNvPr id="27" name="BL27"/>
          <p:cNvSpPr txBox="1">
            <a:spLocks noGrp="1"/>
          </p:cNvSpPr>
          <p:nvPr/>
        </p:nvSpPr>
        <p:spPr>
          <a:xfrm>
            <a:off x="9670000" y="2680000"/>
            <a:ext cx="2000000" cy="31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150" b="0" dirty="0">
                <a:solidFill>
                  <a:srgbClr val="C5CAB8"/>
                </a:solidFill>
                <a:latin typeface="Calibri"/>
              </a:rPr>
              <a:t>GitHub Actions cron: 4x daily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150" b="0" dirty="0">
                <a:solidFill>
                  <a:srgbClr val="C5CAB8"/>
                </a:solidFill>
                <a:latin typeface="Calibri"/>
              </a:rPr>
              <a:t>Auto-retrain monthly with new data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150" b="0" dirty="0">
                <a:solidFill>
                  <a:srgbClr val="C5CAB8"/>
                </a:solidFill>
                <a:latin typeface="Calibri"/>
              </a:rPr>
              <a:t>Slack alert if accuracy drops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150" b="0" dirty="0">
                <a:solidFill>
                  <a:srgbClr val="FF7D00"/>
                </a:solidFill>
                <a:latin typeface="Calibri"/>
              </a:rPr>
              <a:t>100% automated, zero manual work</a:t>
            </a:r>
          </a:p>
        </p:txBody>
      </p:sp>
      <p:sp>
        <p:nvSpPr>
          <p:cNvPr id="90" name="FooterBar"/>
          <p:cNvSpPr>
            <a:spLocks noGrp="1"/>
          </p:cNvSpPr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15616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HeaderBar"/>
          <p:cNvSpPr>
            <a:spLocks noGrp="1"/>
          </p:cNvSpPr>
          <p:nvPr/>
        </p:nvSpPr>
        <p:spPr>
          <a:xfrm>
            <a:off x="0" y="0"/>
            <a:ext cx="12192000" cy="800000"/>
          </a:xfrm>
          <a:prstGeom prst="rect">
            <a:avLst/>
          </a:prstGeom>
          <a:solidFill>
            <a:srgbClr val="15616D"/>
          </a:solidFill>
          <a:ln>
            <a:noFill/>
          </a:ln>
        </p:spPr>
        <p:txBody>
          <a:bodyPr anchor="ctr">
            <a:normAutofit/>
          </a:bodyPr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Trebuchet MS"/>
              </a:rPr>
              <a:t>  AI Career Pathways in Kenya &amp; Africa</a:t>
            </a:r>
          </a:p>
        </p:txBody>
      </p:sp>
      <p:sp>
        <p:nvSpPr>
          <p:cNvPr id="11" name="RC11"/>
          <p:cNvSpPr txBox="1">
            <a:spLocks noGrp="1"/>
          </p:cNvSpPr>
          <p:nvPr/>
        </p:nvSpPr>
        <p:spPr>
          <a:xfrm>
            <a:off x="457200" y="950000"/>
            <a:ext cx="2600000" cy="1700000"/>
          </a:xfrm>
          <a:prstGeom prst="roundRect">
            <a:avLst>
              <a:gd name="adj" fmla="val 16667"/>
            </a:avLst>
          </a:prstGeom>
          <a:solidFill>
            <a:srgbClr val="15616D"/>
          </a:solidFill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3600" b="1" dirty="0">
                <a:solidFill>
                  <a:srgbClr val="FFFFFF"/>
                </a:solidFill>
                <a:latin typeface="Trebuchet MS"/>
              </a:rPr>
              <a:t>Data Sci</a:t>
            </a:r>
          </a:p>
          <a:p>
            <a:pPr algn="ctr"/>
            <a:r>
              <a:rPr lang="en-US" sz="1100" b="0" dirty="0">
                <a:solidFill>
                  <a:srgbClr val="C5CAB8"/>
                </a:solidFill>
                <a:latin typeface="Calibri"/>
              </a:rPr>
              <a:t>KES 150K-400K/mo avg. in Nairobi</a:t>
            </a:r>
          </a:p>
        </p:txBody>
      </p:sp>
      <p:sp>
        <p:nvSpPr>
          <p:cNvPr id="12" name="RC12"/>
          <p:cNvSpPr txBox="1">
            <a:spLocks noGrp="1"/>
          </p:cNvSpPr>
          <p:nvPr/>
        </p:nvSpPr>
        <p:spPr>
          <a:xfrm>
            <a:off x="3250000" y="950000"/>
            <a:ext cx="2600000" cy="1700000"/>
          </a:xfrm>
          <a:prstGeom prst="roundRect">
            <a:avLst>
              <a:gd name="adj" fmla="val 16667"/>
            </a:avLst>
          </a:prstGeom>
          <a:solidFill>
            <a:srgbClr val="BC5308"/>
          </a:solidFill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3600" b="1" dirty="0">
                <a:solidFill>
                  <a:srgbClr val="FFFFFF"/>
                </a:solidFill>
                <a:latin typeface="Trebuchet MS"/>
              </a:rPr>
              <a:t>ML Eng</a:t>
            </a:r>
          </a:p>
          <a:p>
            <a:pPr algn="ctr"/>
            <a:r>
              <a:rPr lang="en-US" sz="1100" b="0" dirty="0">
                <a:solidFill>
                  <a:srgbClr val="C5CAB8"/>
                </a:solidFill>
                <a:latin typeface="Calibri"/>
              </a:rPr>
              <a:t>KES 200K-600K/mo at senior level</a:t>
            </a:r>
          </a:p>
        </p:txBody>
      </p:sp>
      <p:sp>
        <p:nvSpPr>
          <p:cNvPr id="13" name="RC13"/>
          <p:cNvSpPr txBox="1">
            <a:spLocks noGrp="1"/>
          </p:cNvSpPr>
          <p:nvPr/>
        </p:nvSpPr>
        <p:spPr>
          <a:xfrm>
            <a:off x="6050000" y="950000"/>
            <a:ext cx="2600000" cy="1700000"/>
          </a:xfrm>
          <a:prstGeom prst="roundRect">
            <a:avLst>
              <a:gd name="adj" fmla="val 16667"/>
            </a:avLst>
          </a:prstGeom>
          <a:solidFill>
            <a:srgbClr val="FF7D00"/>
          </a:solidFill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3600" b="1" dirty="0">
                <a:solidFill>
                  <a:srgbClr val="001524"/>
                </a:solidFill>
                <a:latin typeface="Trebuchet MS"/>
              </a:rPr>
              <a:t>AI Eng</a:t>
            </a:r>
          </a:p>
          <a:p>
            <a:pPr algn="ctr"/>
            <a:r>
              <a:rPr lang="en-US" sz="1100" b="0" dirty="0">
                <a:solidFill>
                  <a:srgbClr val="001524"/>
                </a:solidFill>
                <a:latin typeface="Calibri"/>
              </a:rPr>
              <a:t>High demand: Safaricom, banks, startups</a:t>
            </a:r>
          </a:p>
        </p:txBody>
      </p:sp>
      <p:sp>
        <p:nvSpPr>
          <p:cNvPr id="14" name="RC14"/>
          <p:cNvSpPr txBox="1">
            <a:spLocks noGrp="1"/>
          </p:cNvSpPr>
          <p:nvPr/>
        </p:nvSpPr>
        <p:spPr>
          <a:xfrm>
            <a:off x="8850000" y="950000"/>
            <a:ext cx="2900000" cy="1700000"/>
          </a:xfrm>
          <a:prstGeom prst="roundRect">
            <a:avLst>
              <a:gd name="adj" fmla="val 16667"/>
            </a:avLst>
          </a:prstGeom>
          <a:solidFill>
            <a:srgbClr val="8AA79F"/>
          </a:solidFill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3600" b="1" dirty="0">
                <a:solidFill>
                  <a:srgbClr val="001524"/>
                </a:solidFill>
                <a:latin typeface="Trebuchet MS"/>
              </a:rPr>
              <a:t>Freelance</a:t>
            </a:r>
          </a:p>
          <a:p>
            <a:pPr algn="ctr"/>
            <a:r>
              <a:rPr lang="en-US" sz="1100" b="0" dirty="0">
                <a:solidFill>
                  <a:srgbClr val="001524"/>
                </a:solidFill>
                <a:latin typeface="Calibri"/>
              </a:rPr>
              <a:t>$30-150/hr on Toptal, Upwork globally</a:t>
            </a:r>
          </a:p>
        </p:txBody>
      </p:sp>
      <p:sp>
        <p:nvSpPr>
          <p:cNvPr id="20" name="TB20"/>
          <p:cNvSpPr txBox="1">
            <a:spLocks noGrp="1"/>
          </p:cNvSpPr>
          <p:nvPr/>
        </p:nvSpPr>
        <p:spPr>
          <a:xfrm>
            <a:off x="457200" y="2850000"/>
            <a:ext cx="11200000" cy="4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800" b="1" dirty="0">
                <a:solidFill>
                  <a:srgbClr val="15616D"/>
                </a:solidFill>
                <a:latin typeface="Trebuchet MS"/>
              </a:rPr>
              <a:t>Your Learning Roadmap After This Course</a:t>
            </a:r>
          </a:p>
        </p:txBody>
      </p:sp>
      <p:sp>
        <p:nvSpPr>
          <p:cNvPr id="21" name="CB21"/>
          <p:cNvSpPr>
            <a:spLocks noGrp="1"/>
          </p:cNvSpPr>
          <p:nvPr/>
        </p:nvSpPr>
        <p:spPr>
          <a:xfrm>
            <a:off x="457200" y="3400000"/>
            <a:ext cx="3600000" cy="2700000"/>
          </a:xfrm>
          <a:prstGeom prst="rect">
            <a:avLst/>
          </a:prstGeom>
          <a:solidFill>
            <a:srgbClr val="F0F8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B22"/>
          <p:cNvSpPr txBox="1">
            <a:spLocks noGrp="1"/>
          </p:cNvSpPr>
          <p:nvPr/>
        </p:nvSpPr>
        <p:spPr>
          <a:xfrm>
            <a:off x="600000" y="3480000"/>
            <a:ext cx="3300000" cy="45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600" b="1" dirty="0">
                <a:solidFill>
                  <a:srgbClr val="15616D"/>
                </a:solidFill>
                <a:latin typeface="Calibri"/>
              </a:rPr>
              <a:t>Months 1-3: Build</a:t>
            </a:r>
          </a:p>
        </p:txBody>
      </p:sp>
      <p:sp>
        <p:nvSpPr>
          <p:cNvPr id="23" name="BL23"/>
          <p:cNvSpPr txBox="1">
            <a:spLocks noGrp="1"/>
          </p:cNvSpPr>
          <p:nvPr/>
        </p:nvSpPr>
        <p:spPr>
          <a:xfrm>
            <a:off x="600000" y="3980000"/>
            <a:ext cx="3300000" cy="195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200" b="0" dirty="0">
                <a:solidFill>
                  <a:srgbClr val="444444"/>
                </a:solidFill>
                <a:latin typeface="Calibri"/>
              </a:rPr>
              <a:t>Complete this course projects on GitHub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200" b="0" dirty="0">
                <a:solidFill>
                  <a:srgbClr val="444444"/>
                </a:solidFill>
                <a:latin typeface="Calibri"/>
              </a:rPr>
              <a:t>Kaggle competitions for ML practice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200" b="0" dirty="0">
                <a:solidFill>
                  <a:srgbClr val="444444"/>
                </a:solidFill>
                <a:latin typeface="Calibri"/>
              </a:rPr>
              <a:t>Build one real project for Kenya market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200" b="0" dirty="0">
                <a:solidFill>
                  <a:srgbClr val="444444"/>
                </a:solidFill>
                <a:latin typeface="Calibri"/>
              </a:rPr>
              <a:t>Get AWS Cloud Practitioner cert (free prep)</a:t>
            </a:r>
          </a:p>
        </p:txBody>
      </p:sp>
      <p:sp>
        <p:nvSpPr>
          <p:cNvPr id="24" name="CB24"/>
          <p:cNvSpPr>
            <a:spLocks noGrp="1"/>
          </p:cNvSpPr>
          <p:nvPr/>
        </p:nvSpPr>
        <p:spPr>
          <a:xfrm>
            <a:off x="4250000" y="3400000"/>
            <a:ext cx="3600000" cy="2700000"/>
          </a:xfrm>
          <a:prstGeom prst="rect">
            <a:avLst/>
          </a:prstGeom>
          <a:solidFill>
            <a:srgbClr val="FFF5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B25"/>
          <p:cNvSpPr txBox="1">
            <a:spLocks noGrp="1"/>
          </p:cNvSpPr>
          <p:nvPr/>
        </p:nvSpPr>
        <p:spPr>
          <a:xfrm>
            <a:off x="4400000" y="3480000"/>
            <a:ext cx="3300000" cy="45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600" b="1" dirty="0">
                <a:solidFill>
                  <a:srgbClr val="BC5308"/>
                </a:solidFill>
                <a:latin typeface="Calibri"/>
              </a:rPr>
              <a:t>Months 4-6: Specialize</a:t>
            </a:r>
          </a:p>
        </p:txBody>
      </p:sp>
      <p:sp>
        <p:nvSpPr>
          <p:cNvPr id="26" name="BL26"/>
          <p:cNvSpPr txBox="1">
            <a:spLocks noGrp="1"/>
          </p:cNvSpPr>
          <p:nvPr/>
        </p:nvSpPr>
        <p:spPr>
          <a:xfrm>
            <a:off x="4400000" y="3980000"/>
            <a:ext cx="3300000" cy="195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200" b="0" dirty="0">
                <a:solidFill>
                  <a:srgbClr val="444444"/>
                </a:solidFill>
                <a:latin typeface="Calibri"/>
              </a:rPr>
              <a:t>Choose: NLP / Computer Vision / MLOps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200" b="0" dirty="0">
                <a:solidFill>
                  <a:srgbClr val="444444"/>
                </a:solidFill>
                <a:latin typeface="Calibri"/>
              </a:rPr>
              <a:t>Fast.ai / DeepLearning.ai courses (free)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200" b="0" dirty="0">
                <a:solidFill>
                  <a:srgbClr val="444444"/>
                </a:solidFill>
                <a:latin typeface="Calibri"/>
              </a:rPr>
              <a:t>Deploy 2-3 projects publicly (HF Spaces)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200" b="0" dirty="0">
                <a:solidFill>
                  <a:srgbClr val="444444"/>
                </a:solidFill>
                <a:latin typeface="Calibri"/>
              </a:rPr>
              <a:t>Contribute to open-source on GitHub</a:t>
            </a:r>
          </a:p>
        </p:txBody>
      </p:sp>
      <p:sp>
        <p:nvSpPr>
          <p:cNvPr id="27" name="CB27"/>
          <p:cNvSpPr>
            <a:spLocks noGrp="1"/>
          </p:cNvSpPr>
          <p:nvPr/>
        </p:nvSpPr>
        <p:spPr>
          <a:xfrm>
            <a:off x="8050000" y="3400000"/>
            <a:ext cx="3700000" cy="2700000"/>
          </a:xfrm>
          <a:prstGeom prst="rect">
            <a:avLst/>
          </a:prstGeom>
          <a:solidFill>
            <a:srgbClr val="00152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TB28"/>
          <p:cNvSpPr txBox="1">
            <a:spLocks noGrp="1"/>
          </p:cNvSpPr>
          <p:nvPr/>
        </p:nvSpPr>
        <p:spPr>
          <a:xfrm>
            <a:off x="8200000" y="3480000"/>
            <a:ext cx="3400000" cy="45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600" b="1" dirty="0">
                <a:solidFill>
                  <a:srgbClr val="FF7D00"/>
                </a:solidFill>
                <a:latin typeface="Calibri"/>
              </a:rPr>
              <a:t>Months 7-12: Land the Job</a:t>
            </a:r>
          </a:p>
        </p:txBody>
      </p:sp>
      <p:sp>
        <p:nvSpPr>
          <p:cNvPr id="29" name="BL29"/>
          <p:cNvSpPr txBox="1">
            <a:spLocks noGrp="1"/>
          </p:cNvSpPr>
          <p:nvPr/>
        </p:nvSpPr>
        <p:spPr>
          <a:xfrm>
            <a:off x="8200000" y="3980000"/>
            <a:ext cx="3400000" cy="195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200" b="0" dirty="0">
                <a:solidFill>
                  <a:srgbClr val="C5CAB8"/>
                </a:solidFill>
                <a:latin typeface="Calibri"/>
              </a:rPr>
              <a:t>Apply: Safaricom, KCB, Equity, iHub, AWS Kenya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200" b="0" dirty="0">
                <a:solidFill>
                  <a:srgbClr val="C5CAB8"/>
                </a:solidFill>
                <a:latin typeface="Calibri"/>
              </a:rPr>
              <a:t>LinkedIn: update with projects and skills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200" b="0" dirty="0">
                <a:solidFill>
                  <a:srgbClr val="C5CAB8"/>
                </a:solidFill>
                <a:latin typeface="Calibri"/>
              </a:rPr>
              <a:t>Andela remote roles: $40-100K USD/year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200" b="0" dirty="0">
                <a:solidFill>
                  <a:srgbClr val="C5CAB8"/>
                </a:solidFill>
                <a:latin typeface="Calibri"/>
              </a:rPr>
              <a:t>Freelance: start on Upwork while job-hunting</a:t>
            </a:r>
          </a:p>
        </p:txBody>
      </p:sp>
      <p:sp>
        <p:nvSpPr>
          <p:cNvPr id="90" name="FooterBar"/>
          <p:cNvSpPr>
            <a:spLocks noGrp="1"/>
          </p:cNvSpPr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15616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9524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HeaderBar"/>
          <p:cNvSpPr>
            <a:spLocks noGrp="1"/>
          </p:cNvSpPr>
          <p:nvPr/>
        </p:nvSpPr>
        <p:spPr>
          <a:xfrm>
            <a:off x="0" y="0"/>
            <a:ext cx="12192000" cy="800000"/>
          </a:xfrm>
          <a:prstGeom prst="rect">
            <a:avLst/>
          </a:prstGeom>
          <a:solidFill>
            <a:srgbClr val="15616D"/>
          </a:solidFill>
          <a:ln>
            <a:noFill/>
          </a:ln>
        </p:spPr>
        <p:txBody>
          <a:bodyPr anchor="ctr">
            <a:normAutofit/>
          </a:bodyPr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Trebuchet MS"/>
              </a:rPr>
              <a:t>  Key Takeaways — Session 4 &amp; Full Course</a:t>
            </a:r>
          </a:p>
        </p:txBody>
      </p:sp>
      <p:sp>
        <p:nvSpPr>
          <p:cNvPr id="11" name="RC11"/>
          <p:cNvSpPr txBox="1">
            <a:spLocks noGrp="1"/>
          </p:cNvSpPr>
          <p:nvPr/>
        </p:nvSpPr>
        <p:spPr>
          <a:xfrm>
            <a:off x="457200" y="950000"/>
            <a:ext cx="3600000" cy="1500000"/>
          </a:xfrm>
          <a:prstGeom prst="roundRect">
            <a:avLst>
              <a:gd name="adj" fmla="val 16667"/>
            </a:avLst>
          </a:prstGeom>
          <a:solidFill>
            <a:srgbClr val="15616D"/>
          </a:solidFill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3600" b="1" dirty="0">
                <a:solidFill>
                  <a:srgbClr val="FFFFFF"/>
                </a:solidFill>
                <a:latin typeface="Trebuchet MS"/>
              </a:rPr>
              <a:t>Ship It</a:t>
            </a:r>
          </a:p>
          <a:p>
            <a:pPr algn="ctr"/>
            <a:r>
              <a:rPr lang="en-US" sz="1100" b="0" dirty="0">
                <a:solidFill>
                  <a:srgbClr val="C5CAB8"/>
                </a:solidFill>
                <a:latin typeface="Calibri"/>
              </a:rPr>
              <a:t>A deployed model beats a perfect notebook</a:t>
            </a:r>
          </a:p>
        </p:txBody>
      </p:sp>
      <p:sp>
        <p:nvSpPr>
          <p:cNvPr id="12" name="RC12"/>
          <p:cNvSpPr txBox="1">
            <a:spLocks noGrp="1"/>
          </p:cNvSpPr>
          <p:nvPr/>
        </p:nvSpPr>
        <p:spPr>
          <a:xfrm>
            <a:off x="4296600" y="950000"/>
            <a:ext cx="3600000" cy="1500000"/>
          </a:xfrm>
          <a:prstGeom prst="roundRect">
            <a:avLst>
              <a:gd name="adj" fmla="val 16667"/>
            </a:avLst>
          </a:prstGeom>
          <a:solidFill>
            <a:srgbClr val="BC5308"/>
          </a:solidFill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3600" b="1" dirty="0">
                <a:solidFill>
                  <a:srgbClr val="FFFFFF"/>
                </a:solidFill>
                <a:latin typeface="Trebuchet MS"/>
              </a:rPr>
              <a:t>Automate</a:t>
            </a:r>
          </a:p>
          <a:p>
            <a:pPr algn="ctr"/>
            <a:r>
              <a:rPr lang="en-US" sz="1100" b="0" dirty="0">
                <a:solidFill>
                  <a:srgbClr val="C5CAB8"/>
                </a:solidFill>
                <a:latin typeface="Calibri"/>
              </a:rPr>
              <a:t>GitHub Actions = free always-on pipeline</a:t>
            </a:r>
          </a:p>
        </p:txBody>
      </p:sp>
      <p:sp>
        <p:nvSpPr>
          <p:cNvPr id="13" name="RC13"/>
          <p:cNvSpPr txBox="1">
            <a:spLocks noGrp="1"/>
          </p:cNvSpPr>
          <p:nvPr/>
        </p:nvSpPr>
        <p:spPr>
          <a:xfrm>
            <a:off x="8136000" y="950000"/>
            <a:ext cx="3600000" cy="1500000"/>
          </a:xfrm>
          <a:prstGeom prst="roundRect">
            <a:avLst>
              <a:gd name="adj" fmla="val 16667"/>
            </a:avLst>
          </a:prstGeom>
          <a:solidFill>
            <a:srgbClr val="FF7D00"/>
          </a:solidFill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3600" b="1" dirty="0">
                <a:solidFill>
                  <a:srgbClr val="001524"/>
                </a:solidFill>
                <a:latin typeface="Trebuchet MS"/>
              </a:rPr>
              <a:t>Kenya Ready</a:t>
            </a:r>
          </a:p>
          <a:p>
            <a:pPr algn="ctr"/>
            <a:r>
              <a:rPr lang="en-US" sz="1100" b="0" dirty="0">
                <a:solidFill>
                  <a:srgbClr val="001524"/>
                </a:solidFill>
                <a:latin typeface="Calibri"/>
              </a:rPr>
              <a:t>The skills you have are in demand NOW</a:t>
            </a:r>
          </a:p>
        </p:txBody>
      </p:sp>
      <p:sp>
        <p:nvSpPr>
          <p:cNvPr id="20" name="TB20"/>
          <p:cNvSpPr txBox="1">
            <a:spLocks noGrp="1"/>
          </p:cNvSpPr>
          <p:nvPr/>
        </p:nvSpPr>
        <p:spPr>
          <a:xfrm>
            <a:off x="457200" y="2700000"/>
            <a:ext cx="11200000" cy="4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800" b="1" dirty="0">
                <a:solidFill>
                  <a:srgbClr val="15616D"/>
                </a:solidFill>
                <a:latin typeface="Trebuchet MS"/>
              </a:rPr>
              <a:t>The Full Course — What You Can Now Build</a:t>
            </a:r>
          </a:p>
        </p:txBody>
      </p:sp>
      <p:sp>
        <p:nvSpPr>
          <p:cNvPr id="21" name="BL21"/>
          <p:cNvSpPr txBox="1">
            <a:spLocks noGrp="1"/>
          </p:cNvSpPr>
          <p:nvPr/>
        </p:nvSpPr>
        <p:spPr>
          <a:xfrm>
            <a:off x="457200" y="3200000"/>
            <a:ext cx="5400000" cy="31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500" b="1" dirty="0">
                <a:solidFill>
                  <a:srgbClr val="15616D"/>
                </a:solidFill>
                <a:latin typeface="Trebuchet MS"/>
              </a:rPr>
              <a:t>End-to-End ML Systems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300" b="0" dirty="0">
                <a:solidFill>
                  <a:srgbClr val="444444"/>
                </a:solidFill>
                <a:latin typeface="Calibri"/>
              </a:rPr>
              <a:t>Train a Random Forest / XGBoost model on real Kenyan data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300" b="0" dirty="0">
                <a:solidFill>
                  <a:srgbClr val="444444"/>
                </a:solidFill>
                <a:latin typeface="Calibri"/>
              </a:rPr>
              <a:t>Wrap it in a FastAPI endpoint and deploy to Railway for free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300" b="0" dirty="0">
                <a:solidFill>
                  <a:srgbClr val="444444"/>
                </a:solidFill>
                <a:latin typeface="Calibri"/>
              </a:rPr>
              <a:t>Schedule daily retraining with GitHub Actions automatically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endParaRPr lang="en-US" sz="1300" b="0" dirty="0">
              <a:solidFill>
                <a:srgbClr val="444444"/>
              </a:solidFill>
              <a:latin typeface="Calibri"/>
            </a:endParaRP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500" b="1" dirty="0">
                <a:solidFill>
                  <a:srgbClr val="BC5308"/>
                </a:solidFill>
                <a:latin typeface="Trebuchet MS"/>
              </a:rPr>
              <a:t>NLP Applications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300" b="0" dirty="0">
                <a:solidFill>
                  <a:srgbClr val="444444"/>
                </a:solidFill>
                <a:latin typeface="Calibri"/>
              </a:rPr>
              <a:t>Classify Kenyan news, detect named entities with spaCy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300" b="0" dirty="0">
                <a:solidFill>
                  <a:srgbClr val="444444"/>
                </a:solidFill>
                <a:latin typeface="Calibri"/>
              </a:rPr>
              <a:t>Summarize documents with HuggingFace in one line of code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300" b="0" dirty="0">
                <a:solidFill>
                  <a:srgbClr val="444444"/>
                </a:solidFill>
                <a:latin typeface="Calibri"/>
              </a:rPr>
              <a:t>Build a private local chatbot with Ollama — zero API cost</a:t>
            </a:r>
          </a:p>
        </p:txBody>
      </p:sp>
      <p:sp>
        <p:nvSpPr>
          <p:cNvPr id="22" name="BL22"/>
          <p:cNvSpPr txBox="1">
            <a:spLocks noGrp="1"/>
          </p:cNvSpPr>
          <p:nvPr/>
        </p:nvSpPr>
        <p:spPr>
          <a:xfrm>
            <a:off x="6100000" y="3200000"/>
            <a:ext cx="5700000" cy="31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500" b="1" dirty="0">
                <a:solidFill>
                  <a:srgbClr val="8AA79F"/>
                </a:solidFill>
                <a:latin typeface="Trebuchet MS"/>
              </a:rPr>
              <a:t>LLM-Powered Products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300" b="0" dirty="0">
                <a:solidFill>
                  <a:srgbClr val="444444"/>
                </a:solidFill>
                <a:latin typeface="Calibri"/>
              </a:rPr>
              <a:t>Prompt engineering to get reliable, structured outputs from LLMs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300" b="0" dirty="0">
                <a:solidFill>
                  <a:srgbClr val="444444"/>
                </a:solidFill>
                <a:latin typeface="Calibri"/>
              </a:rPr>
              <a:t>RAG: ground LLMs in real documents to eliminate hallucinations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300" b="0" dirty="0">
                <a:solidFill>
                  <a:srgbClr val="444444"/>
                </a:solidFill>
                <a:latin typeface="Calibri"/>
              </a:rPr>
              <a:t>Local Ollama deployment for privacy-sensitive Kenya use cases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endParaRPr lang="en-US" sz="1300" b="0" dirty="0">
              <a:solidFill>
                <a:srgbClr val="444444"/>
              </a:solidFill>
              <a:latin typeface="Calibri"/>
            </a:endParaRP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500" b="1" dirty="0">
                <a:solidFill>
                  <a:srgbClr val="FF7D00"/>
                </a:solidFill>
                <a:latin typeface="Trebuchet MS"/>
              </a:rPr>
              <a:t>Final Words from John Kamau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300" b="1" dirty="0">
                <a:solidFill>
                  <a:srgbClr val="15616D"/>
                </a:solidFill>
                <a:latin typeface="Calibri"/>
              </a:rPr>
              <a:t>AI is not replacing you — people who use AI are replacing people who don't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300" b="0" dirty="0">
                <a:solidFill>
                  <a:srgbClr val="444444"/>
                </a:solidFill>
                <a:latin typeface="Calibri"/>
              </a:rPr>
              <a:t>The best time to learn this was 5 years ago. Second best time: today.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300" b="0" dirty="0">
                <a:solidFill>
                  <a:srgbClr val="444444"/>
                </a:solidFill>
                <a:latin typeface="Calibri"/>
              </a:rPr>
              <a:t>Build something real. Share it on GitHub. Apply for the jobs.</a:t>
            </a:r>
          </a:p>
        </p:txBody>
      </p:sp>
      <p:sp>
        <p:nvSpPr>
          <p:cNvPr id="90" name="FooterBar"/>
          <p:cNvSpPr>
            <a:spLocks noGrp="1"/>
          </p:cNvSpPr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15616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HeaderBar"/>
          <p:cNvSpPr>
            <a:spLocks noGrp="1"/>
          </p:cNvSpPr>
          <p:nvPr/>
        </p:nvSpPr>
        <p:spPr>
          <a:xfrm>
            <a:off x="0" y="0"/>
            <a:ext cx="12192000" cy="800000"/>
          </a:xfrm>
          <a:prstGeom prst="rect">
            <a:avLst/>
          </a:prstGeom>
          <a:solidFill>
            <a:srgbClr val="15616D"/>
          </a:solidFill>
          <a:ln>
            <a:noFill/>
          </a:ln>
        </p:spPr>
        <p:txBody>
          <a:bodyPr anchor="ctr">
            <a:normAutofit/>
          </a:bodyPr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Trebuchet MS"/>
              </a:rPr>
              <a:t>  Key Takeaways — Session 4 &amp; Full Course</a:t>
            </a:r>
          </a:p>
        </p:txBody>
      </p:sp>
      <p:sp>
        <p:nvSpPr>
          <p:cNvPr id="11" name="RC11"/>
          <p:cNvSpPr txBox="1">
            <a:spLocks noGrp="1"/>
          </p:cNvSpPr>
          <p:nvPr/>
        </p:nvSpPr>
        <p:spPr>
          <a:xfrm>
            <a:off x="457200" y="950000"/>
            <a:ext cx="3600000" cy="1500000"/>
          </a:xfrm>
          <a:prstGeom prst="roundRect">
            <a:avLst>
              <a:gd name="adj" fmla="val 16667"/>
            </a:avLst>
          </a:prstGeom>
          <a:solidFill>
            <a:srgbClr val="15616D"/>
          </a:solidFill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3600" b="1" dirty="0">
                <a:solidFill>
                  <a:srgbClr val="FFFFFF"/>
                </a:solidFill>
                <a:latin typeface="Trebuchet MS"/>
              </a:rPr>
              <a:t>Ship It</a:t>
            </a:r>
          </a:p>
          <a:p>
            <a:pPr algn="ctr"/>
            <a:r>
              <a:rPr lang="en-US" sz="1100" b="0" dirty="0">
                <a:solidFill>
                  <a:srgbClr val="C5CAB8"/>
                </a:solidFill>
                <a:latin typeface="Calibri"/>
              </a:rPr>
              <a:t>A deployed model beats a perfect notebook</a:t>
            </a:r>
          </a:p>
        </p:txBody>
      </p:sp>
      <p:sp>
        <p:nvSpPr>
          <p:cNvPr id="12" name="RC12"/>
          <p:cNvSpPr txBox="1">
            <a:spLocks noGrp="1"/>
          </p:cNvSpPr>
          <p:nvPr/>
        </p:nvSpPr>
        <p:spPr>
          <a:xfrm>
            <a:off x="4296600" y="950000"/>
            <a:ext cx="3600000" cy="1500000"/>
          </a:xfrm>
          <a:prstGeom prst="roundRect">
            <a:avLst>
              <a:gd name="adj" fmla="val 16667"/>
            </a:avLst>
          </a:prstGeom>
          <a:solidFill>
            <a:srgbClr val="BC5308"/>
          </a:solidFill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3600" b="1" dirty="0">
                <a:solidFill>
                  <a:srgbClr val="FFFFFF"/>
                </a:solidFill>
                <a:latin typeface="Trebuchet MS"/>
              </a:rPr>
              <a:t>Automate</a:t>
            </a:r>
          </a:p>
          <a:p>
            <a:pPr algn="ctr"/>
            <a:r>
              <a:rPr lang="en-US" sz="1100" b="0" dirty="0">
                <a:solidFill>
                  <a:srgbClr val="C5CAB8"/>
                </a:solidFill>
                <a:latin typeface="Calibri"/>
              </a:rPr>
              <a:t>GitHub Actions = free always-on pipeline</a:t>
            </a:r>
          </a:p>
        </p:txBody>
      </p:sp>
      <p:sp>
        <p:nvSpPr>
          <p:cNvPr id="13" name="RC13"/>
          <p:cNvSpPr txBox="1">
            <a:spLocks noGrp="1"/>
          </p:cNvSpPr>
          <p:nvPr/>
        </p:nvSpPr>
        <p:spPr>
          <a:xfrm>
            <a:off x="8136000" y="950000"/>
            <a:ext cx="3600000" cy="1500000"/>
          </a:xfrm>
          <a:prstGeom prst="roundRect">
            <a:avLst>
              <a:gd name="adj" fmla="val 16667"/>
            </a:avLst>
          </a:prstGeom>
          <a:solidFill>
            <a:srgbClr val="FF7D00"/>
          </a:solidFill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3600" b="1" dirty="0">
                <a:solidFill>
                  <a:srgbClr val="001524"/>
                </a:solidFill>
                <a:latin typeface="Trebuchet MS"/>
              </a:rPr>
              <a:t>Kenya Ready</a:t>
            </a:r>
          </a:p>
          <a:p>
            <a:pPr algn="ctr"/>
            <a:r>
              <a:rPr lang="en-US" sz="1100" b="0" dirty="0">
                <a:solidFill>
                  <a:srgbClr val="001524"/>
                </a:solidFill>
                <a:latin typeface="Calibri"/>
              </a:rPr>
              <a:t>The skills you have are in demand NOW</a:t>
            </a:r>
          </a:p>
        </p:txBody>
      </p:sp>
      <p:sp>
        <p:nvSpPr>
          <p:cNvPr id="20" name="TB20"/>
          <p:cNvSpPr txBox="1">
            <a:spLocks noGrp="1"/>
          </p:cNvSpPr>
          <p:nvPr/>
        </p:nvSpPr>
        <p:spPr>
          <a:xfrm>
            <a:off x="457200" y="2700000"/>
            <a:ext cx="11200000" cy="4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/>
            <a:r>
              <a:rPr lang="en-US" sz="1800" b="1" dirty="0">
                <a:solidFill>
                  <a:srgbClr val="15616D"/>
                </a:solidFill>
                <a:latin typeface="Trebuchet MS"/>
              </a:rPr>
              <a:t>The Full Course — What You Can Now Build</a:t>
            </a:r>
          </a:p>
        </p:txBody>
      </p:sp>
      <p:sp>
        <p:nvSpPr>
          <p:cNvPr id="21" name="BL21"/>
          <p:cNvSpPr txBox="1">
            <a:spLocks noGrp="1"/>
          </p:cNvSpPr>
          <p:nvPr/>
        </p:nvSpPr>
        <p:spPr>
          <a:xfrm>
            <a:off x="457200" y="3200000"/>
            <a:ext cx="5400000" cy="31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500" b="1" dirty="0">
                <a:solidFill>
                  <a:srgbClr val="15616D"/>
                </a:solidFill>
                <a:latin typeface="Trebuchet MS"/>
              </a:rPr>
              <a:t>End-to-End ML Systems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300" b="0" dirty="0">
                <a:solidFill>
                  <a:srgbClr val="444444"/>
                </a:solidFill>
                <a:latin typeface="Calibri"/>
              </a:rPr>
              <a:t>Train a Random Forest / XGBoost model on real Kenyan data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300" b="0" dirty="0">
                <a:solidFill>
                  <a:srgbClr val="444444"/>
                </a:solidFill>
                <a:latin typeface="Calibri"/>
              </a:rPr>
              <a:t>Wrap it in a FastAPI endpoint and deploy to Railway for free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300" b="0" dirty="0">
                <a:solidFill>
                  <a:srgbClr val="444444"/>
                </a:solidFill>
                <a:latin typeface="Calibri"/>
              </a:rPr>
              <a:t>Schedule daily retraining with GitHub Actions automatically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endParaRPr lang="en-US" sz="1300" b="0" dirty="0">
              <a:solidFill>
                <a:srgbClr val="444444"/>
              </a:solidFill>
              <a:latin typeface="Calibri"/>
            </a:endParaRP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500" b="1" dirty="0">
                <a:solidFill>
                  <a:srgbClr val="BC5308"/>
                </a:solidFill>
                <a:latin typeface="Trebuchet MS"/>
              </a:rPr>
              <a:t>NLP Applications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300" b="0" dirty="0">
                <a:solidFill>
                  <a:srgbClr val="444444"/>
                </a:solidFill>
                <a:latin typeface="Calibri"/>
              </a:rPr>
              <a:t>Classify Kenyan news, detect named entities with spaCy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300" b="0" dirty="0">
                <a:solidFill>
                  <a:srgbClr val="444444"/>
                </a:solidFill>
                <a:latin typeface="Calibri"/>
              </a:rPr>
              <a:t>Summarize documents with HuggingFace in one line of code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300" b="0" dirty="0">
                <a:solidFill>
                  <a:srgbClr val="444444"/>
                </a:solidFill>
                <a:latin typeface="Calibri"/>
              </a:rPr>
              <a:t>Build a private local chatbot with Ollama — zero API cost</a:t>
            </a:r>
          </a:p>
        </p:txBody>
      </p:sp>
      <p:sp>
        <p:nvSpPr>
          <p:cNvPr id="22" name="BL22"/>
          <p:cNvSpPr txBox="1">
            <a:spLocks noGrp="1"/>
          </p:cNvSpPr>
          <p:nvPr/>
        </p:nvSpPr>
        <p:spPr>
          <a:xfrm>
            <a:off x="6100000" y="3200000"/>
            <a:ext cx="5700000" cy="3100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500" b="1" dirty="0">
                <a:solidFill>
                  <a:srgbClr val="8AA79F"/>
                </a:solidFill>
                <a:latin typeface="Trebuchet MS"/>
              </a:rPr>
              <a:t>LLM-Powered Products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300" b="0" dirty="0">
                <a:solidFill>
                  <a:srgbClr val="444444"/>
                </a:solidFill>
                <a:latin typeface="Calibri"/>
              </a:rPr>
              <a:t>Prompt engineering to get reliable, structured outputs from LLMs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300" b="0" dirty="0">
                <a:solidFill>
                  <a:srgbClr val="444444"/>
                </a:solidFill>
                <a:latin typeface="Calibri"/>
              </a:rPr>
              <a:t>RAG: ground LLMs in real documents to eliminate hallucinations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300" b="0" dirty="0">
                <a:solidFill>
                  <a:srgbClr val="444444"/>
                </a:solidFill>
                <a:latin typeface="Calibri"/>
              </a:rPr>
              <a:t>Local Ollama deployment for privacy-sensitive Kenya use cases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endParaRPr lang="en-US" sz="1300" b="0" dirty="0">
              <a:solidFill>
                <a:srgbClr val="444444"/>
              </a:solidFill>
              <a:latin typeface="Calibri"/>
            </a:endParaRP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500" b="1" dirty="0">
                <a:solidFill>
                  <a:srgbClr val="FF7D00"/>
                </a:solidFill>
                <a:latin typeface="Trebuchet MS"/>
              </a:rPr>
              <a:t>Final Words from John Kamau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None/>
            </a:pPr>
            <a:r>
              <a:rPr lang="en-US" sz="1300" b="1" dirty="0">
                <a:solidFill>
                  <a:srgbClr val="15616D"/>
                </a:solidFill>
                <a:latin typeface="Calibri"/>
              </a:rPr>
              <a:t>AI is not replacing you — people who use AI are replacing people who don't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300" b="0" dirty="0">
                <a:solidFill>
                  <a:srgbClr val="444444"/>
                </a:solidFill>
                <a:latin typeface="Calibri"/>
              </a:rPr>
              <a:t>The best time to learn this was 5 years ago. Second best time: today.</a:t>
            </a:r>
          </a:p>
          <a:p>
            <a:pPr marL="342900" indent="-342900">
              <a:lnSpc>
                <a:spcPts val="3600"/>
              </a:lnSpc>
              <a:spcBef>
                <a:spcPts val="200"/>
              </a:spcBef>
              <a:buChar char="■"/>
            </a:pPr>
            <a:r>
              <a:rPr lang="en-US" sz="1300" b="0" dirty="0">
                <a:solidFill>
                  <a:srgbClr val="444444"/>
                </a:solidFill>
                <a:latin typeface="Calibri"/>
              </a:rPr>
              <a:t>Build something real. Share it on GitHub. Apply for the jobs.</a:t>
            </a:r>
          </a:p>
        </p:txBody>
      </p:sp>
      <p:sp>
        <p:nvSpPr>
          <p:cNvPr id="90" name="FooterBar"/>
          <p:cNvSpPr>
            <a:spLocks noGrp="1"/>
          </p:cNvSpPr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15616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2C0B2E1-0268-42EC-ABD3-94F81A05B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2256B4-48EA-40FC-BBC0-AA1EE6E00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E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D44BCCA-102D-4A9D-B1E4-2450CAF0B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1F808E-D6DA-2833-13C5-77731477E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1" y="643467"/>
            <a:ext cx="6255026" cy="50540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8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Q &amp; 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77AF0A-E3E6-9BF1-0698-4E320DFA2C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70995" y="643467"/>
            <a:ext cx="3341488" cy="50540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cap="all" spc="200" dirty="0">
                <a:solidFill>
                  <a:schemeClr val="tx2"/>
                </a:solidFill>
                <a:latin typeface="+mj-lt"/>
              </a:rPr>
              <a:t>Questions?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9525C9A-1972-4836-BA7A-706C946E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391367"/>
            <a:ext cx="0" cy="355820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A549DE7-671D-4575-AF43-858FD999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E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2D9B36-9BE7-472B-8808-7E0D68107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40942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624143-8FB4-6431-44AB-F78D789C7D2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" y="6404950"/>
            <a:ext cx="354030" cy="36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8652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6">
      <a:dk1>
        <a:srgbClr val="000000"/>
      </a:dk1>
      <a:lt1>
        <a:sysClr val="window" lastClr="FFFFFF"/>
      </a:lt1>
      <a:dk2>
        <a:srgbClr val="BC5308"/>
      </a:dk2>
      <a:lt2>
        <a:srgbClr val="8AA79F"/>
      </a:lt2>
      <a:accent1>
        <a:srgbClr val="15616D"/>
      </a:accent1>
      <a:accent2>
        <a:srgbClr val="8AA79F"/>
      </a:accent2>
      <a:accent3>
        <a:srgbClr val="C5CAB8"/>
      </a:accent3>
      <a:accent4>
        <a:srgbClr val="FF7D00"/>
      </a:accent4>
      <a:accent5>
        <a:srgbClr val="BC5308"/>
      </a:accent5>
      <a:accent6>
        <a:srgbClr val="78290F"/>
      </a:accent6>
      <a:hlink>
        <a:srgbClr val="FFECD1"/>
      </a:hlink>
      <a:folHlink>
        <a:srgbClr val="001524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1758</Words>
  <Application>Microsoft Office PowerPoint</Application>
  <PresentationFormat>Widescreen</PresentationFormat>
  <Paragraphs>270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Calibri</vt:lpstr>
      <vt:lpstr>Cambria</vt:lpstr>
      <vt:lpstr>Trebuchet MS</vt:lpstr>
      <vt:lpstr>Retrospect</vt:lpstr>
      <vt:lpstr>Short Course On Machine Learning and AI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Kamau Kamau</dc:creator>
  <cp:lastModifiedBy>John Kamau Kamau</cp:lastModifiedBy>
  <cp:revision>23</cp:revision>
  <dcterms:created xsi:type="dcterms:W3CDTF">2023-09-12T11:22:30Z</dcterms:created>
  <dcterms:modified xsi:type="dcterms:W3CDTF">2026-03-24T08:25:56Z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95cf23d-70b0-4a80-9221-1d774ac27fb2_Enabled">
    <vt:lpwstr>true</vt:lpwstr>
  </property>
  <property fmtid="{D5CDD505-2E9C-101B-9397-08002B2CF9AE}" pid="3" name="MSIP_Label_695cf23d-70b0-4a80-9221-1d774ac27fb2_SetDate">
    <vt:lpwstr>2026-03-15T13:26:08Z</vt:lpwstr>
  </property>
  <property fmtid="{D5CDD505-2E9C-101B-9397-08002B2CF9AE}" pid="4" name="MSIP_Label_695cf23d-70b0-4a80-9221-1d774ac27fb2_Method">
    <vt:lpwstr>Standard</vt:lpwstr>
  </property>
  <property fmtid="{D5CDD505-2E9C-101B-9397-08002B2CF9AE}" pid="5" name="MSIP_Label_695cf23d-70b0-4a80-9221-1d774ac27fb2_Name">
    <vt:lpwstr>Document internal</vt:lpwstr>
  </property>
  <property fmtid="{D5CDD505-2E9C-101B-9397-08002B2CF9AE}" pid="6" name="MSIP_Label_695cf23d-70b0-4a80-9221-1d774ac27fb2_SiteId">
    <vt:lpwstr>8482881e-3699-4b3f-b135-cf4800bc1efb</vt:lpwstr>
  </property>
  <property fmtid="{D5CDD505-2E9C-101B-9397-08002B2CF9AE}" pid="7" name="MSIP_Label_695cf23d-70b0-4a80-9221-1d774ac27fb2_ActionId">
    <vt:lpwstr>db57165a-df63-4076-b308-48fb73fba492</vt:lpwstr>
  </property>
  <property fmtid="{D5CDD505-2E9C-101B-9397-08002B2CF9AE}" pid="8" name="MSIP_Label_695cf23d-70b0-4a80-9221-1d774ac27fb2_ContentBits">
    <vt:lpwstr>0</vt:lpwstr>
  </property>
  <property fmtid="{D5CDD505-2E9C-101B-9397-08002B2CF9AE}" pid="9" name="MSIP_Label_695cf23d-70b0-4a80-9221-1d774ac27fb2_Tag">
    <vt:lpwstr>10, 3, 0, 1</vt:lpwstr>
  </property>
</Properties>
</file>