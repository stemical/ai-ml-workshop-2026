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79" r:id="rId3"/>
    <p:sldId id="263" r:id="rId4"/>
    <p:sldId id="264" r:id="rId5"/>
    <p:sldId id="280" r:id="rId6"/>
    <p:sldId id="268" r:id="rId7"/>
    <p:sldId id="281" r:id="rId8"/>
    <p:sldId id="265" r:id="rId9"/>
    <p:sldId id="282" r:id="rId10"/>
    <p:sldId id="270" r:id="rId11"/>
    <p:sldId id="267" r:id="rId12"/>
    <p:sldId id="277" r:id="rId13"/>
    <p:sldId id="26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5" autoAdjust="0"/>
    <p:restoredTop sz="94660"/>
  </p:normalViewPr>
  <p:slideViewPr>
    <p:cSldViewPr snapToGrid="0">
      <p:cViewPr>
        <p:scale>
          <a:sx n="77" d="100"/>
          <a:sy n="77" d="100"/>
        </p:scale>
        <p:origin x="80" y="-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667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609351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6273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951277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23281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374018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K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072369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67172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77609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149483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026368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2000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9">
            <a:extLst>
              <a:ext uri="{FF2B5EF4-FFF2-40B4-BE49-F238E27FC236}">
                <a16:creationId xmlns:a16="http://schemas.microsoft.com/office/drawing/2014/main" id="{EB1836F0-F9E0-4D93-9BDD-7EEC6EA05F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5C14E0-76D5-15C8-3B21-ABAB15F79E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8926" y="461513"/>
            <a:ext cx="11189388" cy="368601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Short Course On Machine Learning and AI</a:t>
            </a:r>
            <a:br>
              <a:rPr lang="en-US" dirty="0"/>
            </a:br>
            <a:r>
              <a:rPr lang="en-US" dirty="0"/>
              <a:t>2026</a:t>
            </a:r>
            <a:endParaRPr lang="en-K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E0A7EF-E25D-2618-B40B-612B18883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22653" y="4574328"/>
            <a:ext cx="6269347" cy="1238616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John Kamau</a:t>
            </a:r>
            <a:endParaRPr lang="en-KE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9" name="Straight Connector 11">
            <a:extLst>
              <a:ext uri="{FF2B5EF4-FFF2-40B4-BE49-F238E27FC236}">
                <a16:creationId xmlns:a16="http://schemas.microsoft.com/office/drawing/2014/main" id="{7A49EFD3-A806-4D59-99F1-AA9AFAE4EF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071" y="4343400"/>
            <a:ext cx="5636107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3">
            <a:extLst>
              <a:ext uri="{FF2B5EF4-FFF2-40B4-BE49-F238E27FC236}">
                <a16:creationId xmlns:a16="http://schemas.microsoft.com/office/drawing/2014/main" id="{6D2F28D1-82F9-40FE-935C-85ECF7660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KE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4B670E93-2F53-48FC-AB6C-E99E22D17F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K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80B922-5418-5FB0-E6C7-80EB57E4D06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2" y="6400800"/>
            <a:ext cx="396109" cy="4033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554284-03BD-5CA0-8E68-3BA4882524A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6254" y="6396768"/>
            <a:ext cx="794874" cy="411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555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Large Language Models — What &amp; How</a:t>
            </a:r>
          </a:p>
        </p:txBody>
      </p:sp>
      <p:sp>
        <p:nvSpPr>
          <p:cNvPr id="10" name="TB10"/>
          <p:cNvSpPr txBox="1">
            <a:spLocks noGrp="1"/>
          </p:cNvSpPr>
          <p:nvPr/>
        </p:nvSpPr>
        <p:spPr>
          <a:xfrm>
            <a:off x="457200" y="950000"/>
            <a:ext cx="112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0" dirty="0">
                <a:solidFill>
                  <a:srgbClr val="555555"/>
                </a:solidFill>
                <a:latin typeface="Calibri"/>
              </a:rPr>
              <a:t>LLMs are the engines behind ChatGPT, Claude, Gemini — and now available to run on your laptop</a:t>
            </a:r>
          </a:p>
        </p:txBody>
      </p:sp>
      <p:sp>
        <p:nvSpPr>
          <p:cNvPr id="11" name="RC11"/>
          <p:cNvSpPr txBox="1">
            <a:spLocks noGrp="1"/>
          </p:cNvSpPr>
          <p:nvPr/>
        </p:nvSpPr>
        <p:spPr>
          <a:xfrm>
            <a:off x="457200" y="1450000"/>
            <a:ext cx="2650000" cy="1700000"/>
          </a:xfrm>
          <a:prstGeom prst="roundRect">
            <a:avLst>
              <a:gd name="adj" fmla="val 16667"/>
            </a:avLst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Trebuchet MS"/>
              </a:rPr>
              <a:t>Transformer</a:t>
            </a:r>
          </a:p>
          <a:p>
            <a:pPr algn="ctr"/>
            <a:r>
              <a:rPr lang="en-US" sz="1100" b="0" dirty="0">
                <a:solidFill>
                  <a:srgbClr val="C5CAB8"/>
                </a:solidFill>
                <a:latin typeface="Calibri"/>
              </a:rPr>
              <a:t>The architecture behind every modern LLM (2017)</a:t>
            </a:r>
          </a:p>
        </p:txBody>
      </p:sp>
      <p:sp>
        <p:nvSpPr>
          <p:cNvPr id="12" name="RC12"/>
          <p:cNvSpPr txBox="1">
            <a:spLocks noGrp="1"/>
          </p:cNvSpPr>
          <p:nvPr/>
        </p:nvSpPr>
        <p:spPr>
          <a:xfrm>
            <a:off x="3300000" y="1450000"/>
            <a:ext cx="2650000" cy="1700000"/>
          </a:xfrm>
          <a:prstGeom prst="roundRect">
            <a:avLst>
              <a:gd name="adj" fmla="val 16667"/>
            </a:avLst>
          </a:prstGeom>
          <a:solidFill>
            <a:srgbClr val="BC5308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Trebuchet MS"/>
              </a:rPr>
              <a:t>175B+</a:t>
            </a:r>
          </a:p>
          <a:p>
            <a:pPr algn="ctr"/>
            <a:r>
              <a:rPr lang="en-US" sz="1100" b="0" dirty="0">
                <a:solidFill>
                  <a:srgbClr val="C5CAB8"/>
                </a:solidFill>
                <a:latin typeface="Calibri"/>
              </a:rPr>
              <a:t>Parameters in GPT-3 (GPT-4 is even larger)</a:t>
            </a:r>
          </a:p>
        </p:txBody>
      </p:sp>
      <p:sp>
        <p:nvSpPr>
          <p:cNvPr id="13" name="RC13"/>
          <p:cNvSpPr txBox="1">
            <a:spLocks noGrp="1"/>
          </p:cNvSpPr>
          <p:nvPr/>
        </p:nvSpPr>
        <p:spPr>
          <a:xfrm>
            <a:off x="6150000" y="1450000"/>
            <a:ext cx="2650000" cy="1700000"/>
          </a:xfrm>
          <a:prstGeom prst="roundRect">
            <a:avLst>
              <a:gd name="adj" fmla="val 16667"/>
            </a:avLst>
          </a:prstGeom>
          <a:solidFill>
            <a:srgbClr val="FF7D00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001524"/>
                </a:solidFill>
                <a:latin typeface="Trebuchet MS"/>
              </a:rPr>
              <a:t>1T+</a:t>
            </a:r>
          </a:p>
          <a:p>
            <a:pPr algn="ctr"/>
            <a:r>
              <a:rPr lang="en-US" sz="1100" b="0" dirty="0">
                <a:solidFill>
                  <a:srgbClr val="001524"/>
                </a:solidFill>
                <a:latin typeface="Calibri"/>
              </a:rPr>
              <a:t>Tokens used to train modern frontier models</a:t>
            </a:r>
          </a:p>
        </p:txBody>
      </p:sp>
      <p:sp>
        <p:nvSpPr>
          <p:cNvPr id="14" name="RC14"/>
          <p:cNvSpPr txBox="1">
            <a:spLocks noGrp="1"/>
          </p:cNvSpPr>
          <p:nvPr/>
        </p:nvSpPr>
        <p:spPr>
          <a:xfrm>
            <a:off x="9000000" y="1450000"/>
            <a:ext cx="2750000" cy="1700000"/>
          </a:xfrm>
          <a:prstGeom prst="roundRect">
            <a:avLst>
              <a:gd name="adj" fmla="val 16667"/>
            </a:avLst>
          </a:prstGeom>
          <a:solidFill>
            <a:srgbClr val="8AA79F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001524"/>
                </a:solidFill>
                <a:latin typeface="Trebuchet MS"/>
              </a:rPr>
              <a:t>100ms</a:t>
            </a:r>
          </a:p>
          <a:p>
            <a:pPr algn="ctr"/>
            <a:r>
              <a:rPr lang="en-US" sz="1100" b="0" dirty="0">
                <a:solidFill>
                  <a:srgbClr val="001524"/>
                </a:solidFill>
                <a:latin typeface="Calibri"/>
              </a:rPr>
              <a:t>Typical response time with local 7B model (GPU)</a:t>
            </a:r>
          </a:p>
        </p:txBody>
      </p:sp>
      <p:sp>
        <p:nvSpPr>
          <p:cNvPr id="20" name="TB20"/>
          <p:cNvSpPr txBox="1">
            <a:spLocks noGrp="1"/>
          </p:cNvSpPr>
          <p:nvPr/>
        </p:nvSpPr>
        <p:spPr>
          <a:xfrm>
            <a:off x="457200" y="3350000"/>
            <a:ext cx="11200000" cy="45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How LLMs Actually Work</a:t>
            </a:r>
          </a:p>
        </p:txBody>
      </p:sp>
      <p:sp>
        <p:nvSpPr>
          <p:cNvPr id="21" name="CB21"/>
          <p:cNvSpPr>
            <a:spLocks noGrp="1"/>
          </p:cNvSpPr>
          <p:nvPr/>
        </p:nvSpPr>
        <p:spPr>
          <a:xfrm>
            <a:off x="457200" y="3900000"/>
            <a:ext cx="5500000" cy="23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TB22"/>
          <p:cNvSpPr txBox="1">
            <a:spLocks noGrp="1"/>
          </p:cNvSpPr>
          <p:nvPr/>
        </p:nvSpPr>
        <p:spPr>
          <a:xfrm>
            <a:off x="600000" y="3980000"/>
            <a:ext cx="52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600" b="1" dirty="0">
                <a:solidFill>
                  <a:srgbClr val="FF7D00"/>
                </a:solidFill>
                <a:latin typeface="Calibri"/>
              </a:rPr>
              <a:t>The Transformer Architecture</a:t>
            </a:r>
          </a:p>
        </p:txBody>
      </p:sp>
      <p:sp>
        <p:nvSpPr>
          <p:cNvPr id="23" name="BL23"/>
          <p:cNvSpPr txBox="1">
            <a:spLocks noGrp="1"/>
          </p:cNvSpPr>
          <p:nvPr/>
        </p:nvSpPr>
        <p:spPr>
          <a:xfrm>
            <a:off x="600000" y="4550000"/>
            <a:ext cx="5100000" cy="1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50" b="0" dirty="0">
                <a:solidFill>
                  <a:srgbClr val="C5CAB8"/>
                </a:solidFill>
                <a:latin typeface="Calibri"/>
              </a:rPr>
              <a:t>Self-attention: each word attends to every other word in context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50" b="0" dirty="0">
                <a:solidFill>
                  <a:srgbClr val="C5CAB8"/>
                </a:solidFill>
                <a:latin typeface="Calibri"/>
              </a:rPr>
              <a:t>Multi-head attention: learn multiple relationship patterns simultaneously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50" b="0" dirty="0">
                <a:solidFill>
                  <a:srgbClr val="C5CAB8"/>
                </a:solidFill>
                <a:latin typeface="Calibri"/>
              </a:rPr>
              <a:t>Feed-forward layers: transform attended representations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50" b="0" dirty="0">
                <a:solidFill>
                  <a:srgbClr val="C5CAB8"/>
                </a:solidFill>
                <a:latin typeface="Calibri"/>
              </a:rPr>
              <a:t>Next-token prediction: trained to predict the next word billions of times</a:t>
            </a:r>
          </a:p>
        </p:txBody>
      </p:sp>
      <p:sp>
        <p:nvSpPr>
          <p:cNvPr id="24" name="CB24"/>
          <p:cNvSpPr>
            <a:spLocks noGrp="1"/>
          </p:cNvSpPr>
          <p:nvPr/>
        </p:nvSpPr>
        <p:spPr>
          <a:xfrm>
            <a:off x="6200000" y="3900000"/>
            <a:ext cx="5550000" cy="230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TB25"/>
          <p:cNvSpPr txBox="1">
            <a:spLocks noGrp="1"/>
          </p:cNvSpPr>
          <p:nvPr/>
        </p:nvSpPr>
        <p:spPr>
          <a:xfrm>
            <a:off x="6400000" y="3980000"/>
            <a:ext cx="51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600" b="1" dirty="0">
                <a:solidFill>
                  <a:srgbClr val="15616D"/>
                </a:solidFill>
                <a:latin typeface="Calibri"/>
              </a:rPr>
              <a:t>Open vs Closed Models</a:t>
            </a:r>
          </a:p>
        </p:txBody>
      </p:sp>
      <p:sp>
        <p:nvSpPr>
          <p:cNvPr id="26" name="BL26"/>
          <p:cNvSpPr txBox="1">
            <a:spLocks noGrp="1"/>
          </p:cNvSpPr>
          <p:nvPr/>
        </p:nvSpPr>
        <p:spPr>
          <a:xfrm>
            <a:off x="6400000" y="4550000"/>
            <a:ext cx="5100000" cy="1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50" b="0" dirty="0">
                <a:solidFill>
                  <a:srgbClr val="444444"/>
                </a:solidFill>
                <a:latin typeface="Calibri"/>
              </a:rPr>
              <a:t>Closed: GPT-4o, Claude, Gemini — API access only, paid, powerful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50" b="0" dirty="0">
                <a:solidFill>
                  <a:srgbClr val="444444"/>
                </a:solidFill>
                <a:latin typeface="Calibri"/>
              </a:rPr>
              <a:t>Open: Llama 3, Mistral, Phi-3 — download and run locally, free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50" b="1" dirty="0">
                <a:solidFill>
                  <a:srgbClr val="15616D"/>
                </a:solidFill>
                <a:latin typeface="Calibri"/>
              </a:rPr>
              <a:t>Open models now rival closed ones for many tasks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50" b="0" dirty="0">
                <a:solidFill>
                  <a:srgbClr val="444444"/>
                </a:solidFill>
                <a:latin typeface="Calibri"/>
              </a:rPr>
              <a:t>Session 3 focus: running open models locally with Ollama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Challenges of LLMs — Know the Limits</a:t>
            </a:r>
          </a:p>
        </p:txBody>
      </p:sp>
      <p:sp>
        <p:nvSpPr>
          <p:cNvPr id="10" name="CB10"/>
          <p:cNvSpPr>
            <a:spLocks noGrp="1"/>
          </p:cNvSpPr>
          <p:nvPr/>
        </p:nvSpPr>
        <p:spPr>
          <a:xfrm>
            <a:off x="457200" y="950000"/>
            <a:ext cx="3600000" cy="1900000"/>
          </a:xfrm>
          <a:prstGeom prst="rect">
            <a:avLst/>
          </a:prstGeom>
          <a:solidFill>
            <a:srgbClr val="FFF5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B11"/>
          <p:cNvSpPr txBox="1">
            <a:spLocks noGrp="1"/>
          </p:cNvSpPr>
          <p:nvPr/>
        </p:nvSpPr>
        <p:spPr>
          <a:xfrm>
            <a:off x="600000" y="1020000"/>
            <a:ext cx="33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BC5308"/>
                </a:solidFill>
                <a:latin typeface="Trebuchet MS"/>
              </a:rPr>
              <a:t>Hallucinations</a:t>
            </a:r>
          </a:p>
        </p:txBody>
      </p:sp>
      <p:sp>
        <p:nvSpPr>
          <p:cNvPr id="12" name="BL12"/>
          <p:cNvSpPr txBox="1">
            <a:spLocks noGrp="1"/>
          </p:cNvSpPr>
          <p:nvPr/>
        </p:nvSpPr>
        <p:spPr>
          <a:xfrm>
            <a:off x="600000" y="1580000"/>
            <a:ext cx="3300000" cy="115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LLMs confidently state false information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No internal fact-checking mechanism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C5308"/>
                </a:solidFill>
                <a:latin typeface="Calibri"/>
              </a:rPr>
              <a:t>Solution: RAG (Retrieval Augmented Generation)</a:t>
            </a:r>
          </a:p>
        </p:txBody>
      </p:sp>
      <p:sp>
        <p:nvSpPr>
          <p:cNvPr id="13" name="CB13"/>
          <p:cNvSpPr>
            <a:spLocks noGrp="1"/>
          </p:cNvSpPr>
          <p:nvPr/>
        </p:nvSpPr>
        <p:spPr>
          <a:xfrm>
            <a:off x="4250000" y="950000"/>
            <a:ext cx="3600000" cy="1900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TB14"/>
          <p:cNvSpPr txBox="1">
            <a:spLocks noGrp="1"/>
          </p:cNvSpPr>
          <p:nvPr/>
        </p:nvSpPr>
        <p:spPr>
          <a:xfrm>
            <a:off x="4400000" y="1020000"/>
            <a:ext cx="33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Context Window</a:t>
            </a:r>
          </a:p>
        </p:txBody>
      </p:sp>
      <p:sp>
        <p:nvSpPr>
          <p:cNvPr id="15" name="BL15"/>
          <p:cNvSpPr txBox="1">
            <a:spLocks noGrp="1"/>
          </p:cNvSpPr>
          <p:nvPr/>
        </p:nvSpPr>
        <p:spPr>
          <a:xfrm>
            <a:off x="4400000" y="1580000"/>
            <a:ext cx="3300000" cy="115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Limited memory — can't process infinite text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GPT-4: 128K tokens; Claude: 200K tokens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15616D"/>
                </a:solidFill>
                <a:latin typeface="Calibri"/>
              </a:rPr>
              <a:t>Solution: chunking, summarization strategies</a:t>
            </a:r>
          </a:p>
        </p:txBody>
      </p:sp>
      <p:sp>
        <p:nvSpPr>
          <p:cNvPr id="16" name="CB16"/>
          <p:cNvSpPr>
            <a:spLocks noGrp="1"/>
          </p:cNvSpPr>
          <p:nvPr/>
        </p:nvSpPr>
        <p:spPr>
          <a:xfrm>
            <a:off x="8100000" y="950000"/>
            <a:ext cx="3650000" cy="190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TB17"/>
          <p:cNvSpPr txBox="1">
            <a:spLocks noGrp="1"/>
          </p:cNvSpPr>
          <p:nvPr/>
        </p:nvSpPr>
        <p:spPr>
          <a:xfrm>
            <a:off x="8250000" y="1020000"/>
            <a:ext cx="33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8AA79F"/>
                </a:solidFill>
                <a:latin typeface="Trebuchet MS"/>
              </a:rPr>
              <a:t>Cost &amp; Privacy</a:t>
            </a:r>
          </a:p>
        </p:txBody>
      </p:sp>
      <p:sp>
        <p:nvSpPr>
          <p:cNvPr id="18" name="BL18"/>
          <p:cNvSpPr txBox="1">
            <a:spLocks noGrp="1"/>
          </p:cNvSpPr>
          <p:nvPr/>
        </p:nvSpPr>
        <p:spPr>
          <a:xfrm>
            <a:off x="8250000" y="1580000"/>
            <a:ext cx="3300000" cy="115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API calls cost money at scale — adds up fast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Sending sensitive data to external APIs — risk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8AA79F"/>
                </a:solidFill>
                <a:latin typeface="Calibri"/>
              </a:rPr>
              <a:t>Solution: run models locally with Ollama</a:t>
            </a:r>
          </a:p>
        </p:txBody>
      </p:sp>
      <p:sp>
        <p:nvSpPr>
          <p:cNvPr id="19" name="CB19"/>
          <p:cNvSpPr>
            <a:spLocks noGrp="1"/>
          </p:cNvSpPr>
          <p:nvPr/>
        </p:nvSpPr>
        <p:spPr>
          <a:xfrm>
            <a:off x="457200" y="3050000"/>
            <a:ext cx="3600000" cy="18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TB20"/>
          <p:cNvSpPr txBox="1">
            <a:spLocks noGrp="1"/>
          </p:cNvSpPr>
          <p:nvPr/>
        </p:nvSpPr>
        <p:spPr>
          <a:xfrm>
            <a:off x="600000" y="3120000"/>
            <a:ext cx="33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FF7D00"/>
                </a:solidFill>
                <a:latin typeface="Trebuchet MS"/>
              </a:rPr>
              <a:t>Bias &amp; Safety</a:t>
            </a:r>
          </a:p>
        </p:txBody>
      </p:sp>
      <p:sp>
        <p:nvSpPr>
          <p:cNvPr id="21" name="BL21"/>
          <p:cNvSpPr txBox="1">
            <a:spLocks noGrp="1"/>
          </p:cNvSpPr>
          <p:nvPr/>
        </p:nvSpPr>
        <p:spPr>
          <a:xfrm>
            <a:off x="600000" y="3650000"/>
            <a:ext cx="3300000" cy="105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Trained data contains human biases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Can produce harmful, offensive content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FF7D00"/>
                </a:solidFill>
                <a:latin typeface="Calibri"/>
              </a:rPr>
              <a:t>Mitigation: RLHF, Constitutional AI, filtering</a:t>
            </a:r>
          </a:p>
        </p:txBody>
      </p:sp>
      <p:sp>
        <p:nvSpPr>
          <p:cNvPr id="22" name="CB22"/>
          <p:cNvSpPr>
            <a:spLocks noGrp="1"/>
          </p:cNvSpPr>
          <p:nvPr/>
        </p:nvSpPr>
        <p:spPr>
          <a:xfrm>
            <a:off x="4250000" y="3050000"/>
            <a:ext cx="3600000" cy="1800000"/>
          </a:xfrm>
          <a:prstGeom prst="rect">
            <a:avLst/>
          </a:prstGeom>
          <a:solidFill>
            <a:srgbClr val="FFF5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TB23"/>
          <p:cNvSpPr txBox="1">
            <a:spLocks noGrp="1"/>
          </p:cNvSpPr>
          <p:nvPr/>
        </p:nvSpPr>
        <p:spPr>
          <a:xfrm>
            <a:off x="4400000" y="3120000"/>
            <a:ext cx="33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BC5308"/>
                </a:solidFill>
                <a:latin typeface="Trebuchet MS"/>
              </a:rPr>
              <a:t>Compute Requirements</a:t>
            </a:r>
          </a:p>
        </p:txBody>
      </p:sp>
      <p:sp>
        <p:nvSpPr>
          <p:cNvPr id="24" name="BL24"/>
          <p:cNvSpPr txBox="1">
            <a:spLocks noGrp="1"/>
          </p:cNvSpPr>
          <p:nvPr/>
        </p:nvSpPr>
        <p:spPr>
          <a:xfrm>
            <a:off x="4400000" y="3650000"/>
            <a:ext cx="3300000" cy="105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Large models need powerful GPUs to run fast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7B model: runs fine on modern laptop (CPU/GPU)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C5308"/>
                </a:solidFill>
                <a:latin typeface="Calibri"/>
              </a:rPr>
              <a:t>Solution: quantization — 4-bit models, 4x smaller</a:t>
            </a:r>
          </a:p>
        </p:txBody>
      </p:sp>
      <p:sp>
        <p:nvSpPr>
          <p:cNvPr id="25" name="CB25"/>
          <p:cNvSpPr>
            <a:spLocks noGrp="1"/>
          </p:cNvSpPr>
          <p:nvPr/>
        </p:nvSpPr>
        <p:spPr>
          <a:xfrm>
            <a:off x="8100000" y="3050000"/>
            <a:ext cx="3650000" cy="180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TB26"/>
          <p:cNvSpPr txBox="1">
            <a:spLocks noGrp="1"/>
          </p:cNvSpPr>
          <p:nvPr/>
        </p:nvSpPr>
        <p:spPr>
          <a:xfrm>
            <a:off x="8250000" y="3120000"/>
            <a:ext cx="33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Prompt Sensitivity</a:t>
            </a:r>
          </a:p>
        </p:txBody>
      </p:sp>
      <p:sp>
        <p:nvSpPr>
          <p:cNvPr id="27" name="BL27"/>
          <p:cNvSpPr txBox="1">
            <a:spLocks noGrp="1"/>
          </p:cNvSpPr>
          <p:nvPr/>
        </p:nvSpPr>
        <p:spPr>
          <a:xfrm>
            <a:off x="8250000" y="3650000"/>
            <a:ext cx="3300000" cy="105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Small prompt changes = very different outputs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Prompt engineering is now a critical skill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15616D"/>
                </a:solidFill>
                <a:latin typeface="Calibri"/>
              </a:rPr>
              <a:t>Chain-of-thought, few-shot examples improve quality</a:t>
            </a:r>
          </a:p>
        </p:txBody>
      </p:sp>
      <p:sp>
        <p:nvSpPr>
          <p:cNvPr id="28" name="CB28"/>
          <p:cNvSpPr>
            <a:spLocks noGrp="1"/>
          </p:cNvSpPr>
          <p:nvPr/>
        </p:nvSpPr>
        <p:spPr>
          <a:xfrm>
            <a:off x="457200" y="5050000"/>
            <a:ext cx="11400000" cy="11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TB29"/>
          <p:cNvSpPr txBox="1">
            <a:spLocks noGrp="1"/>
          </p:cNvSpPr>
          <p:nvPr/>
        </p:nvSpPr>
        <p:spPr>
          <a:xfrm>
            <a:off x="600000" y="5150000"/>
            <a:ext cx="11000000" cy="7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Key insight: these challenges are engineering problems with known solutions — not reasons to avoid LLMs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Ollama — Run LLMs on Your Machine</a:t>
            </a:r>
          </a:p>
        </p:txBody>
      </p:sp>
      <p:sp>
        <p:nvSpPr>
          <p:cNvPr id="10" name="CB10"/>
          <p:cNvSpPr>
            <a:spLocks noGrp="1"/>
          </p:cNvSpPr>
          <p:nvPr/>
        </p:nvSpPr>
        <p:spPr>
          <a:xfrm>
            <a:off x="457200" y="950000"/>
            <a:ext cx="5500000" cy="47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B11"/>
          <p:cNvSpPr txBox="1">
            <a:spLocks noGrp="1"/>
          </p:cNvSpPr>
          <p:nvPr/>
        </p:nvSpPr>
        <p:spPr>
          <a:xfrm>
            <a:off x="600000" y="1020000"/>
            <a:ext cx="52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FF7D00"/>
                </a:solidFill>
                <a:latin typeface="Trebuchet MS"/>
              </a:rPr>
              <a:t>Why Run LLMs Locally?</a:t>
            </a:r>
          </a:p>
        </p:txBody>
      </p:sp>
      <p:sp>
        <p:nvSpPr>
          <p:cNvPr id="12" name="BL12"/>
          <p:cNvSpPr txBox="1">
            <a:spLocks noGrp="1"/>
          </p:cNvSpPr>
          <p:nvPr/>
        </p:nvSpPr>
        <p:spPr>
          <a:xfrm>
            <a:off x="600000" y="1620000"/>
            <a:ext cx="5100000" cy="39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50" b="1" dirty="0">
                <a:solidFill>
                  <a:srgbClr val="8AA79F"/>
                </a:solidFill>
                <a:latin typeface="Trebuchet MS"/>
              </a:rPr>
              <a:t>Privacy: your data never leaves your machine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Financial data, patient records, confidential documents stay local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50" b="1" dirty="0">
                <a:solidFill>
                  <a:srgbClr val="8AA79F"/>
                </a:solidFill>
                <a:latin typeface="Trebuchet MS"/>
              </a:rPr>
              <a:t>Cost: completely free after setup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No API fees — run 10,000 queries at zero cost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50" b="1" dirty="0">
                <a:solidFill>
                  <a:srgbClr val="8AA79F"/>
                </a:solidFill>
                <a:latin typeface="Trebuchet MS"/>
              </a:rPr>
              <a:t>Speed: no network latency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Sub-100ms responses on GPU, workable on CPU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50" b="1" dirty="0">
                <a:solidFill>
                  <a:srgbClr val="8AA79F"/>
                </a:solidFill>
                <a:latin typeface="Trebuchet MS"/>
              </a:rPr>
              <a:t>Control: pick the exact model version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Llama 3.1 8B, Mistral 7B, Phi-3 mini, Gemma 2 — all free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50" b="1" dirty="0">
                <a:solidFill>
                  <a:srgbClr val="8AA79F"/>
                </a:solidFill>
                <a:latin typeface="Trebuchet MS"/>
              </a:rPr>
              <a:t>Offline: works without internet connection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Deploy in rural areas, airplanes, secure facilities</a:t>
            </a:r>
          </a:p>
        </p:txBody>
      </p:sp>
      <p:sp>
        <p:nvSpPr>
          <p:cNvPr id="20" name="CB20"/>
          <p:cNvSpPr>
            <a:spLocks noGrp="1"/>
          </p:cNvSpPr>
          <p:nvPr/>
        </p:nvSpPr>
        <p:spPr>
          <a:xfrm>
            <a:off x="6200000" y="950000"/>
            <a:ext cx="5550000" cy="47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TB21"/>
          <p:cNvSpPr txBox="1">
            <a:spLocks noGrp="1"/>
          </p:cNvSpPr>
          <p:nvPr/>
        </p:nvSpPr>
        <p:spPr>
          <a:xfrm>
            <a:off x="6400000" y="1020000"/>
            <a:ext cx="51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Getting Started with Ollama</a:t>
            </a:r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6400000" y="1620000"/>
            <a:ext cx="5100000" cy="39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50" b="1" dirty="0">
                <a:solidFill>
                  <a:srgbClr val="BC5308"/>
                </a:solidFill>
                <a:latin typeface="Trebuchet MS"/>
              </a:rPr>
              <a:t>1. Install Ollama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Visit ollama.com — one-click installer for Windows/Mac/Linux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50" b="1" dirty="0">
                <a:solidFill>
                  <a:srgbClr val="BC5308"/>
                </a:solidFill>
                <a:latin typeface="Trebuchet MS"/>
              </a:rPr>
              <a:t>2. Pull a model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ollama pull llama3.1  # 4.7GB download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ollama pull phi3  # 2.3GB — great for laptops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15616D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50" b="1" dirty="0">
                <a:solidFill>
                  <a:srgbClr val="BC5308"/>
                </a:solidFill>
                <a:latin typeface="Trebuchet MS"/>
              </a:rPr>
              <a:t>3. Chat in terminal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ollama run llama3.1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15616D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50" b="1" dirty="0">
                <a:solidFill>
                  <a:srgbClr val="BC5308"/>
                </a:solidFill>
                <a:latin typeface="Trebuchet MS"/>
              </a:rPr>
              <a:t>4. Call from Python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import requests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response = requests.post('http://localhost:11434/api/generate',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    json={'model':'llama3.1', 'prompt':'Explain ML in Swahili'})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Ollama API — Python Integration</a:t>
            </a:r>
          </a:p>
        </p:txBody>
      </p:sp>
      <p:sp>
        <p:nvSpPr>
          <p:cNvPr id="10" name="CB10"/>
          <p:cNvSpPr>
            <a:spLocks noGrp="1"/>
          </p:cNvSpPr>
          <p:nvPr/>
        </p:nvSpPr>
        <p:spPr>
          <a:xfrm>
            <a:off x="457200" y="950000"/>
            <a:ext cx="5600000" cy="51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B11"/>
          <p:cNvSpPr txBox="1">
            <a:spLocks noGrp="1"/>
          </p:cNvSpPr>
          <p:nvPr/>
        </p:nvSpPr>
        <p:spPr>
          <a:xfrm>
            <a:off x="600000" y="1000000"/>
            <a:ext cx="52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FF7D00"/>
                </a:solidFill>
                <a:latin typeface="Trebuchet MS"/>
              </a:rPr>
              <a:t>Full Python Example</a:t>
            </a:r>
          </a:p>
        </p:txBody>
      </p:sp>
      <p:sp>
        <p:nvSpPr>
          <p:cNvPr id="12" name="BL12"/>
          <p:cNvSpPr txBox="1">
            <a:spLocks noGrp="1"/>
          </p:cNvSpPr>
          <p:nvPr/>
        </p:nvSpPr>
        <p:spPr>
          <a:xfrm>
            <a:off x="600000" y="1600000"/>
            <a:ext cx="5200000" cy="4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import requests, json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OLLAMA_URL = 'http://localhost:11434/api/generate'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def ask_llm(prompt, model='llama3.1'):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    payload = {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        'model': model,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        'prompt': prompt,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        'stream': False  # wait for full response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    }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    r = requests.post(OLLAMA_URL, json=payload)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    return r.json()['response']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8AA79F"/>
                </a:solidFill>
                <a:latin typeface="Calibri"/>
              </a:rPr>
              <a:t># Summarize a Kenyan news article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article = '''Safaricom launched Daraja 3.0...'''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summary = ask_llm(f'Summarize this in 3 bullets: {article}')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print(summary)</a:t>
            </a:r>
          </a:p>
        </p:txBody>
      </p:sp>
      <p:sp>
        <p:nvSpPr>
          <p:cNvPr id="20" name="CB20"/>
          <p:cNvSpPr>
            <a:spLocks noGrp="1"/>
          </p:cNvSpPr>
          <p:nvPr/>
        </p:nvSpPr>
        <p:spPr>
          <a:xfrm>
            <a:off x="6300000" y="950000"/>
            <a:ext cx="5450000" cy="510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TB21"/>
          <p:cNvSpPr txBox="1">
            <a:spLocks noGrp="1"/>
          </p:cNvSpPr>
          <p:nvPr/>
        </p:nvSpPr>
        <p:spPr>
          <a:xfrm>
            <a:off x="6500000" y="1000000"/>
            <a:ext cx="51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Prompt Engineering Basics</a:t>
            </a:r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6500000" y="1600000"/>
            <a:ext cx="5100000" cy="4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BC5308"/>
                </a:solidFill>
                <a:latin typeface="Trebuchet MS"/>
              </a:rPr>
              <a:t>System Prompts — set the model's role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'You are a Kenyan agriculture expert. Answer only about farming.'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BC5308"/>
                </a:solidFill>
                <a:latin typeface="Trebuchet MS"/>
              </a:rPr>
              <a:t>Few-Shot Examples — show examples in prompt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Give 2-3 input-output examples before your actual question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Model learns the pattern and replicates it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BC5308"/>
                </a:solidFill>
                <a:latin typeface="Trebuchet MS"/>
              </a:rPr>
              <a:t>Chain-of-Thought — ask it to reason step by step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Add 'Think step by step before answering'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Dramatically improves math and reasoning tasks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15616D"/>
                </a:solidFill>
                <a:latin typeface="Trebuchet MS"/>
              </a:rPr>
              <a:t>Temperature — control creativity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0.0 = deterministic (use for facts, code)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0.7 = balanced (general use)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1.5 = creative (stories, brainstorming)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LLM Model Families — Choosing the Right One</a:t>
            </a:r>
          </a:p>
        </p:txBody>
      </p:sp>
      <p:sp>
        <p:nvSpPr>
          <p:cNvPr id="10" name="CB10"/>
          <p:cNvSpPr>
            <a:spLocks noGrp="1"/>
          </p:cNvSpPr>
          <p:nvPr/>
        </p:nvSpPr>
        <p:spPr>
          <a:xfrm>
            <a:off x="457200" y="950000"/>
            <a:ext cx="11700000" cy="5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B11"/>
          <p:cNvSpPr txBox="1">
            <a:spLocks noGrp="1"/>
          </p:cNvSpPr>
          <p:nvPr/>
        </p:nvSpPr>
        <p:spPr>
          <a:xfrm>
            <a:off x="520000" y="970000"/>
            <a:ext cx="2800000" cy="44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2" name="TB12"/>
          <p:cNvSpPr txBox="1">
            <a:spLocks noGrp="1"/>
          </p:cNvSpPr>
          <p:nvPr/>
        </p:nvSpPr>
        <p:spPr>
          <a:xfrm>
            <a:off x="3500000" y="970000"/>
            <a:ext cx="2200000" cy="44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Size</a:t>
            </a:r>
          </a:p>
        </p:txBody>
      </p:sp>
      <p:sp>
        <p:nvSpPr>
          <p:cNvPr id="13" name="TB13"/>
          <p:cNvSpPr txBox="1">
            <a:spLocks noGrp="1"/>
          </p:cNvSpPr>
          <p:nvPr/>
        </p:nvSpPr>
        <p:spPr>
          <a:xfrm>
            <a:off x="5850000" y="970000"/>
            <a:ext cx="2200000" cy="44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Best For</a:t>
            </a:r>
          </a:p>
        </p:txBody>
      </p:sp>
      <p:sp>
        <p:nvSpPr>
          <p:cNvPr id="14" name="TB14"/>
          <p:cNvSpPr txBox="1">
            <a:spLocks noGrp="1"/>
          </p:cNvSpPr>
          <p:nvPr/>
        </p:nvSpPr>
        <p:spPr>
          <a:xfrm>
            <a:off x="8200000" y="970000"/>
            <a:ext cx="3500000" cy="44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Notes</a:t>
            </a:r>
          </a:p>
        </p:txBody>
      </p:sp>
      <p:sp>
        <p:nvSpPr>
          <p:cNvPr id="15" name="CB15"/>
          <p:cNvSpPr>
            <a:spLocks noGrp="1"/>
          </p:cNvSpPr>
          <p:nvPr/>
        </p:nvSpPr>
        <p:spPr>
          <a:xfrm>
            <a:off x="457200" y="1450000"/>
            <a:ext cx="11700000" cy="42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B16"/>
          <p:cNvSpPr txBox="1">
            <a:spLocks noGrp="1"/>
          </p:cNvSpPr>
          <p:nvPr/>
        </p:nvSpPr>
        <p:spPr>
          <a:xfrm>
            <a:off x="520000" y="1470000"/>
            <a:ext cx="28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1" dirty="0">
                <a:solidFill>
                  <a:srgbClr val="15616D"/>
                </a:solidFill>
                <a:latin typeface="Calibri"/>
              </a:rPr>
              <a:t>Llama 3.1 8B</a:t>
            </a:r>
          </a:p>
        </p:txBody>
      </p:sp>
      <p:sp>
        <p:nvSpPr>
          <p:cNvPr id="17" name="TB17"/>
          <p:cNvSpPr txBox="1">
            <a:spLocks noGrp="1"/>
          </p:cNvSpPr>
          <p:nvPr/>
        </p:nvSpPr>
        <p:spPr>
          <a:xfrm>
            <a:off x="3500000" y="1470000"/>
            <a:ext cx="22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4.7 GB</a:t>
            </a:r>
          </a:p>
        </p:txBody>
      </p:sp>
      <p:sp>
        <p:nvSpPr>
          <p:cNvPr id="18" name="TB18"/>
          <p:cNvSpPr txBox="1">
            <a:spLocks noGrp="1"/>
          </p:cNvSpPr>
          <p:nvPr/>
        </p:nvSpPr>
        <p:spPr>
          <a:xfrm>
            <a:off x="5850000" y="1470000"/>
            <a:ext cx="22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General tasks</a:t>
            </a:r>
          </a:p>
        </p:txBody>
      </p:sp>
      <p:sp>
        <p:nvSpPr>
          <p:cNvPr id="19" name="TB19"/>
          <p:cNvSpPr txBox="1">
            <a:spLocks noGrp="1"/>
          </p:cNvSpPr>
          <p:nvPr/>
        </p:nvSpPr>
        <p:spPr>
          <a:xfrm>
            <a:off x="8200000" y="1470000"/>
            <a:ext cx="35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Best open model at 8B scale</a:t>
            </a:r>
          </a:p>
        </p:txBody>
      </p:sp>
      <p:sp>
        <p:nvSpPr>
          <p:cNvPr id="20" name="CB20"/>
          <p:cNvSpPr>
            <a:spLocks noGrp="1"/>
          </p:cNvSpPr>
          <p:nvPr/>
        </p:nvSpPr>
        <p:spPr>
          <a:xfrm>
            <a:off x="457200" y="1870000"/>
            <a:ext cx="1170000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TB21"/>
          <p:cNvSpPr txBox="1">
            <a:spLocks noGrp="1"/>
          </p:cNvSpPr>
          <p:nvPr/>
        </p:nvSpPr>
        <p:spPr>
          <a:xfrm>
            <a:off x="520000" y="1890000"/>
            <a:ext cx="28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1" dirty="0">
                <a:solidFill>
                  <a:srgbClr val="BC5308"/>
                </a:solidFill>
                <a:latin typeface="Calibri"/>
              </a:rPr>
              <a:t>Phi-3 Mini 3.8B</a:t>
            </a:r>
          </a:p>
        </p:txBody>
      </p:sp>
      <p:sp>
        <p:nvSpPr>
          <p:cNvPr id="22" name="TB22"/>
          <p:cNvSpPr txBox="1">
            <a:spLocks noGrp="1"/>
          </p:cNvSpPr>
          <p:nvPr/>
        </p:nvSpPr>
        <p:spPr>
          <a:xfrm>
            <a:off x="3500000" y="1890000"/>
            <a:ext cx="22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2.3 GB</a:t>
            </a:r>
          </a:p>
        </p:txBody>
      </p:sp>
      <p:sp>
        <p:nvSpPr>
          <p:cNvPr id="23" name="TB23"/>
          <p:cNvSpPr txBox="1">
            <a:spLocks noGrp="1"/>
          </p:cNvSpPr>
          <p:nvPr/>
        </p:nvSpPr>
        <p:spPr>
          <a:xfrm>
            <a:off x="5850000" y="1890000"/>
            <a:ext cx="22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Laptops / edge</a:t>
            </a:r>
          </a:p>
        </p:txBody>
      </p:sp>
      <p:sp>
        <p:nvSpPr>
          <p:cNvPr id="24" name="TB24"/>
          <p:cNvSpPr txBox="1">
            <a:spLocks noGrp="1"/>
          </p:cNvSpPr>
          <p:nvPr/>
        </p:nvSpPr>
        <p:spPr>
          <a:xfrm>
            <a:off x="8200000" y="1890000"/>
            <a:ext cx="35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Microsoft — excellent reasoning for size</a:t>
            </a:r>
          </a:p>
        </p:txBody>
      </p:sp>
      <p:sp>
        <p:nvSpPr>
          <p:cNvPr id="25" name="CB25"/>
          <p:cNvSpPr>
            <a:spLocks noGrp="1"/>
          </p:cNvSpPr>
          <p:nvPr/>
        </p:nvSpPr>
        <p:spPr>
          <a:xfrm>
            <a:off x="457200" y="2290000"/>
            <a:ext cx="11700000" cy="42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TB26"/>
          <p:cNvSpPr txBox="1">
            <a:spLocks noGrp="1"/>
          </p:cNvSpPr>
          <p:nvPr/>
        </p:nvSpPr>
        <p:spPr>
          <a:xfrm>
            <a:off x="520000" y="2310000"/>
            <a:ext cx="28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1" dirty="0">
                <a:solidFill>
                  <a:srgbClr val="15616D"/>
                </a:solidFill>
                <a:latin typeface="Calibri"/>
              </a:rPr>
              <a:t>Mistral 7B</a:t>
            </a:r>
          </a:p>
        </p:txBody>
      </p:sp>
      <p:sp>
        <p:nvSpPr>
          <p:cNvPr id="27" name="TB27"/>
          <p:cNvSpPr txBox="1">
            <a:spLocks noGrp="1"/>
          </p:cNvSpPr>
          <p:nvPr/>
        </p:nvSpPr>
        <p:spPr>
          <a:xfrm>
            <a:off x="3500000" y="2310000"/>
            <a:ext cx="22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4.1 GB</a:t>
            </a:r>
          </a:p>
        </p:txBody>
      </p:sp>
      <p:sp>
        <p:nvSpPr>
          <p:cNvPr id="28" name="TB28"/>
          <p:cNvSpPr txBox="1">
            <a:spLocks noGrp="1"/>
          </p:cNvSpPr>
          <p:nvPr/>
        </p:nvSpPr>
        <p:spPr>
          <a:xfrm>
            <a:off x="5850000" y="2310000"/>
            <a:ext cx="22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Code + text</a:t>
            </a:r>
          </a:p>
        </p:txBody>
      </p:sp>
      <p:sp>
        <p:nvSpPr>
          <p:cNvPr id="29" name="TB29"/>
          <p:cNvSpPr txBox="1">
            <a:spLocks noGrp="1"/>
          </p:cNvSpPr>
          <p:nvPr/>
        </p:nvSpPr>
        <p:spPr>
          <a:xfrm>
            <a:off x="8200000" y="2310000"/>
            <a:ext cx="35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French company, strong multilingual</a:t>
            </a:r>
          </a:p>
        </p:txBody>
      </p:sp>
      <p:sp>
        <p:nvSpPr>
          <p:cNvPr id="30" name="CB30"/>
          <p:cNvSpPr>
            <a:spLocks noGrp="1"/>
          </p:cNvSpPr>
          <p:nvPr/>
        </p:nvSpPr>
        <p:spPr>
          <a:xfrm>
            <a:off x="457200" y="2710000"/>
            <a:ext cx="1170000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" name="TB31"/>
          <p:cNvSpPr txBox="1">
            <a:spLocks noGrp="1"/>
          </p:cNvSpPr>
          <p:nvPr/>
        </p:nvSpPr>
        <p:spPr>
          <a:xfrm>
            <a:off x="520000" y="2730000"/>
            <a:ext cx="28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1" dirty="0">
                <a:solidFill>
                  <a:srgbClr val="FF7D00"/>
                </a:solidFill>
                <a:latin typeface="Calibri"/>
              </a:rPr>
              <a:t>Gemma 2 9B</a:t>
            </a:r>
          </a:p>
        </p:txBody>
      </p:sp>
      <p:sp>
        <p:nvSpPr>
          <p:cNvPr id="32" name="TB32"/>
          <p:cNvSpPr txBox="1">
            <a:spLocks noGrp="1"/>
          </p:cNvSpPr>
          <p:nvPr/>
        </p:nvSpPr>
        <p:spPr>
          <a:xfrm>
            <a:off x="3500000" y="2730000"/>
            <a:ext cx="22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5.5 GB</a:t>
            </a:r>
          </a:p>
        </p:txBody>
      </p:sp>
      <p:sp>
        <p:nvSpPr>
          <p:cNvPr id="33" name="TB33"/>
          <p:cNvSpPr txBox="1">
            <a:spLocks noGrp="1"/>
          </p:cNvSpPr>
          <p:nvPr/>
        </p:nvSpPr>
        <p:spPr>
          <a:xfrm>
            <a:off x="5850000" y="2730000"/>
            <a:ext cx="22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Instruction following</a:t>
            </a:r>
          </a:p>
        </p:txBody>
      </p:sp>
      <p:sp>
        <p:nvSpPr>
          <p:cNvPr id="34" name="TB34"/>
          <p:cNvSpPr txBox="1">
            <a:spLocks noGrp="1"/>
          </p:cNvSpPr>
          <p:nvPr/>
        </p:nvSpPr>
        <p:spPr>
          <a:xfrm>
            <a:off x="8200000" y="2730000"/>
            <a:ext cx="35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Google — great safety alignment</a:t>
            </a:r>
          </a:p>
        </p:txBody>
      </p:sp>
      <p:sp>
        <p:nvSpPr>
          <p:cNvPr id="35" name="CB35"/>
          <p:cNvSpPr>
            <a:spLocks noGrp="1"/>
          </p:cNvSpPr>
          <p:nvPr/>
        </p:nvSpPr>
        <p:spPr>
          <a:xfrm>
            <a:off x="457200" y="3130000"/>
            <a:ext cx="11700000" cy="42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TB36"/>
          <p:cNvSpPr txBox="1">
            <a:spLocks noGrp="1"/>
          </p:cNvSpPr>
          <p:nvPr/>
        </p:nvSpPr>
        <p:spPr>
          <a:xfrm>
            <a:off x="520000" y="3150000"/>
            <a:ext cx="28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1" dirty="0">
                <a:solidFill>
                  <a:srgbClr val="8AA79F"/>
                </a:solidFill>
                <a:latin typeface="Calibri"/>
              </a:rPr>
              <a:t>DeepSeek-R1 7B</a:t>
            </a:r>
          </a:p>
        </p:txBody>
      </p:sp>
      <p:sp>
        <p:nvSpPr>
          <p:cNvPr id="37" name="TB37"/>
          <p:cNvSpPr txBox="1">
            <a:spLocks noGrp="1"/>
          </p:cNvSpPr>
          <p:nvPr/>
        </p:nvSpPr>
        <p:spPr>
          <a:xfrm>
            <a:off x="3500000" y="3150000"/>
            <a:ext cx="22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4.7 GB</a:t>
            </a:r>
          </a:p>
        </p:txBody>
      </p:sp>
      <p:sp>
        <p:nvSpPr>
          <p:cNvPr id="38" name="TB38"/>
          <p:cNvSpPr txBox="1">
            <a:spLocks noGrp="1"/>
          </p:cNvSpPr>
          <p:nvPr/>
        </p:nvSpPr>
        <p:spPr>
          <a:xfrm>
            <a:off x="5850000" y="3150000"/>
            <a:ext cx="22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Reasoning / math</a:t>
            </a:r>
          </a:p>
        </p:txBody>
      </p:sp>
      <p:sp>
        <p:nvSpPr>
          <p:cNvPr id="39" name="TB39"/>
          <p:cNvSpPr txBox="1">
            <a:spLocks noGrp="1"/>
          </p:cNvSpPr>
          <p:nvPr/>
        </p:nvSpPr>
        <p:spPr>
          <a:xfrm>
            <a:off x="8200000" y="3150000"/>
            <a:ext cx="35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Chain-of-thought reasoning built-in</a:t>
            </a:r>
          </a:p>
        </p:txBody>
      </p:sp>
      <p:sp>
        <p:nvSpPr>
          <p:cNvPr id="40" name="CB40"/>
          <p:cNvSpPr>
            <a:spLocks noGrp="1"/>
          </p:cNvSpPr>
          <p:nvPr/>
        </p:nvSpPr>
        <p:spPr>
          <a:xfrm>
            <a:off x="457200" y="3700000"/>
            <a:ext cx="11700000" cy="420000"/>
          </a:xfrm>
          <a:prstGeom prst="rect">
            <a:avLst/>
          </a:prstGeom>
          <a:solidFill>
            <a:srgbClr val="FFF5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TB41"/>
          <p:cNvSpPr txBox="1">
            <a:spLocks noGrp="1"/>
          </p:cNvSpPr>
          <p:nvPr/>
        </p:nvSpPr>
        <p:spPr>
          <a:xfrm>
            <a:off x="520000" y="3720000"/>
            <a:ext cx="28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1" dirty="0">
                <a:solidFill>
                  <a:srgbClr val="BC5308"/>
                </a:solidFill>
                <a:latin typeface="Calibri"/>
              </a:rPr>
              <a:t>GPT-4o (API)</a:t>
            </a:r>
          </a:p>
        </p:txBody>
      </p:sp>
      <p:sp>
        <p:nvSpPr>
          <p:cNvPr id="42" name="TB42"/>
          <p:cNvSpPr txBox="1">
            <a:spLocks noGrp="1"/>
          </p:cNvSpPr>
          <p:nvPr/>
        </p:nvSpPr>
        <p:spPr>
          <a:xfrm>
            <a:off x="3500000" y="3720000"/>
            <a:ext cx="22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Cloud only</a:t>
            </a:r>
          </a:p>
        </p:txBody>
      </p:sp>
      <p:sp>
        <p:nvSpPr>
          <p:cNvPr id="43" name="TB43"/>
          <p:cNvSpPr txBox="1">
            <a:spLocks noGrp="1"/>
          </p:cNvSpPr>
          <p:nvPr/>
        </p:nvSpPr>
        <p:spPr>
          <a:xfrm>
            <a:off x="5850000" y="3720000"/>
            <a:ext cx="22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Complex tasks</a:t>
            </a:r>
          </a:p>
        </p:txBody>
      </p:sp>
      <p:sp>
        <p:nvSpPr>
          <p:cNvPr id="44" name="TB44"/>
          <p:cNvSpPr txBox="1">
            <a:spLocks noGrp="1"/>
          </p:cNvSpPr>
          <p:nvPr/>
        </p:nvSpPr>
        <p:spPr>
          <a:xfrm>
            <a:off x="8200000" y="3720000"/>
            <a:ext cx="3500000" cy="3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Best quality, ~$0.005/1K tokens</a:t>
            </a:r>
          </a:p>
        </p:txBody>
      </p:sp>
      <p:sp>
        <p:nvSpPr>
          <p:cNvPr id="50" name="TB50"/>
          <p:cNvSpPr txBox="1">
            <a:spLocks noGrp="1"/>
          </p:cNvSpPr>
          <p:nvPr/>
        </p:nvSpPr>
        <p:spPr>
          <a:xfrm>
            <a:off x="457200" y="4300000"/>
            <a:ext cx="112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1" dirty="0">
                <a:solidFill>
                  <a:srgbClr val="15616D"/>
                </a:solidFill>
                <a:latin typeface="Calibri"/>
              </a:rPr>
              <a:t>Recommendation: Start with Phi-3 Mini on laptops, Llama 3.1 8B on desktops/servers</a:t>
            </a:r>
          </a:p>
        </p:txBody>
      </p:sp>
      <p:sp>
        <p:nvSpPr>
          <p:cNvPr id="51" name="BL51"/>
          <p:cNvSpPr txBox="1">
            <a:spLocks noGrp="1"/>
          </p:cNvSpPr>
          <p:nvPr/>
        </p:nvSpPr>
        <p:spPr>
          <a:xfrm>
            <a:off x="457200" y="4750000"/>
            <a:ext cx="11200000" cy="135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All above models available via: ollama pull [model-name]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Quantized (4-bit) versions available — 4x smaller, ~5-10% quality loss, huge speed gain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Hugging Face — The GitHub of AI Models</a:t>
            </a:r>
          </a:p>
        </p:txBody>
      </p:sp>
      <p:sp>
        <p:nvSpPr>
          <p:cNvPr id="10" name="TB10"/>
          <p:cNvSpPr txBox="1">
            <a:spLocks noGrp="1"/>
          </p:cNvSpPr>
          <p:nvPr/>
        </p:nvSpPr>
        <p:spPr>
          <a:xfrm>
            <a:off x="457200" y="950000"/>
            <a:ext cx="112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0" dirty="0">
                <a:solidFill>
                  <a:srgbClr val="555555"/>
                </a:solidFill>
                <a:latin typeface="Calibri"/>
              </a:rPr>
              <a:t>900,000+ models, 200,000+ datasets, 350,000+ spaces — all free and open-source</a:t>
            </a:r>
          </a:p>
        </p:txBody>
      </p:sp>
      <p:sp>
        <p:nvSpPr>
          <p:cNvPr id="11" name="RC11"/>
          <p:cNvSpPr txBox="1">
            <a:spLocks noGrp="1"/>
          </p:cNvSpPr>
          <p:nvPr/>
        </p:nvSpPr>
        <p:spPr>
          <a:xfrm>
            <a:off x="457200" y="1450000"/>
            <a:ext cx="2600000" cy="1700000"/>
          </a:xfrm>
          <a:prstGeom prst="roundRect">
            <a:avLst>
              <a:gd name="adj" fmla="val 16667"/>
            </a:avLst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Trebuchet MS"/>
              </a:rPr>
              <a:t>900K+</a:t>
            </a:r>
          </a:p>
          <a:p>
            <a:pPr algn="ctr"/>
            <a:r>
              <a:rPr lang="en-US" sz="1100" b="0" dirty="0">
                <a:solidFill>
                  <a:srgbClr val="C5CAB8"/>
                </a:solidFill>
                <a:latin typeface="Calibri"/>
              </a:rPr>
              <a:t>Models available on Hub</a:t>
            </a:r>
          </a:p>
        </p:txBody>
      </p:sp>
      <p:sp>
        <p:nvSpPr>
          <p:cNvPr id="12" name="RC12"/>
          <p:cNvSpPr txBox="1">
            <a:spLocks noGrp="1"/>
          </p:cNvSpPr>
          <p:nvPr/>
        </p:nvSpPr>
        <p:spPr>
          <a:xfrm>
            <a:off x="3250000" y="1450000"/>
            <a:ext cx="2600000" cy="1700000"/>
          </a:xfrm>
          <a:prstGeom prst="roundRect">
            <a:avLst>
              <a:gd name="adj" fmla="val 16667"/>
            </a:avLst>
          </a:prstGeom>
          <a:solidFill>
            <a:srgbClr val="BC5308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Trebuchet MS"/>
              </a:rPr>
              <a:t>Free</a:t>
            </a:r>
          </a:p>
          <a:p>
            <a:pPr algn="ctr"/>
            <a:r>
              <a:rPr lang="en-US" sz="1100" b="0" dirty="0">
                <a:solidFill>
                  <a:srgbClr val="C5CAB8"/>
                </a:solidFill>
                <a:latin typeface="Calibri"/>
              </a:rPr>
              <a:t>Download and use any model at no cost</a:t>
            </a:r>
          </a:p>
        </p:txBody>
      </p:sp>
      <p:sp>
        <p:nvSpPr>
          <p:cNvPr id="13" name="RC13"/>
          <p:cNvSpPr txBox="1">
            <a:spLocks noGrp="1"/>
          </p:cNvSpPr>
          <p:nvPr/>
        </p:nvSpPr>
        <p:spPr>
          <a:xfrm>
            <a:off x="6050000" y="1450000"/>
            <a:ext cx="2600000" cy="1700000"/>
          </a:xfrm>
          <a:prstGeom prst="roundRect">
            <a:avLst>
              <a:gd name="adj" fmla="val 16667"/>
            </a:avLst>
          </a:prstGeom>
          <a:solidFill>
            <a:srgbClr val="FF7D00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001524"/>
                </a:solidFill>
                <a:latin typeface="Trebuchet MS"/>
              </a:rPr>
              <a:t>Pipeline</a:t>
            </a:r>
          </a:p>
          <a:p>
            <a:pPr algn="ctr"/>
            <a:r>
              <a:rPr lang="en-US" sz="1100" b="0" dirty="0">
                <a:solidFill>
                  <a:srgbClr val="001524"/>
                </a:solidFill>
                <a:latin typeface="Calibri"/>
              </a:rPr>
              <a:t>One-line inference for any task</a:t>
            </a:r>
          </a:p>
        </p:txBody>
      </p:sp>
      <p:sp>
        <p:nvSpPr>
          <p:cNvPr id="14" name="RC14"/>
          <p:cNvSpPr txBox="1">
            <a:spLocks noGrp="1"/>
          </p:cNvSpPr>
          <p:nvPr/>
        </p:nvSpPr>
        <p:spPr>
          <a:xfrm>
            <a:off x="8850000" y="1450000"/>
            <a:ext cx="2900000" cy="1700000"/>
          </a:xfrm>
          <a:prstGeom prst="roundRect">
            <a:avLst>
              <a:gd name="adj" fmla="val 16667"/>
            </a:avLst>
          </a:prstGeom>
          <a:solidFill>
            <a:srgbClr val="8AA79F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001524"/>
                </a:solidFill>
                <a:latin typeface="Trebuchet MS"/>
              </a:rPr>
              <a:t>Spaces</a:t>
            </a:r>
          </a:p>
          <a:p>
            <a:pPr algn="ctr"/>
            <a:r>
              <a:rPr lang="en-US" sz="1100" b="0" dirty="0">
                <a:solidFill>
                  <a:srgbClr val="001524"/>
                </a:solidFill>
                <a:latin typeface="Calibri"/>
              </a:rPr>
              <a:t>Free hosted ML demo apps</a:t>
            </a:r>
          </a:p>
        </p:txBody>
      </p:sp>
      <p:sp>
        <p:nvSpPr>
          <p:cNvPr id="20" name="TB20"/>
          <p:cNvSpPr txBox="1">
            <a:spLocks noGrp="1"/>
          </p:cNvSpPr>
          <p:nvPr/>
        </p:nvSpPr>
        <p:spPr>
          <a:xfrm>
            <a:off x="457200" y="3350000"/>
            <a:ext cx="112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The transformers Pipeline — One Line to Rule Them All</a:t>
            </a:r>
          </a:p>
        </p:txBody>
      </p:sp>
      <p:sp>
        <p:nvSpPr>
          <p:cNvPr id="21" name="CB21"/>
          <p:cNvSpPr>
            <a:spLocks noGrp="1"/>
          </p:cNvSpPr>
          <p:nvPr/>
        </p:nvSpPr>
        <p:spPr>
          <a:xfrm>
            <a:off x="457200" y="3850000"/>
            <a:ext cx="5500000" cy="24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600000" y="3950000"/>
            <a:ext cx="5200000" cy="2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from transformers import pipeline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8AA79F"/>
                </a:solidFill>
                <a:latin typeface="Calibri"/>
              </a:rPr>
              <a:t># Summarize a news article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summarizer = pipeline('summarization')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result = summarizer(article, max_length=100)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8AA79F"/>
                </a:solidFill>
                <a:latin typeface="Calibri"/>
              </a:rPr>
              <a:t># Classify sentiment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classifier = pipeline('sentiment-analysis')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classifier('Safaricom stock hits record high!')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FF7D00"/>
                </a:solidFill>
                <a:latin typeface="Calibri"/>
              </a:rPr>
              <a:t># &gt;&gt; [{'label': 'POSITIVE', 'score': 0.99}]</a:t>
            </a:r>
          </a:p>
        </p:txBody>
      </p:sp>
      <p:sp>
        <p:nvSpPr>
          <p:cNvPr id="23" name="CB23"/>
          <p:cNvSpPr>
            <a:spLocks noGrp="1"/>
          </p:cNvSpPr>
          <p:nvPr/>
        </p:nvSpPr>
        <p:spPr>
          <a:xfrm>
            <a:off x="6200000" y="3850000"/>
            <a:ext cx="5550000" cy="240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TB24"/>
          <p:cNvSpPr txBox="1">
            <a:spLocks noGrp="1"/>
          </p:cNvSpPr>
          <p:nvPr/>
        </p:nvSpPr>
        <p:spPr>
          <a:xfrm>
            <a:off x="6400000" y="3950000"/>
            <a:ext cx="51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500" b="1" dirty="0">
                <a:solidFill>
                  <a:srgbClr val="15616D"/>
                </a:solidFill>
                <a:latin typeface="Calibri"/>
              </a:rPr>
              <a:t>Task Types Available</a:t>
            </a:r>
          </a:p>
        </p:txBody>
      </p:sp>
      <p:sp>
        <p:nvSpPr>
          <p:cNvPr id="25" name="BL25"/>
          <p:cNvSpPr txBox="1">
            <a:spLocks noGrp="1"/>
          </p:cNvSpPr>
          <p:nvPr/>
        </p:nvSpPr>
        <p:spPr>
          <a:xfrm>
            <a:off x="6400000" y="4400000"/>
            <a:ext cx="5100000" cy="17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text-classification, sentiment-analysis, zero-shot-classification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summarization, text-generation, translation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question-answering, fill-mask, feature-extraction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image-classification, object-detection, image-segmentation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automatic-speech-recognition, text-to-speech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Hugging Face — Platform &amp; Local Setup</a:t>
            </a:r>
          </a:p>
        </p:txBody>
      </p:sp>
      <p:sp>
        <p:nvSpPr>
          <p:cNvPr id="10" name="CB10"/>
          <p:cNvSpPr>
            <a:spLocks noGrp="1"/>
          </p:cNvSpPr>
          <p:nvPr/>
        </p:nvSpPr>
        <p:spPr>
          <a:xfrm>
            <a:off x="457200" y="950000"/>
            <a:ext cx="5600000" cy="470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B11"/>
          <p:cNvSpPr txBox="1">
            <a:spLocks noGrp="1"/>
          </p:cNvSpPr>
          <p:nvPr/>
        </p:nvSpPr>
        <p:spPr>
          <a:xfrm>
            <a:off x="600000" y="1020000"/>
            <a:ext cx="52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Finding the Right Model</a:t>
            </a:r>
          </a:p>
        </p:txBody>
      </p:sp>
      <p:sp>
        <p:nvSpPr>
          <p:cNvPr id="12" name="BL12"/>
          <p:cNvSpPr txBox="1">
            <a:spLocks noGrp="1"/>
          </p:cNvSpPr>
          <p:nvPr/>
        </p:nvSpPr>
        <p:spPr>
          <a:xfrm>
            <a:off x="600000" y="1620000"/>
            <a:ext cx="5200000" cy="39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5616D"/>
                </a:solidFill>
                <a:latin typeface="Trebuchet MS"/>
              </a:rPr>
              <a:t>Step 1: Go to huggingface.co/models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Filter by task (e.g. 'summarization'), language, size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Sort by downloads/likes to find popular models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5616D"/>
                </a:solidFill>
                <a:latin typeface="Trebuchet MS"/>
              </a:rPr>
              <a:t>Step 2: Check the Model Card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License — can you use it commercially?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Benchmark scores — how does it compare?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Training data — was it trained on your domain?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5616D"/>
                </a:solidFill>
                <a:latin typeface="Trebuchet MS"/>
              </a:rPr>
              <a:t>Step 3: Download and cache locally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Models auto-cache to ~/.cache/huggingface/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from transformers import AutoModelForSeq2SeqLM, AutoTokenizer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tokenizer = AutoTokenizer.from_pretrained('facebook/bart-large-cnn')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model = AutoModelForSeq2SeqLM.from_pretrained('facebook/bart-large-cnn')</a:t>
            </a:r>
          </a:p>
        </p:txBody>
      </p:sp>
      <p:sp>
        <p:nvSpPr>
          <p:cNvPr id="20" name="CB20"/>
          <p:cNvSpPr>
            <a:spLocks noGrp="1"/>
          </p:cNvSpPr>
          <p:nvPr/>
        </p:nvSpPr>
        <p:spPr>
          <a:xfrm>
            <a:off x="6300000" y="950000"/>
            <a:ext cx="5450000" cy="47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TB21"/>
          <p:cNvSpPr txBox="1">
            <a:spLocks noGrp="1"/>
          </p:cNvSpPr>
          <p:nvPr/>
        </p:nvSpPr>
        <p:spPr>
          <a:xfrm>
            <a:off x="6500000" y="1020000"/>
            <a:ext cx="51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FF7D00"/>
                </a:solidFill>
                <a:latin typeface="Trebuchet MS"/>
              </a:rPr>
              <a:t>Session 3 Demo: News Summarizer</a:t>
            </a:r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6500000" y="1620000"/>
            <a:ext cx="5100000" cy="39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Model: facebook/bart-large-cnn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Fine-tuned on CNN/DailyMail summarization task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Excellent for news article compression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What we will do in the demo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Feed in a full Kenyan news article (500+ words)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Get a 3-sentence summary automatically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Compare HuggingFace result vs Ollama (local) result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Measure: quality, speed, cost, privacy trade-offs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FF7D00"/>
                </a:solidFill>
                <a:latin typeface="Trebuchet MS"/>
              </a:rPr>
              <a:t>Bonus: sentence-transformers for similarity search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Find articles most similar to a query — semantic search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Builds foundation for RAG (Retrieval Augmented Generation)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Hugging Face — Platform &amp; Local Setup</a:t>
            </a:r>
          </a:p>
        </p:txBody>
      </p:sp>
      <p:sp>
        <p:nvSpPr>
          <p:cNvPr id="10" name="CB10"/>
          <p:cNvSpPr>
            <a:spLocks noGrp="1"/>
          </p:cNvSpPr>
          <p:nvPr/>
        </p:nvSpPr>
        <p:spPr>
          <a:xfrm>
            <a:off x="457200" y="950000"/>
            <a:ext cx="5600000" cy="470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B11"/>
          <p:cNvSpPr txBox="1">
            <a:spLocks noGrp="1"/>
          </p:cNvSpPr>
          <p:nvPr/>
        </p:nvSpPr>
        <p:spPr>
          <a:xfrm>
            <a:off x="600000" y="1020000"/>
            <a:ext cx="52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Finding the Right Model</a:t>
            </a:r>
          </a:p>
        </p:txBody>
      </p:sp>
      <p:sp>
        <p:nvSpPr>
          <p:cNvPr id="12" name="BL12"/>
          <p:cNvSpPr txBox="1">
            <a:spLocks noGrp="1"/>
          </p:cNvSpPr>
          <p:nvPr/>
        </p:nvSpPr>
        <p:spPr>
          <a:xfrm>
            <a:off x="600000" y="1620000"/>
            <a:ext cx="5200000" cy="39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5616D"/>
                </a:solidFill>
                <a:latin typeface="Trebuchet MS"/>
              </a:rPr>
              <a:t>Step 1: Go to huggingface.co/models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Filter by task (e.g. 'summarization'), language, size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Sort by downloads/likes to find popular models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5616D"/>
                </a:solidFill>
                <a:latin typeface="Trebuchet MS"/>
              </a:rPr>
              <a:t>Step 2: Check the Model Card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License — can you use it commercially?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Benchmark scores — how does it compare?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Training data — was it trained on your domain?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5616D"/>
                </a:solidFill>
                <a:latin typeface="Trebuchet MS"/>
              </a:rPr>
              <a:t>Step 3: Download and cache locally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Models auto-cache to ~/.cache/huggingface/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from transformers import AutoModelForSeq2SeqLM, AutoTokenizer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tokenizer = AutoTokenizer.from_pretrained('facebook/bart-large-cnn')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model = AutoModelForSeq2SeqLM.from_pretrained('facebook/bart-large-cnn')</a:t>
            </a:r>
          </a:p>
        </p:txBody>
      </p:sp>
      <p:sp>
        <p:nvSpPr>
          <p:cNvPr id="20" name="CB20"/>
          <p:cNvSpPr>
            <a:spLocks noGrp="1"/>
          </p:cNvSpPr>
          <p:nvPr/>
        </p:nvSpPr>
        <p:spPr>
          <a:xfrm>
            <a:off x="6300000" y="950000"/>
            <a:ext cx="5450000" cy="47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TB21"/>
          <p:cNvSpPr txBox="1">
            <a:spLocks noGrp="1"/>
          </p:cNvSpPr>
          <p:nvPr/>
        </p:nvSpPr>
        <p:spPr>
          <a:xfrm>
            <a:off x="6500000" y="1020000"/>
            <a:ext cx="51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FF7D00"/>
                </a:solidFill>
                <a:latin typeface="Trebuchet MS"/>
              </a:rPr>
              <a:t>Session 3 Demo: News Summarizer</a:t>
            </a:r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6500000" y="1620000"/>
            <a:ext cx="5100000" cy="39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Model: facebook/bart-large-cnn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Fine-tuned on CNN/DailyMail summarization task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Excellent for news article compression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What we will do in the demo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Feed in a full Kenyan news article (500+ words)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Get a 3-sentence summary automatically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Compare HuggingFace result vs Ollama (local) result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Measure: quality, speed, cost, privacy trade-offs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FF7D00"/>
                </a:solidFill>
                <a:latin typeface="Trebuchet MS"/>
              </a:rPr>
              <a:t>Bonus: sentence-transformers for similarity search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Find articles most similar to a query — semantic search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Builds foundation for RAG (Retrieval Augmented Generation)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Hugging Face — Platform &amp; Local Setup</a:t>
            </a:r>
          </a:p>
        </p:txBody>
      </p:sp>
      <p:sp>
        <p:nvSpPr>
          <p:cNvPr id="10" name="CB10"/>
          <p:cNvSpPr>
            <a:spLocks noGrp="1"/>
          </p:cNvSpPr>
          <p:nvPr/>
        </p:nvSpPr>
        <p:spPr>
          <a:xfrm>
            <a:off x="457200" y="950000"/>
            <a:ext cx="5600000" cy="470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B11"/>
          <p:cNvSpPr txBox="1">
            <a:spLocks noGrp="1"/>
          </p:cNvSpPr>
          <p:nvPr/>
        </p:nvSpPr>
        <p:spPr>
          <a:xfrm>
            <a:off x="600000" y="1020000"/>
            <a:ext cx="52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Finding the Right Model</a:t>
            </a:r>
          </a:p>
        </p:txBody>
      </p:sp>
      <p:sp>
        <p:nvSpPr>
          <p:cNvPr id="12" name="BL12"/>
          <p:cNvSpPr txBox="1">
            <a:spLocks noGrp="1"/>
          </p:cNvSpPr>
          <p:nvPr/>
        </p:nvSpPr>
        <p:spPr>
          <a:xfrm>
            <a:off x="600000" y="1620000"/>
            <a:ext cx="5200000" cy="39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5616D"/>
                </a:solidFill>
                <a:latin typeface="Trebuchet MS"/>
              </a:rPr>
              <a:t>Step 1: Go to huggingface.co/models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Filter by task (e.g. 'summarization'), language, size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Sort by downloads/likes to find popular models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5616D"/>
                </a:solidFill>
                <a:latin typeface="Trebuchet MS"/>
              </a:rPr>
              <a:t>Step 2: Check the Model Card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License — can you use it commercially?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Benchmark scores — how does it compare?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Training data — was it trained on your domain?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5616D"/>
                </a:solidFill>
                <a:latin typeface="Trebuchet MS"/>
              </a:rPr>
              <a:t>Step 3: Download and cache locally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Models auto-cache to ~/.cache/huggingface/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from transformers import AutoModelForSeq2SeqLM, AutoTokenizer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tokenizer = AutoTokenizer.from_pretrained('facebook/bart-large-cnn')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model = AutoModelForSeq2SeqLM.from_pretrained('facebook/bart-large-cnn')</a:t>
            </a:r>
          </a:p>
        </p:txBody>
      </p:sp>
      <p:sp>
        <p:nvSpPr>
          <p:cNvPr id="20" name="CB20"/>
          <p:cNvSpPr>
            <a:spLocks noGrp="1"/>
          </p:cNvSpPr>
          <p:nvPr/>
        </p:nvSpPr>
        <p:spPr>
          <a:xfrm>
            <a:off x="6300000" y="950000"/>
            <a:ext cx="5450000" cy="47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TB21"/>
          <p:cNvSpPr txBox="1">
            <a:spLocks noGrp="1"/>
          </p:cNvSpPr>
          <p:nvPr/>
        </p:nvSpPr>
        <p:spPr>
          <a:xfrm>
            <a:off x="6500000" y="1020000"/>
            <a:ext cx="51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FF7D00"/>
                </a:solidFill>
                <a:latin typeface="Trebuchet MS"/>
              </a:rPr>
              <a:t>Session 3 Demo: News Summarizer</a:t>
            </a:r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6500000" y="1620000"/>
            <a:ext cx="5100000" cy="39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Model: facebook/bart-large-cnn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Fine-tuned on CNN/DailyMail summarization task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Excellent for news article compression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What we will do in the demo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Feed in a full Kenyan news article (500+ words)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Get a 3-sentence summary automatically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Compare HuggingFace result vs Ollama (local) result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Measure: quality, speed, cost, privacy trade-offs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FF7D00"/>
                </a:solidFill>
                <a:latin typeface="Trebuchet MS"/>
              </a:rPr>
              <a:t>Bonus: sentence-transformers for similarity search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Find articles most similar to a query — semantic search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Builds foundation for RAG (Retrieval Augmented Generation)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Hugging Face — Platform &amp; Local Setup</a:t>
            </a:r>
          </a:p>
        </p:txBody>
      </p:sp>
      <p:sp>
        <p:nvSpPr>
          <p:cNvPr id="10" name="CB10"/>
          <p:cNvSpPr>
            <a:spLocks noGrp="1"/>
          </p:cNvSpPr>
          <p:nvPr/>
        </p:nvSpPr>
        <p:spPr>
          <a:xfrm>
            <a:off x="457200" y="950000"/>
            <a:ext cx="5600000" cy="470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B11"/>
          <p:cNvSpPr txBox="1">
            <a:spLocks noGrp="1"/>
          </p:cNvSpPr>
          <p:nvPr/>
        </p:nvSpPr>
        <p:spPr>
          <a:xfrm>
            <a:off x="600000" y="1020000"/>
            <a:ext cx="52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Finding the Right Model</a:t>
            </a:r>
          </a:p>
        </p:txBody>
      </p:sp>
      <p:sp>
        <p:nvSpPr>
          <p:cNvPr id="12" name="BL12"/>
          <p:cNvSpPr txBox="1">
            <a:spLocks noGrp="1"/>
          </p:cNvSpPr>
          <p:nvPr/>
        </p:nvSpPr>
        <p:spPr>
          <a:xfrm>
            <a:off x="600000" y="1620000"/>
            <a:ext cx="5200000" cy="39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5616D"/>
                </a:solidFill>
                <a:latin typeface="Trebuchet MS"/>
              </a:rPr>
              <a:t>Step 1: Go to huggingface.co/models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Filter by task (e.g. 'summarization'), language, size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Sort by downloads/likes to find popular models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5616D"/>
                </a:solidFill>
                <a:latin typeface="Trebuchet MS"/>
              </a:rPr>
              <a:t>Step 2: Check the Model Card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License — can you use it commercially?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Benchmark scores — how does it compare?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Training data — was it trained on your domain?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5616D"/>
                </a:solidFill>
                <a:latin typeface="Trebuchet MS"/>
              </a:rPr>
              <a:t>Step 3: Download and cache locally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Models auto-cache to ~/.cache/huggingface/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from transformers import AutoModelForSeq2SeqLM, AutoTokenizer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tokenizer = AutoTokenizer.from_pretrained('facebook/bart-large-cnn')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model = AutoModelForSeq2SeqLM.from_pretrained('facebook/bart-large-cnn')</a:t>
            </a:r>
          </a:p>
        </p:txBody>
      </p:sp>
      <p:sp>
        <p:nvSpPr>
          <p:cNvPr id="20" name="CB20"/>
          <p:cNvSpPr>
            <a:spLocks noGrp="1"/>
          </p:cNvSpPr>
          <p:nvPr/>
        </p:nvSpPr>
        <p:spPr>
          <a:xfrm>
            <a:off x="6300000" y="950000"/>
            <a:ext cx="5450000" cy="47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TB21"/>
          <p:cNvSpPr txBox="1">
            <a:spLocks noGrp="1"/>
          </p:cNvSpPr>
          <p:nvPr/>
        </p:nvSpPr>
        <p:spPr>
          <a:xfrm>
            <a:off x="6500000" y="1020000"/>
            <a:ext cx="51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FF7D00"/>
                </a:solidFill>
                <a:latin typeface="Trebuchet MS"/>
              </a:rPr>
              <a:t>Session 3 Demo: News Summarizer</a:t>
            </a:r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6500000" y="1620000"/>
            <a:ext cx="5100000" cy="39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Model: facebook/bart-large-cnn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Fine-tuned on CNN/DailyMail summarization task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Excellent for news article compression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What we will do in the demo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Feed in a full Kenyan news article (500+ words)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Get a 3-sentence summary automatically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Compare HuggingFace result vs Ollama (local) result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Measure: quality, speed, cost, privacy trade-offs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FF7D00"/>
                </a:solidFill>
                <a:latin typeface="Trebuchet MS"/>
              </a:rPr>
              <a:t>Bonus: sentence-transformers for similarity search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Find articles most similar to a query — semantic search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Builds foundation for RAG (Retrieval Augmented Generation)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Key Takeaways — Session 3</a:t>
            </a:r>
          </a:p>
        </p:txBody>
      </p:sp>
      <p:sp>
        <p:nvSpPr>
          <p:cNvPr id="11" name="RC11"/>
          <p:cNvSpPr txBox="1">
            <a:spLocks noGrp="1"/>
          </p:cNvSpPr>
          <p:nvPr/>
        </p:nvSpPr>
        <p:spPr>
          <a:xfrm>
            <a:off x="457200" y="950000"/>
            <a:ext cx="3600000" cy="1500000"/>
          </a:xfrm>
          <a:prstGeom prst="roundRect">
            <a:avLst>
              <a:gd name="adj" fmla="val 16667"/>
            </a:avLst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Trebuchet MS"/>
              </a:rPr>
              <a:t>LLMs Work</a:t>
            </a:r>
          </a:p>
          <a:p>
            <a:pPr algn="ctr"/>
            <a:r>
              <a:rPr lang="en-US" sz="1100" b="0" dirty="0">
                <a:solidFill>
                  <a:srgbClr val="C5CAB8"/>
                </a:solidFill>
                <a:latin typeface="Calibri"/>
              </a:rPr>
              <a:t>Transformer + scale = emergent capabilities</a:t>
            </a:r>
          </a:p>
        </p:txBody>
      </p:sp>
      <p:sp>
        <p:nvSpPr>
          <p:cNvPr id="12" name="RC12"/>
          <p:cNvSpPr txBox="1">
            <a:spLocks noGrp="1"/>
          </p:cNvSpPr>
          <p:nvPr/>
        </p:nvSpPr>
        <p:spPr>
          <a:xfrm>
            <a:off x="4296600" y="950000"/>
            <a:ext cx="3600000" cy="1500000"/>
          </a:xfrm>
          <a:prstGeom prst="roundRect">
            <a:avLst>
              <a:gd name="adj" fmla="val 16667"/>
            </a:avLst>
          </a:prstGeom>
          <a:solidFill>
            <a:srgbClr val="BC5308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Trebuchet MS"/>
              </a:rPr>
              <a:t>Run Local</a:t>
            </a:r>
          </a:p>
          <a:p>
            <a:pPr algn="ctr"/>
            <a:r>
              <a:rPr lang="en-US" sz="1100" b="0" dirty="0">
                <a:solidFill>
                  <a:srgbClr val="C5CAB8"/>
                </a:solidFill>
                <a:latin typeface="Calibri"/>
              </a:rPr>
              <a:t>Ollama gives you free, private, offline LLMs</a:t>
            </a:r>
          </a:p>
        </p:txBody>
      </p:sp>
      <p:sp>
        <p:nvSpPr>
          <p:cNvPr id="13" name="RC13"/>
          <p:cNvSpPr txBox="1">
            <a:spLocks noGrp="1"/>
          </p:cNvSpPr>
          <p:nvPr/>
        </p:nvSpPr>
        <p:spPr>
          <a:xfrm>
            <a:off x="8136000" y="950000"/>
            <a:ext cx="3600000" cy="1500000"/>
          </a:xfrm>
          <a:prstGeom prst="roundRect">
            <a:avLst>
              <a:gd name="adj" fmla="val 16667"/>
            </a:avLst>
          </a:prstGeom>
          <a:solidFill>
            <a:srgbClr val="FF7D00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001524"/>
                </a:solidFill>
                <a:latin typeface="Trebuchet MS"/>
              </a:rPr>
              <a:t>HF Hub</a:t>
            </a:r>
          </a:p>
          <a:p>
            <a:pPr algn="ctr"/>
            <a:r>
              <a:rPr lang="en-US" sz="1100" b="0" dirty="0">
                <a:solidFill>
                  <a:srgbClr val="001524"/>
                </a:solidFill>
                <a:latin typeface="Calibri"/>
              </a:rPr>
              <a:t>900K+ free models — don't train from scratch</a:t>
            </a:r>
          </a:p>
        </p:txBody>
      </p:sp>
      <p:sp>
        <p:nvSpPr>
          <p:cNvPr id="20" name="TB20"/>
          <p:cNvSpPr txBox="1">
            <a:spLocks noGrp="1"/>
          </p:cNvSpPr>
          <p:nvPr/>
        </p:nvSpPr>
        <p:spPr>
          <a:xfrm>
            <a:off x="457200" y="2650000"/>
            <a:ext cx="112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What You Should Take Away From Today</a:t>
            </a:r>
          </a:p>
        </p:txBody>
      </p:sp>
      <p:sp>
        <p:nvSpPr>
          <p:cNvPr id="21" name="BL21"/>
          <p:cNvSpPr txBox="1">
            <a:spLocks noGrp="1"/>
          </p:cNvSpPr>
          <p:nvPr/>
        </p:nvSpPr>
        <p:spPr>
          <a:xfrm>
            <a:off x="457200" y="3150000"/>
            <a:ext cx="5400000" cy="31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500" b="1" dirty="0">
                <a:solidFill>
                  <a:srgbClr val="15616D"/>
                </a:solidFill>
                <a:latin typeface="Trebuchet MS"/>
              </a:rPr>
              <a:t>Understanding LLMs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Transformers + self-attention = context-aware language understanding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LLMs predict text — they're not databases of facts (hence hallucinations)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Open models (Llama, Mistral, Phi) now rival closed APIs for many tasks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3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500" b="1" dirty="0">
                <a:solidFill>
                  <a:srgbClr val="BC5308"/>
                </a:solidFill>
                <a:latin typeface="Trebuchet MS"/>
              </a:rPr>
              <a:t>Practical Skills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Install Ollama and pull any open model in under 10 minutes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Use HuggingFace pipeline for one-line inference on any task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Prompt engineering: system prompts, few-shot, chain-of-thought</a:t>
            </a:r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6100000" y="3150000"/>
            <a:ext cx="5700000" cy="31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500" b="1" dirty="0">
                <a:solidFill>
                  <a:srgbClr val="8AA79F"/>
                </a:solidFill>
                <a:latin typeface="Trebuchet MS"/>
              </a:rPr>
              <a:t>Kenya Applications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Swahili NLP: run Llama locally, no data leaves Kenya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Legal AI: summarize court judgments privately — no API cost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AgriBot: local LLM answers farmer questions in Swahili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3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500" b="1" dirty="0">
                <a:solidFill>
                  <a:srgbClr val="FF7D00"/>
                </a:solidFill>
                <a:latin typeface="Trebuchet MS"/>
              </a:rPr>
              <a:t>Coming Up: Session 4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Wrapping models in FastAPI — serve predictions as a web API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Scheduling pipelines with GitHub Actions (free automation)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End-to-end: from raw data to automated production pipeline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2C0B2E1-0268-42EC-ABD3-94F81A05B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K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2256B4-48EA-40FC-BBC0-AA1EE6E00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KE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D44BCCA-102D-4A9D-B1E4-2450CAF0B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1F808E-D6DA-2833-13C5-77731477E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643467"/>
            <a:ext cx="6255026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8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Q &amp; 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77AF0A-E3E6-9BF1-0698-4E320DFA2C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870995" y="643467"/>
            <a:ext cx="3341488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400" cap="all" spc="200" dirty="0">
                <a:solidFill>
                  <a:schemeClr val="tx2"/>
                </a:solidFill>
                <a:latin typeface="+mj-lt"/>
              </a:rPr>
              <a:t>Questions?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K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K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624143-8FB4-6431-44AB-F78D789C7D2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" y="6404950"/>
            <a:ext cx="354030" cy="36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8652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Custom 6">
      <a:dk1>
        <a:srgbClr val="000000"/>
      </a:dk1>
      <a:lt1>
        <a:sysClr val="window" lastClr="FFFFFF"/>
      </a:lt1>
      <a:dk2>
        <a:srgbClr val="BC5308"/>
      </a:dk2>
      <a:lt2>
        <a:srgbClr val="8AA79F"/>
      </a:lt2>
      <a:accent1>
        <a:srgbClr val="15616D"/>
      </a:accent1>
      <a:accent2>
        <a:srgbClr val="8AA79F"/>
      </a:accent2>
      <a:accent3>
        <a:srgbClr val="C5CAB8"/>
      </a:accent3>
      <a:accent4>
        <a:srgbClr val="FF7D00"/>
      </a:accent4>
      <a:accent5>
        <a:srgbClr val="BC5308"/>
      </a:accent5>
      <a:accent6>
        <a:srgbClr val="78290F"/>
      </a:accent6>
      <a:hlink>
        <a:srgbClr val="FFECD1"/>
      </a:hlink>
      <a:folHlink>
        <a:srgbClr val="001524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2059</Words>
  <Application>Microsoft Office PowerPoint</Application>
  <PresentationFormat>Widescreen</PresentationFormat>
  <Paragraphs>322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Calibri</vt:lpstr>
      <vt:lpstr>Cambria</vt:lpstr>
      <vt:lpstr>Trebuchet MS</vt:lpstr>
      <vt:lpstr>Retrospect</vt:lpstr>
      <vt:lpstr>Short Course On Machine Learning and AI 2026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Kamau Kamau</dc:creator>
  <cp:lastModifiedBy>John Kamau Kamau</cp:lastModifiedBy>
  <cp:revision>24</cp:revision>
  <dcterms:created xsi:type="dcterms:W3CDTF">2023-09-12T11:22:30Z</dcterms:created>
  <dcterms:modified xsi:type="dcterms:W3CDTF">2026-03-22T14:21:22Z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95cf23d-70b0-4a80-9221-1d774ac27fb2_Enabled">
    <vt:lpwstr>true</vt:lpwstr>
  </property>
  <property fmtid="{D5CDD505-2E9C-101B-9397-08002B2CF9AE}" pid="3" name="MSIP_Label_695cf23d-70b0-4a80-9221-1d774ac27fb2_SetDate">
    <vt:lpwstr>2026-03-15T13:26:08Z</vt:lpwstr>
  </property>
  <property fmtid="{D5CDD505-2E9C-101B-9397-08002B2CF9AE}" pid="4" name="MSIP_Label_695cf23d-70b0-4a80-9221-1d774ac27fb2_Method">
    <vt:lpwstr>Standard</vt:lpwstr>
  </property>
  <property fmtid="{D5CDD505-2E9C-101B-9397-08002B2CF9AE}" pid="5" name="MSIP_Label_695cf23d-70b0-4a80-9221-1d774ac27fb2_Name">
    <vt:lpwstr>Document internal</vt:lpwstr>
  </property>
  <property fmtid="{D5CDD505-2E9C-101B-9397-08002B2CF9AE}" pid="6" name="MSIP_Label_695cf23d-70b0-4a80-9221-1d774ac27fb2_SiteId">
    <vt:lpwstr>8482881e-3699-4b3f-b135-cf4800bc1efb</vt:lpwstr>
  </property>
  <property fmtid="{D5CDD505-2E9C-101B-9397-08002B2CF9AE}" pid="7" name="MSIP_Label_695cf23d-70b0-4a80-9221-1d774ac27fb2_ActionId">
    <vt:lpwstr>db57165a-df63-4076-b308-48fb73fba492</vt:lpwstr>
  </property>
  <property fmtid="{D5CDD505-2E9C-101B-9397-08002B2CF9AE}" pid="8" name="MSIP_Label_695cf23d-70b0-4a80-9221-1d774ac27fb2_ContentBits">
    <vt:lpwstr>0</vt:lpwstr>
  </property>
  <property fmtid="{D5CDD505-2E9C-101B-9397-08002B2CF9AE}" pid="9" name="MSIP_Label_695cf23d-70b0-4a80-9221-1d774ac27fb2_Tag">
    <vt:lpwstr>10, 3, 0, 1</vt:lpwstr>
  </property>
</Properties>
</file>