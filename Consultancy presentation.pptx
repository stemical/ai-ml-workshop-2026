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66" r:id="rId4"/>
    <p:sldId id="264" r:id="rId5"/>
    <p:sldId id="265" r:id="rId6"/>
    <p:sldId id="267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5947-D7FE-4306-BA8A-6A7705032833}" type="datetimeFigureOut">
              <a:rPr lang="en-KE" smtClean="0"/>
              <a:t>01/31/2024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0667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5947-D7FE-4306-BA8A-6A7705032833}" type="datetimeFigureOut">
              <a:rPr lang="en-KE" smtClean="0"/>
              <a:t>01/31/2024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609351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5947-D7FE-4306-BA8A-6A7705032833}" type="datetimeFigureOut">
              <a:rPr lang="en-KE" smtClean="0"/>
              <a:t>01/31/2024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6273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5947-D7FE-4306-BA8A-6A7705032833}" type="datetimeFigureOut">
              <a:rPr lang="en-KE" smtClean="0"/>
              <a:t>01/31/2024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951277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5947-D7FE-4306-BA8A-6A7705032833}" type="datetimeFigureOut">
              <a:rPr lang="en-KE" smtClean="0"/>
              <a:t>01/31/2024</a:t>
            </a:fld>
            <a:endParaRPr lang="en-K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232810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5947-D7FE-4306-BA8A-6A7705032833}" type="datetimeFigureOut">
              <a:rPr lang="en-KE" smtClean="0"/>
              <a:t>01/31/2024</a:t>
            </a:fld>
            <a:endParaRPr lang="en-K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374018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5947-D7FE-4306-BA8A-6A7705032833}" type="datetimeFigureOut">
              <a:rPr lang="en-KE" smtClean="0"/>
              <a:t>01/31/2024</a:t>
            </a:fld>
            <a:endParaRPr lang="en-K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K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072369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A755947-D7FE-4306-BA8A-6A7705032833}" type="datetimeFigureOut">
              <a:rPr lang="en-KE" smtClean="0"/>
              <a:t>01/31/2024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671725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5947-D7FE-4306-BA8A-6A7705032833}" type="datetimeFigureOut">
              <a:rPr lang="en-KE" smtClean="0"/>
              <a:t>01/31/2024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77609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5947-D7FE-4306-BA8A-6A7705032833}" type="datetimeFigureOut">
              <a:rPr lang="en-KE" smtClean="0"/>
              <a:t>01/31/2024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149483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5947-D7FE-4306-BA8A-6A7705032833}" type="datetimeFigureOut">
              <a:rPr lang="en-KE" smtClean="0"/>
              <a:t>01/31/2024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026368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A755947-D7FE-4306-BA8A-6A7705032833}" type="datetimeFigureOut">
              <a:rPr lang="en-KE" smtClean="0"/>
              <a:t>01/31/2024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D3EEBF7-346C-48DF-B636-7B62F2CE8EB4}" type="slidenum">
              <a:rPr lang="en-KE" smtClean="0"/>
              <a:t>‹#›</a:t>
            </a:fld>
            <a:endParaRPr lang="en-KE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2000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9">
            <a:extLst>
              <a:ext uri="{FF2B5EF4-FFF2-40B4-BE49-F238E27FC236}">
                <a16:creationId xmlns:a16="http://schemas.microsoft.com/office/drawing/2014/main" id="{EB1836F0-F9E0-4D93-9BDD-7EEC6EA05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5C14E0-76D5-15C8-3B21-ABAB15F79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dirty="0"/>
              <a:t>Aesops Consulting</a:t>
            </a:r>
            <a:endParaRPr lang="en-K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E0A7EF-E25D-2618-B40B-612B188832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455621"/>
            <a:ext cx="6269347" cy="123861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Speaker: William, John </a:t>
            </a:r>
            <a:endParaRPr lang="en-KE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9" name="Straight Connector 11">
            <a:extLst>
              <a:ext uri="{FF2B5EF4-FFF2-40B4-BE49-F238E27FC236}">
                <a16:creationId xmlns:a16="http://schemas.microsoft.com/office/drawing/2014/main" id="{7A49EFD3-A806-4D59-99F1-AA9AFAE4E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071" y="4343400"/>
            <a:ext cx="5636107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3">
            <a:extLst>
              <a:ext uri="{FF2B5EF4-FFF2-40B4-BE49-F238E27FC236}">
                <a16:creationId xmlns:a16="http://schemas.microsoft.com/office/drawing/2014/main" id="{6D2F28D1-82F9-40FE-935C-85ECF7660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E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4B670E93-2F53-48FC-AB6C-E99E22D17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80B922-5418-5FB0-E6C7-80EB57E4D0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2" y="6400800"/>
            <a:ext cx="396109" cy="4033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554284-03BD-5CA0-8E68-3BA4882524A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6254" y="6396768"/>
            <a:ext cx="794874" cy="411464"/>
          </a:xfrm>
          <a:prstGeom prst="rect">
            <a:avLst/>
          </a:prstGeom>
        </p:spPr>
      </p:pic>
      <p:pic>
        <p:nvPicPr>
          <p:cNvPr id="7" name="Picture 6" descr="A close-up of a logo&#10;&#10;Description automatically generated">
            <a:extLst>
              <a:ext uri="{FF2B5EF4-FFF2-40B4-BE49-F238E27FC236}">
                <a16:creationId xmlns:a16="http://schemas.microsoft.com/office/drawing/2014/main" id="{CE3171F0-ECC1-B1B9-C769-D83203104A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290" y="2177667"/>
            <a:ext cx="3009219" cy="1022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555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85F30-7604-8DAD-603B-A4F84EE9B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945" y="539701"/>
            <a:ext cx="3200400" cy="22860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A three pronged approach</a:t>
            </a:r>
            <a:br>
              <a:rPr lang="en-US" b="1" dirty="0"/>
            </a:b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9D5BC4-DABA-6C90-0047-80C7B36133F1}"/>
              </a:ext>
            </a:extLst>
          </p:cNvPr>
          <p:cNvSpPr txBox="1"/>
          <p:nvPr/>
        </p:nvSpPr>
        <p:spPr>
          <a:xfrm>
            <a:off x="4160981" y="742518"/>
            <a:ext cx="272934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Build an app that monitors messages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The app mines the data and updates an online dashboard with summary stats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The app has a button to collect pictures of receipts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B8A4AB-568D-D366-20D7-26A65C289944}"/>
              </a:ext>
            </a:extLst>
          </p:cNvPr>
          <p:cNvSpPr txBox="1"/>
          <p:nvPr/>
        </p:nvSpPr>
        <p:spPr>
          <a:xfrm>
            <a:off x="6954982" y="794376"/>
            <a:ext cx="31265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Consultancy through bidding projects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We need to identify and monitor advertised consultancy gigs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Build a portfolio of satisfied clients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D254DE-7FF7-4FBB-3584-49BF8DD898C7}"/>
              </a:ext>
            </a:extLst>
          </p:cNvPr>
          <p:cNvSpPr txBox="1"/>
          <p:nvPr/>
        </p:nvSpPr>
        <p:spPr>
          <a:xfrm>
            <a:off x="9702800" y="790383"/>
            <a:ext cx="24892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Target small businesses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We use free tools to build for them data pipelines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Small fee (e.g. 3k and 200 monthly maintenance)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C74064F-B723-ACE1-B112-75F344738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1152" y="3620655"/>
            <a:ext cx="1848047" cy="2933076"/>
          </a:xfrm>
          <a:prstGeom prst="rect">
            <a:avLst/>
          </a:prstGeom>
        </p:spPr>
      </p:pic>
      <p:pic>
        <p:nvPicPr>
          <p:cNvPr id="1028" name="Picture 4" descr="Tendering Strategy in the Healthcare Industry — Konplik">
            <a:extLst>
              <a:ext uri="{FF2B5EF4-FFF2-40B4-BE49-F238E27FC236}">
                <a16:creationId xmlns:a16="http://schemas.microsoft.com/office/drawing/2014/main" id="{8E46597C-BAF8-1BFD-3E95-1E0AE7318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8619" y="3620655"/>
            <a:ext cx="1381705" cy="2933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treamlining Data Flow: The Critical Role of Data Pipelines">
            <a:extLst>
              <a:ext uri="{FF2B5EF4-FFF2-40B4-BE49-F238E27FC236}">
                <a16:creationId xmlns:a16="http://schemas.microsoft.com/office/drawing/2014/main" id="{DA135EBC-B70E-4BC7-3C17-F306F0366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2078" y="4224641"/>
            <a:ext cx="2646507" cy="1170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7997DF7-6725-1F97-966A-BB0792E45659}"/>
              </a:ext>
            </a:extLst>
          </p:cNvPr>
          <p:cNvSpPr/>
          <p:nvPr/>
        </p:nvSpPr>
        <p:spPr>
          <a:xfrm>
            <a:off x="4851300" y="42187"/>
            <a:ext cx="96013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App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024C3D-1782-7981-93AB-87298CE58000}"/>
              </a:ext>
            </a:extLst>
          </p:cNvPr>
          <p:cNvSpPr/>
          <p:nvPr/>
        </p:nvSpPr>
        <p:spPr>
          <a:xfrm>
            <a:off x="7340701" y="42187"/>
            <a:ext cx="1709122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Bidding</a:t>
            </a:r>
            <a:endParaRPr lang="en-US" sz="32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5377EA-16C0-924F-D5F1-7C5E7397CA6D}"/>
              </a:ext>
            </a:extLst>
          </p:cNvPr>
          <p:cNvSpPr/>
          <p:nvPr/>
        </p:nvSpPr>
        <p:spPr>
          <a:xfrm>
            <a:off x="9739618" y="42188"/>
            <a:ext cx="199285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pipelines</a:t>
            </a:r>
            <a:endParaRPr lang="en-US" sz="32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pic>
        <p:nvPicPr>
          <p:cNvPr id="20" name="Picture 19" descr="A close up of a logo&#10;&#10;Description automatically generated">
            <a:extLst>
              <a:ext uri="{FF2B5EF4-FFF2-40B4-BE49-F238E27FC236}">
                <a16:creationId xmlns:a16="http://schemas.microsoft.com/office/drawing/2014/main" id="{34F8AB2C-4A5E-C470-86B5-8F8374BB71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27" y="6344816"/>
            <a:ext cx="1509864" cy="51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408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85F30-7604-8DAD-603B-A4F84EE9B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945" y="539701"/>
            <a:ext cx="3200400" cy="22860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Approach 2:</a:t>
            </a:r>
            <a:br>
              <a:rPr lang="en-US" b="1" dirty="0"/>
            </a:b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B8A4AB-568D-D366-20D7-26A65C289944}"/>
              </a:ext>
            </a:extLst>
          </p:cNvPr>
          <p:cNvSpPr txBox="1"/>
          <p:nvPr/>
        </p:nvSpPr>
        <p:spPr>
          <a:xfrm>
            <a:off x="4054763" y="923685"/>
            <a:ext cx="31265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Consultancy through bidding projects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We need to identify, and monitor advertised consultancy gigs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Build a portfolio of satisfied clients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024C3D-1782-7981-93AB-87298CE58000}"/>
              </a:ext>
            </a:extLst>
          </p:cNvPr>
          <p:cNvSpPr/>
          <p:nvPr/>
        </p:nvSpPr>
        <p:spPr>
          <a:xfrm>
            <a:off x="4172629" y="209601"/>
            <a:ext cx="1709122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Bidding</a:t>
            </a:r>
            <a:endParaRPr lang="en-US" sz="32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B85E8E8C-ECCE-E280-12F1-B1016132DA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09" y="6197034"/>
            <a:ext cx="1509864" cy="5131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A12604-B67B-AAC4-B0B2-9175650E3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137" y="2284149"/>
            <a:ext cx="1496443" cy="174798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B00257D5-5206-F57D-B90C-692DF5CDA1D8}"/>
              </a:ext>
            </a:extLst>
          </p:cNvPr>
          <p:cNvSpPr/>
          <p:nvPr/>
        </p:nvSpPr>
        <p:spPr>
          <a:xfrm>
            <a:off x="7113621" y="0"/>
            <a:ext cx="4902976" cy="2135321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5"/>
                </a:solidFill>
              </a:rPr>
              <a:t>Harnessing the expertise, experience and qualification  of our members.</a:t>
            </a:r>
          </a:p>
          <a:p>
            <a:pPr algn="ctr"/>
            <a:r>
              <a:rPr lang="en-US" b="1" dirty="0">
                <a:solidFill>
                  <a:schemeClr val="accent5"/>
                </a:solidFill>
              </a:rPr>
              <a:t>We proudly have expertise in data analysis/analytics, machine learning, statistical modelling, programming language proficiency, and domain knowledge.</a:t>
            </a:r>
          </a:p>
          <a:p>
            <a:pPr algn="ctr"/>
            <a:endParaRPr lang="en-US" dirty="0"/>
          </a:p>
        </p:txBody>
      </p:sp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7A1E3F4A-7855-A284-10C6-780801FF25F8}"/>
              </a:ext>
            </a:extLst>
          </p:cNvPr>
          <p:cNvSpPr/>
          <p:nvPr/>
        </p:nvSpPr>
        <p:spPr>
          <a:xfrm>
            <a:off x="8256181" y="2284149"/>
            <a:ext cx="2793256" cy="1737359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5"/>
                </a:solidFill>
              </a:rPr>
              <a:t>Project bidding:</a:t>
            </a:r>
          </a:p>
          <a:p>
            <a:pPr algn="ctr"/>
            <a:r>
              <a:rPr lang="en-US" b="1" dirty="0">
                <a:solidFill>
                  <a:schemeClr val="accent5"/>
                </a:solidFill>
              </a:rPr>
              <a:t>We shall be bidding projects, understand the client, work on all the data analytics required.</a:t>
            </a:r>
          </a:p>
        </p:txBody>
      </p:sp>
      <p:sp>
        <p:nvSpPr>
          <p:cNvPr id="17" name="Rounded Rectangle 9">
            <a:extLst>
              <a:ext uri="{FF2B5EF4-FFF2-40B4-BE49-F238E27FC236}">
                <a16:creationId xmlns:a16="http://schemas.microsoft.com/office/drawing/2014/main" id="{39F45B56-2347-E498-7943-46AE684A5954}"/>
              </a:ext>
            </a:extLst>
          </p:cNvPr>
          <p:cNvSpPr/>
          <p:nvPr/>
        </p:nvSpPr>
        <p:spPr>
          <a:xfrm>
            <a:off x="8509809" y="4868860"/>
            <a:ext cx="2286000" cy="94052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5"/>
                </a:solidFill>
              </a:rPr>
              <a:t>Generate the analytics from the data and report.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21F14C5-445E-B9C5-CB2B-E36EBB0E18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2881" y="4868861"/>
            <a:ext cx="871699" cy="940525"/>
          </a:xfrm>
          <a:prstGeom prst="rect">
            <a:avLst/>
          </a:prstGeom>
        </p:spPr>
      </p:pic>
      <p:sp>
        <p:nvSpPr>
          <p:cNvPr id="19" name="Arrow: Down 18">
            <a:extLst>
              <a:ext uri="{FF2B5EF4-FFF2-40B4-BE49-F238E27FC236}">
                <a16:creationId xmlns:a16="http://schemas.microsoft.com/office/drawing/2014/main" id="{4DE33048-1FC7-6083-6133-174C845DD5BB}"/>
              </a:ext>
            </a:extLst>
          </p:cNvPr>
          <p:cNvSpPr/>
          <p:nvPr/>
        </p:nvSpPr>
        <p:spPr>
          <a:xfrm>
            <a:off x="9497683" y="1921165"/>
            <a:ext cx="286964" cy="45972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7732EA1A-61C6-0E16-202E-2C6537998705}"/>
              </a:ext>
            </a:extLst>
          </p:cNvPr>
          <p:cNvSpPr/>
          <p:nvPr/>
        </p:nvSpPr>
        <p:spPr>
          <a:xfrm>
            <a:off x="9497683" y="4170336"/>
            <a:ext cx="286964" cy="5741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836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85F30-7604-8DAD-603B-A4F84EE9B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945" y="539701"/>
            <a:ext cx="3200400" cy="22860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Approach 1:</a:t>
            </a:r>
            <a:br>
              <a:rPr lang="en-US" b="1" dirty="0"/>
            </a:b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9D5BC4-DABA-6C90-0047-80C7B36133F1}"/>
              </a:ext>
            </a:extLst>
          </p:cNvPr>
          <p:cNvSpPr txBox="1"/>
          <p:nvPr/>
        </p:nvSpPr>
        <p:spPr>
          <a:xfrm>
            <a:off x="4160981" y="742518"/>
            <a:ext cx="272934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Build an app that monitors messages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The app mines the data and updates an online dashboard with summary stats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The app has a button to collect pictures of receipts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C74064F-B723-ACE1-B112-75F344738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1152" y="3620655"/>
            <a:ext cx="1848047" cy="293307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7997DF7-6725-1F97-966A-BB0792E45659}"/>
              </a:ext>
            </a:extLst>
          </p:cNvPr>
          <p:cNvSpPr/>
          <p:nvPr/>
        </p:nvSpPr>
        <p:spPr>
          <a:xfrm>
            <a:off x="4851300" y="42187"/>
            <a:ext cx="96013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App</a:t>
            </a:r>
          </a:p>
        </p:txBody>
      </p:sp>
      <p:sp>
        <p:nvSpPr>
          <p:cNvPr id="3" name="AutoShape 2" descr="Show Me the Receipts - National Women's Law Center">
            <a:extLst>
              <a:ext uri="{FF2B5EF4-FFF2-40B4-BE49-F238E27FC236}">
                <a16:creationId xmlns:a16="http://schemas.microsoft.com/office/drawing/2014/main" id="{46E7D080-378F-70D3-7237-A16C8C7908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600"/>
            <a:ext cx="1408545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3823943-D749-D756-6CE6-713A250ADBC1}"/>
              </a:ext>
            </a:extLst>
          </p:cNvPr>
          <p:cNvGrpSpPr/>
          <p:nvPr/>
        </p:nvGrpSpPr>
        <p:grpSpPr>
          <a:xfrm>
            <a:off x="7858664" y="334574"/>
            <a:ext cx="2372177" cy="1442758"/>
            <a:chOff x="7021564" y="334574"/>
            <a:chExt cx="4994945" cy="2824841"/>
          </a:xfrm>
        </p:grpSpPr>
        <p:pic>
          <p:nvPicPr>
            <p:cNvPr id="2054" name="Picture 6" descr="Small Talk: There's a lot of useless information on those receipts – Daily  Local">
              <a:extLst>
                <a:ext uri="{FF2B5EF4-FFF2-40B4-BE49-F238E27FC236}">
                  <a16:creationId xmlns:a16="http://schemas.microsoft.com/office/drawing/2014/main" id="{8BB345A7-2147-A8E2-2E12-E4BF1EE242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21564" y="334574"/>
              <a:ext cx="1834186" cy="28248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8" name="Picture 10" descr="TikToker's explanation of how M-Pesa transaction codes are generated stirs  Kenyans online – Nairobi News">
              <a:extLst>
                <a:ext uri="{FF2B5EF4-FFF2-40B4-BE49-F238E27FC236}">
                  <a16:creationId xmlns:a16="http://schemas.microsoft.com/office/drawing/2014/main" id="{7724C85A-F5C0-DF0D-E2D4-2B3B15DAEC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2547" y="334574"/>
              <a:ext cx="2723962" cy="28248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Graphic 9" descr="Brain with solid fill">
            <a:extLst>
              <a:ext uri="{FF2B5EF4-FFF2-40B4-BE49-F238E27FC236}">
                <a16:creationId xmlns:a16="http://schemas.microsoft.com/office/drawing/2014/main" id="{638AC95E-6F95-4873-DD39-28A8B8B3FE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69615" y="2413441"/>
            <a:ext cx="914400" cy="914400"/>
          </a:xfrm>
          <a:prstGeom prst="rect">
            <a:avLst/>
          </a:prstGeom>
        </p:spPr>
      </p:pic>
      <p:sp>
        <p:nvSpPr>
          <p:cNvPr id="11" name="AutoShape 12" descr="Profit and Loss Dashboard | Finance Examples | Bold BI">
            <a:extLst>
              <a:ext uri="{FF2B5EF4-FFF2-40B4-BE49-F238E27FC236}">
                <a16:creationId xmlns:a16="http://schemas.microsoft.com/office/drawing/2014/main" id="{D1AC82FC-5BF3-41EB-1C7E-62B96F76E6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958196"/>
            <a:ext cx="1623204" cy="1623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" name="Picture 19" descr="A screenshot of a computer&#10;&#10;Description automatically generated">
            <a:extLst>
              <a:ext uri="{FF2B5EF4-FFF2-40B4-BE49-F238E27FC236}">
                <a16:creationId xmlns:a16="http://schemas.microsoft.com/office/drawing/2014/main" id="{B2710217-3B3E-37C8-4A30-8D6EECB117B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6804" y="3791311"/>
            <a:ext cx="4067965" cy="2070631"/>
          </a:xfrm>
          <a:prstGeom prst="rect">
            <a:avLst/>
          </a:prstGeom>
        </p:spPr>
      </p:pic>
      <p:sp>
        <p:nvSpPr>
          <p:cNvPr id="21" name="Right Bracket 20">
            <a:extLst>
              <a:ext uri="{FF2B5EF4-FFF2-40B4-BE49-F238E27FC236}">
                <a16:creationId xmlns:a16="http://schemas.microsoft.com/office/drawing/2014/main" id="{407A9497-83BB-FA78-070E-49AD31802534}"/>
              </a:ext>
            </a:extLst>
          </p:cNvPr>
          <p:cNvSpPr/>
          <p:nvPr/>
        </p:nvSpPr>
        <p:spPr>
          <a:xfrm rot="5400000">
            <a:off x="8831966" y="828052"/>
            <a:ext cx="507132" cy="2453736"/>
          </a:xfrm>
          <a:prstGeom prst="righ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2AE1600A-D6E6-5DD2-58FE-18C9BE5EEB3D}"/>
              </a:ext>
            </a:extLst>
          </p:cNvPr>
          <p:cNvSpPr/>
          <p:nvPr/>
        </p:nvSpPr>
        <p:spPr>
          <a:xfrm>
            <a:off x="9085532" y="2308486"/>
            <a:ext cx="171527" cy="20991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CBCB7641-0049-AEC6-7743-EF1EFC90BEA3}"/>
              </a:ext>
            </a:extLst>
          </p:cNvPr>
          <p:cNvSpPr/>
          <p:nvPr/>
        </p:nvSpPr>
        <p:spPr>
          <a:xfrm>
            <a:off x="9085531" y="3454620"/>
            <a:ext cx="171527" cy="20991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A close up of a logo&#10;&#10;Description automatically generated">
            <a:extLst>
              <a:ext uri="{FF2B5EF4-FFF2-40B4-BE49-F238E27FC236}">
                <a16:creationId xmlns:a16="http://schemas.microsoft.com/office/drawing/2014/main" id="{D43106EB-2071-2951-B0F6-C42E066FCBE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73" y="6297139"/>
            <a:ext cx="1509864" cy="513184"/>
          </a:xfrm>
          <a:prstGeom prst="rect">
            <a:avLst/>
          </a:prstGeom>
        </p:spPr>
      </p:pic>
      <p:sp>
        <p:nvSpPr>
          <p:cNvPr id="25" name="Arrow: Down 24">
            <a:extLst>
              <a:ext uri="{FF2B5EF4-FFF2-40B4-BE49-F238E27FC236}">
                <a16:creationId xmlns:a16="http://schemas.microsoft.com/office/drawing/2014/main" id="{87EAEB95-D816-ED91-F27F-6718C45EE785}"/>
              </a:ext>
            </a:extLst>
          </p:cNvPr>
          <p:cNvSpPr/>
          <p:nvPr/>
        </p:nvSpPr>
        <p:spPr>
          <a:xfrm>
            <a:off x="9497683" y="1921165"/>
            <a:ext cx="286964" cy="45972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411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85F30-7604-8DAD-603B-A4F84EE9B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804" y="539701"/>
            <a:ext cx="3925541" cy="22860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Approach 3:</a:t>
            </a:r>
            <a:br>
              <a:rPr lang="en-US" b="1" dirty="0"/>
            </a:b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D254DE-7FF7-4FBB-3584-49BF8DD898C7}"/>
              </a:ext>
            </a:extLst>
          </p:cNvPr>
          <p:cNvSpPr txBox="1"/>
          <p:nvPr/>
        </p:nvSpPr>
        <p:spPr>
          <a:xfrm>
            <a:off x="9702800" y="790383"/>
            <a:ext cx="24892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Target small businesses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We use free tools to build for them data pipelines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Small fee (e.g. 3k and 200 monthly maintenance)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/>
          </a:p>
        </p:txBody>
      </p:sp>
      <p:pic>
        <p:nvPicPr>
          <p:cNvPr id="1030" name="Picture 6" descr="Streamlining Data Flow: The Critical Role of Data Pipelines">
            <a:extLst>
              <a:ext uri="{FF2B5EF4-FFF2-40B4-BE49-F238E27FC236}">
                <a16:creationId xmlns:a16="http://schemas.microsoft.com/office/drawing/2014/main" id="{DA135EBC-B70E-4BC7-3C17-F306F0366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2078" y="4224641"/>
            <a:ext cx="2646507" cy="1170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45377EA-16C0-924F-D5F1-7C5E7397CA6D}"/>
              </a:ext>
            </a:extLst>
          </p:cNvPr>
          <p:cNvSpPr/>
          <p:nvPr/>
        </p:nvSpPr>
        <p:spPr>
          <a:xfrm>
            <a:off x="9739618" y="42188"/>
            <a:ext cx="199285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pipelines</a:t>
            </a:r>
            <a:endParaRPr lang="en-US" sz="32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2BC793-161A-C64C-CB41-34D895495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7371" y="334575"/>
            <a:ext cx="1699407" cy="322353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5780A7-DBED-0BA3-0421-34E25ECC01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8363" y="4450166"/>
            <a:ext cx="4064378" cy="188918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0EA79A4E-3C79-8FCB-EB96-AA6E4A9B12A5}"/>
              </a:ext>
            </a:extLst>
          </p:cNvPr>
          <p:cNvSpPr/>
          <p:nvPr/>
        </p:nvSpPr>
        <p:spPr>
          <a:xfrm>
            <a:off x="5426016" y="3692106"/>
            <a:ext cx="250166" cy="5325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A3519069-0570-4FB6-1D15-3416127560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91" y="6206271"/>
            <a:ext cx="1509864" cy="51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536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85F30-7604-8DAD-603B-A4F84EE9B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65" y="334574"/>
            <a:ext cx="3793816" cy="22860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Considerations:</a:t>
            </a:r>
            <a:br>
              <a:rPr lang="en-US" b="1" dirty="0"/>
            </a:b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9D5BC4-DABA-6C90-0047-80C7B36133F1}"/>
              </a:ext>
            </a:extLst>
          </p:cNvPr>
          <p:cNvSpPr txBox="1"/>
          <p:nvPr/>
        </p:nvSpPr>
        <p:spPr>
          <a:xfrm>
            <a:off x="4160981" y="742518"/>
            <a:ext cx="27293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Marketing strategy- Ads, sales team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Monetization, ads ,paid features </a:t>
            </a:r>
            <a:r>
              <a:rPr lang="en-US" dirty="0" err="1"/>
              <a:t>eg</a:t>
            </a:r>
            <a:r>
              <a:rPr lang="en-US" dirty="0"/>
              <a:t> after 3 months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Timeline 6 months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997DF7-6725-1F97-966A-BB0792E45659}"/>
              </a:ext>
            </a:extLst>
          </p:cNvPr>
          <p:cNvSpPr/>
          <p:nvPr/>
        </p:nvSpPr>
        <p:spPr>
          <a:xfrm>
            <a:off x="4851300" y="42187"/>
            <a:ext cx="96013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App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024C3D-1782-7981-93AB-87298CE58000}"/>
              </a:ext>
            </a:extLst>
          </p:cNvPr>
          <p:cNvSpPr/>
          <p:nvPr/>
        </p:nvSpPr>
        <p:spPr>
          <a:xfrm>
            <a:off x="7340701" y="42187"/>
            <a:ext cx="1709122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Bidding</a:t>
            </a:r>
            <a:endParaRPr lang="en-US" sz="32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5377EA-16C0-924F-D5F1-7C5E7397CA6D}"/>
              </a:ext>
            </a:extLst>
          </p:cNvPr>
          <p:cNvSpPr/>
          <p:nvPr/>
        </p:nvSpPr>
        <p:spPr>
          <a:xfrm>
            <a:off x="9739618" y="42188"/>
            <a:ext cx="199285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pipelines</a:t>
            </a:r>
            <a:endParaRPr lang="en-US" sz="32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pic>
        <p:nvPicPr>
          <p:cNvPr id="20" name="Picture 19" descr="A close up of a logo&#10;&#10;Description automatically generated">
            <a:extLst>
              <a:ext uri="{FF2B5EF4-FFF2-40B4-BE49-F238E27FC236}">
                <a16:creationId xmlns:a16="http://schemas.microsoft.com/office/drawing/2014/main" id="{34F8AB2C-4A5E-C470-86B5-8F8374BB71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27" y="6344816"/>
            <a:ext cx="1509864" cy="5131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67EE83-13A1-368F-AFD3-CF30B4BA86C9}"/>
              </a:ext>
            </a:extLst>
          </p:cNvPr>
          <p:cNvSpPr txBox="1"/>
          <p:nvPr/>
        </p:nvSpPr>
        <p:spPr>
          <a:xfrm>
            <a:off x="6816986" y="742518"/>
            <a:ext cx="25664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Marketing strategy- Identify Ad and bid; build a portfolio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Monetization: Charge consultancy fee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Timeline: Immediately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EC4C41-4A93-A2F9-2266-8AB9595D88F2}"/>
              </a:ext>
            </a:extLst>
          </p:cNvPr>
          <p:cNvSpPr txBox="1"/>
          <p:nvPr/>
        </p:nvSpPr>
        <p:spPr>
          <a:xfrm>
            <a:off x="9222391" y="742518"/>
            <a:ext cx="311338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Marketing strategy- Ads, sales team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Monetization: </a:t>
            </a:r>
          </a:p>
          <a:p>
            <a:r>
              <a:rPr lang="en-US" dirty="0"/>
              <a:t>	Setup fee </a:t>
            </a:r>
            <a:r>
              <a:rPr lang="en-US" dirty="0" err="1"/>
              <a:t>eg</a:t>
            </a:r>
            <a:r>
              <a:rPr lang="en-US" dirty="0"/>
              <a:t> 3k, 	consultation fee e.g. 500, 	maintenance fee e.g. 200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Timeline 1 month</a:t>
            </a:r>
          </a:p>
        </p:txBody>
      </p:sp>
      <p:pic>
        <p:nvPicPr>
          <p:cNvPr id="3074" name="Picture 2" descr="5 Non-Digital Marketing Strategies That Work - SkyFall Blue Ottawa. Website  design and digital marketing">
            <a:extLst>
              <a:ext uri="{FF2B5EF4-FFF2-40B4-BE49-F238E27FC236}">
                <a16:creationId xmlns:a16="http://schemas.microsoft.com/office/drawing/2014/main" id="{12CA33BC-65E6-6A16-A009-6CA119B23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3275" y="3316856"/>
            <a:ext cx="4763974" cy="3170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3682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2C0B2E1-0268-42EC-ABD3-94F81A05B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2256B4-48EA-40FC-BBC0-AA1EE6E00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E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D44BCCA-102D-4A9D-B1E4-2450CAF0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1F808E-D6DA-2833-13C5-77731477E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1" y="643467"/>
            <a:ext cx="6255026" cy="50540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8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Q &amp; 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77AF0A-E3E6-9BF1-0698-4E320DFA2C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70995" y="643467"/>
            <a:ext cx="3341488" cy="50540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cap="all" spc="200" dirty="0">
                <a:solidFill>
                  <a:schemeClr val="tx2"/>
                </a:solidFill>
                <a:latin typeface="+mj-lt"/>
              </a:rPr>
              <a:t>Questions?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9525C9A-1972-4836-BA7A-706C946E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391367"/>
            <a:ext cx="0" cy="355820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A549DE7-671D-4575-AF43-858FD999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2D9B36-9BE7-472B-8808-7E0D68107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40942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624143-8FB4-6431-44AB-F78D789C7D2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" y="6404950"/>
            <a:ext cx="354030" cy="3605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1DE2D5-3286-ADB8-4298-3F5111F32A4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6254" y="6396768"/>
            <a:ext cx="794874" cy="411464"/>
          </a:xfrm>
          <a:prstGeom prst="rect">
            <a:avLst/>
          </a:prstGeom>
        </p:spPr>
      </p:pic>
      <p:pic>
        <p:nvPicPr>
          <p:cNvPr id="5" name="Picture 4" descr="A close-up of a logo&#10;&#10;Description automatically generated">
            <a:extLst>
              <a:ext uri="{FF2B5EF4-FFF2-40B4-BE49-F238E27FC236}">
                <a16:creationId xmlns:a16="http://schemas.microsoft.com/office/drawing/2014/main" id="{D73191A6-00CF-B394-B82F-A1C031FD9C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26" y="374747"/>
            <a:ext cx="2457201" cy="835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8652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6">
      <a:dk1>
        <a:srgbClr val="000000"/>
      </a:dk1>
      <a:lt1>
        <a:sysClr val="window" lastClr="FFFFFF"/>
      </a:lt1>
      <a:dk2>
        <a:srgbClr val="BC5308"/>
      </a:dk2>
      <a:lt2>
        <a:srgbClr val="8AA79F"/>
      </a:lt2>
      <a:accent1>
        <a:srgbClr val="15616D"/>
      </a:accent1>
      <a:accent2>
        <a:srgbClr val="8AA79F"/>
      </a:accent2>
      <a:accent3>
        <a:srgbClr val="C5CAB8"/>
      </a:accent3>
      <a:accent4>
        <a:srgbClr val="FF7D00"/>
      </a:accent4>
      <a:accent5>
        <a:srgbClr val="BC5308"/>
      </a:accent5>
      <a:accent6>
        <a:srgbClr val="78290F"/>
      </a:accent6>
      <a:hlink>
        <a:srgbClr val="FFECD1"/>
      </a:hlink>
      <a:folHlink>
        <a:srgbClr val="001524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397</TotalTime>
  <Words>326</Words>
  <Application>Microsoft Office PowerPoint</Application>
  <PresentationFormat>Widescreen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Wingdings</vt:lpstr>
      <vt:lpstr>Retrospect</vt:lpstr>
      <vt:lpstr>Aesops Consulting</vt:lpstr>
      <vt:lpstr>A three pronged approach </vt:lpstr>
      <vt:lpstr>Approach 2: </vt:lpstr>
      <vt:lpstr>Approach 1: </vt:lpstr>
      <vt:lpstr>Approach 3: </vt:lpstr>
      <vt:lpstr>Considerations: 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Kamau Kamau</dc:creator>
  <cp:lastModifiedBy>Kamau Kamau</cp:lastModifiedBy>
  <cp:revision>19</cp:revision>
  <dcterms:created xsi:type="dcterms:W3CDTF">2023-09-12T11:22:30Z</dcterms:created>
  <dcterms:modified xsi:type="dcterms:W3CDTF">2024-01-31T14:45:35Z</dcterms:modified>
</cp:coreProperties>
</file>