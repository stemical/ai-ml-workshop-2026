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79" r:id="rId3"/>
    <p:sldId id="263" r:id="rId4"/>
    <p:sldId id="264" r:id="rId5"/>
    <p:sldId id="268" r:id="rId6"/>
    <p:sldId id="280" r:id="rId7"/>
    <p:sldId id="281" r:id="rId8"/>
    <p:sldId id="271" r:id="rId9"/>
    <p:sldId id="265" r:id="rId10"/>
    <p:sldId id="282" r:id="rId11"/>
    <p:sldId id="270" r:id="rId12"/>
    <p:sldId id="277" r:id="rId13"/>
    <p:sldId id="260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65" autoAdjust="0"/>
    <p:restoredTop sz="94660"/>
  </p:normalViewPr>
  <p:slideViewPr>
    <p:cSldViewPr snapToGrid="0">
      <p:cViewPr>
        <p:scale>
          <a:sx n="77" d="100"/>
          <a:sy n="77" d="100"/>
        </p:scale>
        <p:origin x="112" y="-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06679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6093511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62739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9512770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42328106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3740189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K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0723696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6717252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7760919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21494830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</p:spTree>
    <p:extLst>
      <p:ext uri="{BB962C8B-B14F-4D97-AF65-F5344CB8AC3E}">
        <p14:creationId xmlns:p14="http://schemas.microsoft.com/office/powerpoint/2010/main" val="10263684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2A755947-D7FE-4306-BA8A-6A7705032833}" type="datetimeFigureOut">
              <a:rPr lang="en-KE" smtClean="0"/>
              <a:t>03/22/2026</a:t>
            </a:fld>
            <a:endParaRPr lang="en-K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K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FD3EEBF7-346C-48DF-B636-7B62F2CE8EB4}" type="slidenum">
              <a:rPr lang="en-KE" smtClean="0"/>
              <a:t>‹#›</a:t>
            </a:fld>
            <a:endParaRPr lang="en-KE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2000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9">
            <a:extLst>
              <a:ext uri="{FF2B5EF4-FFF2-40B4-BE49-F238E27FC236}">
                <a16:creationId xmlns:a16="http://schemas.microsoft.com/office/drawing/2014/main" id="{EB1836F0-F9E0-4D93-9BDD-7EEC6EA05F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25C14E0-76D5-15C8-3B21-ABAB15F79E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78926" y="461513"/>
            <a:ext cx="11189388" cy="368601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Short Course On Machine Learning and AI</a:t>
            </a:r>
            <a:br>
              <a:rPr lang="en-US" dirty="0"/>
            </a:br>
            <a:r>
              <a:rPr lang="en-US" dirty="0"/>
              <a:t>2026</a:t>
            </a:r>
            <a:endParaRPr lang="en-K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E0A7EF-E25D-2618-B40B-612B188832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22653" y="4574328"/>
            <a:ext cx="6269347" cy="1238616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tx1">
                    <a:lumMod val="85000"/>
                    <a:lumOff val="15000"/>
                  </a:schemeClr>
                </a:solidFill>
              </a:rPr>
              <a:t>John Kamau</a:t>
            </a:r>
            <a:endParaRPr lang="en-KE" b="1" dirty="0">
              <a:solidFill>
                <a:schemeClr val="tx1">
                  <a:lumMod val="85000"/>
                  <a:lumOff val="15000"/>
                </a:schemeClr>
              </a:solidFill>
            </a:endParaRPr>
          </a:p>
        </p:txBody>
      </p:sp>
      <p:cxnSp>
        <p:nvCxnSpPr>
          <p:cNvPr id="19" name="Straight Connector 11">
            <a:extLst>
              <a:ext uri="{FF2B5EF4-FFF2-40B4-BE49-F238E27FC236}">
                <a16:creationId xmlns:a16="http://schemas.microsoft.com/office/drawing/2014/main" id="{7A49EFD3-A806-4D59-99F1-AA9AFAE4EF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071" y="4343400"/>
            <a:ext cx="5636107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3">
            <a:extLst>
              <a:ext uri="{FF2B5EF4-FFF2-40B4-BE49-F238E27FC236}">
                <a16:creationId xmlns:a16="http://schemas.microsoft.com/office/drawing/2014/main" id="{6D2F28D1-82F9-40FE-935C-85ECF7660D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KE"/>
          </a:p>
        </p:txBody>
      </p:sp>
      <p:sp>
        <p:nvSpPr>
          <p:cNvPr id="21" name="Rectangle 15">
            <a:extLst>
              <a:ext uri="{FF2B5EF4-FFF2-40B4-BE49-F238E27FC236}">
                <a16:creationId xmlns:a16="http://schemas.microsoft.com/office/drawing/2014/main" id="{4B670E93-2F53-48FC-AB6C-E99E22D17F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K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080B922-5418-5FB0-E6C7-80EB57E4D06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72" y="6400800"/>
            <a:ext cx="396109" cy="4033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554284-03BD-5CA0-8E68-3BA4882524AF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16254" y="6396768"/>
            <a:ext cx="794874" cy="4114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5551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Natural Language Processing — Overview</a:t>
            </a:r>
          </a:p>
        </p:txBody>
      </p:sp>
      <p:sp>
        <p:nvSpPr>
          <p:cNvPr id="10" name="TB10"/>
          <p:cNvSpPr txBox="1">
            <a:spLocks noGrp="1"/>
          </p:cNvSpPr>
          <p:nvPr/>
        </p:nvSpPr>
        <p:spPr>
          <a:xfrm>
            <a:off x="457200" y="950000"/>
            <a:ext cx="112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600" b="1" dirty="0">
                <a:solidFill>
                  <a:srgbClr val="15616D"/>
                </a:solidFill>
                <a:latin typeface="Trebuchet MS"/>
              </a:rPr>
              <a:t>Teaching machines to read, understand, and generate human language</a:t>
            </a:r>
          </a:p>
        </p:txBody>
      </p:sp>
      <p:sp>
        <p:nvSpPr>
          <p:cNvPr id="11" name="RC11"/>
          <p:cNvSpPr txBox="1">
            <a:spLocks noGrp="1"/>
          </p:cNvSpPr>
          <p:nvPr/>
        </p:nvSpPr>
        <p:spPr>
          <a:xfrm>
            <a:off x="457200" y="1500000"/>
            <a:ext cx="2600000" cy="1600000"/>
          </a:xfrm>
          <a:prstGeom prst="roundRect">
            <a:avLst>
              <a:gd name="adj" fmla="val 16667"/>
            </a:avLst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Trebuchet MS"/>
              </a:rPr>
              <a:t>NLP</a:t>
            </a:r>
          </a:p>
          <a:p>
            <a:pPr algn="ctr"/>
            <a:r>
              <a:rPr lang="en-US" sz="1100" b="0" dirty="0">
                <a:solidFill>
                  <a:srgbClr val="C5CAB8"/>
                </a:solidFill>
                <a:latin typeface="Calibri"/>
              </a:rPr>
              <a:t>Natural Language Processing</a:t>
            </a:r>
          </a:p>
        </p:txBody>
      </p:sp>
      <p:sp>
        <p:nvSpPr>
          <p:cNvPr id="12" name="RC12"/>
          <p:cNvSpPr txBox="1">
            <a:spLocks noGrp="1"/>
          </p:cNvSpPr>
          <p:nvPr/>
        </p:nvSpPr>
        <p:spPr>
          <a:xfrm>
            <a:off x="3250000" y="1500000"/>
            <a:ext cx="2600000" cy="1600000"/>
          </a:xfrm>
          <a:prstGeom prst="roundRect">
            <a:avLst>
              <a:gd name="adj" fmla="val 16667"/>
            </a:avLst>
          </a:prstGeom>
          <a:solidFill>
            <a:srgbClr val="BC5308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Trebuchet MS"/>
              </a:rPr>
              <a:t>500B+</a:t>
            </a:r>
          </a:p>
          <a:p>
            <a:pPr algn="ctr"/>
            <a:r>
              <a:rPr lang="en-US" sz="1100" b="0" dirty="0">
                <a:solidFill>
                  <a:srgbClr val="C5CAB8"/>
                </a:solidFill>
                <a:latin typeface="Calibri"/>
              </a:rPr>
              <a:t>Words in GPT-3 training data</a:t>
            </a:r>
          </a:p>
        </p:txBody>
      </p:sp>
      <p:sp>
        <p:nvSpPr>
          <p:cNvPr id="13" name="RC13"/>
          <p:cNvSpPr txBox="1">
            <a:spLocks noGrp="1"/>
          </p:cNvSpPr>
          <p:nvPr/>
        </p:nvSpPr>
        <p:spPr>
          <a:xfrm>
            <a:off x="6050000" y="1500000"/>
            <a:ext cx="2600000" cy="1600000"/>
          </a:xfrm>
          <a:prstGeom prst="roundRect">
            <a:avLst>
              <a:gd name="adj" fmla="val 16667"/>
            </a:avLst>
          </a:prstGeom>
          <a:solidFill>
            <a:srgbClr val="FF7D00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4000" b="1" dirty="0">
                <a:solidFill>
                  <a:srgbClr val="001524"/>
                </a:solidFill>
                <a:latin typeface="Trebuchet MS"/>
              </a:rPr>
              <a:t>7,000+</a:t>
            </a:r>
          </a:p>
          <a:p>
            <a:pPr algn="ctr"/>
            <a:r>
              <a:rPr lang="en-US" sz="1100" b="0" dirty="0">
                <a:solidFill>
                  <a:srgbClr val="001524"/>
                </a:solidFill>
                <a:latin typeface="Calibri"/>
              </a:rPr>
              <a:t>Languages in the world — AI handles 100+</a:t>
            </a:r>
          </a:p>
        </p:txBody>
      </p:sp>
      <p:sp>
        <p:nvSpPr>
          <p:cNvPr id="14" name="RC14"/>
          <p:cNvSpPr txBox="1">
            <a:spLocks noGrp="1"/>
          </p:cNvSpPr>
          <p:nvPr/>
        </p:nvSpPr>
        <p:spPr>
          <a:xfrm>
            <a:off x="8850000" y="1500000"/>
            <a:ext cx="2900000" cy="1600000"/>
          </a:xfrm>
          <a:prstGeom prst="roundRect">
            <a:avLst>
              <a:gd name="adj" fmla="val 16667"/>
            </a:avLst>
          </a:prstGeom>
          <a:solidFill>
            <a:srgbClr val="8AA79F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4000" b="1" dirty="0">
                <a:solidFill>
                  <a:srgbClr val="001524"/>
                </a:solidFill>
                <a:latin typeface="Trebuchet MS"/>
              </a:rPr>
              <a:t>50%+</a:t>
            </a:r>
          </a:p>
          <a:p>
            <a:pPr algn="ctr"/>
            <a:r>
              <a:rPr lang="en-US" sz="1100" b="0" dirty="0">
                <a:solidFill>
                  <a:srgbClr val="001524"/>
                </a:solidFill>
                <a:latin typeface="Calibri"/>
              </a:rPr>
              <a:t>Fortune 500 using NLP in products</a:t>
            </a:r>
          </a:p>
        </p:txBody>
      </p:sp>
      <p:sp>
        <p:nvSpPr>
          <p:cNvPr id="20" name="TB20"/>
          <p:cNvSpPr txBox="1">
            <a:spLocks noGrp="1"/>
          </p:cNvSpPr>
          <p:nvPr/>
        </p:nvSpPr>
        <p:spPr>
          <a:xfrm>
            <a:off x="457200" y="3300000"/>
            <a:ext cx="112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15616D"/>
                </a:solidFill>
                <a:latin typeface="Trebuchet MS"/>
              </a:rPr>
              <a:t>Core NLP Tasks</a:t>
            </a:r>
          </a:p>
        </p:txBody>
      </p:sp>
      <p:sp>
        <p:nvSpPr>
          <p:cNvPr id="21" name="BL21"/>
          <p:cNvSpPr txBox="1">
            <a:spLocks noGrp="1"/>
          </p:cNvSpPr>
          <p:nvPr/>
        </p:nvSpPr>
        <p:spPr>
          <a:xfrm>
            <a:off x="457200" y="3800000"/>
            <a:ext cx="3500000" cy="2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BC5308"/>
                </a:solidFill>
                <a:latin typeface="Trebuchet MS"/>
              </a:rPr>
              <a:t>Text Classification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Spam detection, news categorization, sentiment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BC5308"/>
                </a:solidFill>
                <a:latin typeface="Trebuchet MS"/>
              </a:rPr>
              <a:t>Named Entity Recognition (NER)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Identify people, places, orgs in text</a:t>
            </a:r>
          </a:p>
        </p:txBody>
      </p:sp>
      <p:sp>
        <p:nvSpPr>
          <p:cNvPr id="22" name="BL22"/>
          <p:cNvSpPr txBox="1">
            <a:spLocks noGrp="1"/>
          </p:cNvSpPr>
          <p:nvPr/>
        </p:nvSpPr>
        <p:spPr>
          <a:xfrm>
            <a:off x="4150000" y="3800000"/>
            <a:ext cx="3500000" cy="2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15616D"/>
                </a:solidFill>
                <a:latin typeface="Trebuchet MS"/>
              </a:rPr>
              <a:t>Machine Translation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Google Translate, DeepL — cross-language understanding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15616D"/>
                </a:solidFill>
                <a:latin typeface="Trebuchet MS"/>
              </a:rPr>
              <a:t>Sentiment Analysis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Positive/negative/neutral — used in brand monitoring</a:t>
            </a:r>
          </a:p>
        </p:txBody>
      </p:sp>
      <p:sp>
        <p:nvSpPr>
          <p:cNvPr id="23" name="BL23"/>
          <p:cNvSpPr txBox="1">
            <a:spLocks noGrp="1"/>
          </p:cNvSpPr>
          <p:nvPr/>
        </p:nvSpPr>
        <p:spPr>
          <a:xfrm>
            <a:off x="7900000" y="3800000"/>
            <a:ext cx="3800000" cy="2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8AA79F"/>
                </a:solidFill>
                <a:latin typeface="Trebuchet MS"/>
              </a:rPr>
              <a:t>Summarization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Extract key points from long documents automatically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8AA79F"/>
                </a:solidFill>
                <a:latin typeface="Trebuchet MS"/>
              </a:rPr>
              <a:t>Question Answering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Chatbots, search engines, virtual assistants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NLP — Text to Numbers: The Pipeline</a:t>
            </a:r>
          </a:p>
        </p:txBody>
      </p:sp>
      <p:sp>
        <p:nvSpPr>
          <p:cNvPr id="10" name="TB10"/>
          <p:cNvSpPr txBox="1">
            <a:spLocks noGrp="1"/>
          </p:cNvSpPr>
          <p:nvPr/>
        </p:nvSpPr>
        <p:spPr>
          <a:xfrm>
            <a:off x="457200" y="950000"/>
            <a:ext cx="112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400" b="0" dirty="0">
                <a:solidFill>
                  <a:srgbClr val="555555"/>
                </a:solidFill>
                <a:latin typeface="Calibri"/>
              </a:rPr>
              <a:t>Computers can't read text — we convert it to numbers first</a:t>
            </a:r>
          </a:p>
        </p:txBody>
      </p:sp>
      <p:sp>
        <p:nvSpPr>
          <p:cNvPr id="11" name="CB11"/>
          <p:cNvSpPr>
            <a:spLocks noGrp="1"/>
          </p:cNvSpPr>
          <p:nvPr/>
        </p:nvSpPr>
        <p:spPr>
          <a:xfrm>
            <a:off x="457200" y="1450000"/>
            <a:ext cx="1600000" cy="65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2" name="TB12"/>
          <p:cNvSpPr txBox="1">
            <a:spLocks noGrp="1"/>
          </p:cNvSpPr>
          <p:nvPr/>
        </p:nvSpPr>
        <p:spPr>
          <a:xfrm>
            <a:off x="457200" y="1480000"/>
            <a:ext cx="1600000" cy="5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Calibri"/>
              </a:rPr>
              <a:t>Raw Text</a:t>
            </a:r>
          </a:p>
        </p:txBody>
      </p:sp>
      <p:sp>
        <p:nvSpPr>
          <p:cNvPr id="13" name="TB13"/>
          <p:cNvSpPr txBox="1">
            <a:spLocks noGrp="1"/>
          </p:cNvSpPr>
          <p:nvPr/>
        </p:nvSpPr>
        <p:spPr>
          <a:xfrm>
            <a:off x="2200000" y="1650000"/>
            <a:ext cx="4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2400" b="1" dirty="0">
                <a:solidFill>
                  <a:srgbClr val="15616D"/>
                </a:solidFill>
                <a:latin typeface="Calibri"/>
              </a:rPr>
              <a:t>-&gt;</a:t>
            </a:r>
          </a:p>
        </p:txBody>
      </p:sp>
      <p:sp>
        <p:nvSpPr>
          <p:cNvPr id="14" name="CB14"/>
          <p:cNvSpPr>
            <a:spLocks noGrp="1"/>
          </p:cNvSpPr>
          <p:nvPr/>
        </p:nvSpPr>
        <p:spPr>
          <a:xfrm>
            <a:off x="2700000" y="1450000"/>
            <a:ext cx="1600000" cy="650000"/>
          </a:xfrm>
          <a:prstGeom prst="rect">
            <a:avLst/>
          </a:prstGeom>
          <a:solidFill>
            <a:srgbClr val="BC5308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5" name="TB15"/>
          <p:cNvSpPr txBox="1">
            <a:spLocks noGrp="1"/>
          </p:cNvSpPr>
          <p:nvPr/>
        </p:nvSpPr>
        <p:spPr>
          <a:xfrm>
            <a:off x="2700000" y="1480000"/>
            <a:ext cx="1600000" cy="5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Calibri"/>
              </a:rPr>
              <a:t>Tokenize</a:t>
            </a:r>
          </a:p>
        </p:txBody>
      </p:sp>
      <p:sp>
        <p:nvSpPr>
          <p:cNvPr id="16" name="TB16"/>
          <p:cNvSpPr txBox="1">
            <a:spLocks noGrp="1"/>
          </p:cNvSpPr>
          <p:nvPr/>
        </p:nvSpPr>
        <p:spPr>
          <a:xfrm>
            <a:off x="4450000" y="1650000"/>
            <a:ext cx="4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2400" b="1" dirty="0">
                <a:solidFill>
                  <a:srgbClr val="15616D"/>
                </a:solidFill>
                <a:latin typeface="Calibri"/>
              </a:rPr>
              <a:t>-&gt;</a:t>
            </a:r>
          </a:p>
        </p:txBody>
      </p:sp>
      <p:sp>
        <p:nvSpPr>
          <p:cNvPr id="17" name="CB17"/>
          <p:cNvSpPr>
            <a:spLocks noGrp="1"/>
          </p:cNvSpPr>
          <p:nvPr/>
        </p:nvSpPr>
        <p:spPr>
          <a:xfrm>
            <a:off x="4950000" y="1450000"/>
            <a:ext cx="1600000" cy="650000"/>
          </a:xfrm>
          <a:prstGeom prst="rect">
            <a:avLst/>
          </a:prstGeom>
          <a:solidFill>
            <a:srgbClr val="FF7D00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8" name="TB18"/>
          <p:cNvSpPr txBox="1">
            <a:spLocks noGrp="1"/>
          </p:cNvSpPr>
          <p:nvPr/>
        </p:nvSpPr>
        <p:spPr>
          <a:xfrm>
            <a:off x="4950000" y="1480000"/>
            <a:ext cx="1600000" cy="5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Calibri"/>
              </a:rPr>
              <a:t>Clean</a:t>
            </a:r>
          </a:p>
        </p:txBody>
      </p:sp>
      <p:sp>
        <p:nvSpPr>
          <p:cNvPr id="19" name="TB19"/>
          <p:cNvSpPr txBox="1">
            <a:spLocks noGrp="1"/>
          </p:cNvSpPr>
          <p:nvPr/>
        </p:nvSpPr>
        <p:spPr>
          <a:xfrm>
            <a:off x="6700000" y="1650000"/>
            <a:ext cx="4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2400" b="1" dirty="0">
                <a:solidFill>
                  <a:srgbClr val="15616D"/>
                </a:solidFill>
                <a:latin typeface="Calibri"/>
              </a:rPr>
              <a:t>-&gt;</a:t>
            </a:r>
          </a:p>
        </p:txBody>
      </p:sp>
      <p:sp>
        <p:nvSpPr>
          <p:cNvPr id="20" name="CB20"/>
          <p:cNvSpPr>
            <a:spLocks noGrp="1"/>
          </p:cNvSpPr>
          <p:nvPr/>
        </p:nvSpPr>
        <p:spPr>
          <a:xfrm>
            <a:off x="7200000" y="1450000"/>
            <a:ext cx="1600000" cy="650000"/>
          </a:xfrm>
          <a:prstGeom prst="rect">
            <a:avLst/>
          </a:prstGeom>
          <a:solidFill>
            <a:srgbClr val="8AA79F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TB21"/>
          <p:cNvSpPr txBox="1">
            <a:spLocks noGrp="1"/>
          </p:cNvSpPr>
          <p:nvPr/>
        </p:nvSpPr>
        <p:spPr>
          <a:xfrm>
            <a:off x="7200000" y="1480000"/>
            <a:ext cx="1600000" cy="5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Calibri"/>
              </a:rPr>
              <a:t>Vectorize</a:t>
            </a:r>
          </a:p>
        </p:txBody>
      </p:sp>
      <p:sp>
        <p:nvSpPr>
          <p:cNvPr id="22" name="TB22"/>
          <p:cNvSpPr txBox="1">
            <a:spLocks noGrp="1"/>
          </p:cNvSpPr>
          <p:nvPr/>
        </p:nvSpPr>
        <p:spPr>
          <a:xfrm>
            <a:off x="8950000" y="1650000"/>
            <a:ext cx="4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2400" b="1" dirty="0">
                <a:solidFill>
                  <a:srgbClr val="15616D"/>
                </a:solidFill>
                <a:latin typeface="Calibri"/>
              </a:rPr>
              <a:t>-&gt;</a:t>
            </a:r>
          </a:p>
        </p:txBody>
      </p:sp>
      <p:sp>
        <p:nvSpPr>
          <p:cNvPr id="23" name="CB23"/>
          <p:cNvSpPr>
            <a:spLocks noGrp="1"/>
          </p:cNvSpPr>
          <p:nvPr/>
        </p:nvSpPr>
        <p:spPr>
          <a:xfrm>
            <a:off x="9450000" y="1450000"/>
            <a:ext cx="2300000" cy="65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TB24"/>
          <p:cNvSpPr txBox="1">
            <a:spLocks noGrp="1"/>
          </p:cNvSpPr>
          <p:nvPr/>
        </p:nvSpPr>
        <p:spPr>
          <a:xfrm>
            <a:off x="9450000" y="1480000"/>
            <a:ext cx="2300000" cy="58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400" b="1" dirty="0">
                <a:solidFill>
                  <a:srgbClr val="FFFFFF"/>
                </a:solidFill>
                <a:latin typeface="Calibri"/>
              </a:rPr>
              <a:t>ML Model</a:t>
            </a:r>
          </a:p>
        </p:txBody>
      </p:sp>
      <p:sp>
        <p:nvSpPr>
          <p:cNvPr id="30" name="TB30"/>
          <p:cNvSpPr txBox="1">
            <a:spLocks noGrp="1"/>
          </p:cNvSpPr>
          <p:nvPr/>
        </p:nvSpPr>
        <p:spPr>
          <a:xfrm>
            <a:off x="457200" y="2350000"/>
            <a:ext cx="112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15616D"/>
                </a:solidFill>
                <a:latin typeface="Trebuchet MS"/>
              </a:rPr>
              <a:t>Three Ways to Turn Text into Numbers</a:t>
            </a:r>
          </a:p>
        </p:txBody>
      </p:sp>
      <p:sp>
        <p:nvSpPr>
          <p:cNvPr id="31" name="CB31"/>
          <p:cNvSpPr>
            <a:spLocks noGrp="1"/>
          </p:cNvSpPr>
          <p:nvPr/>
        </p:nvSpPr>
        <p:spPr>
          <a:xfrm>
            <a:off x="457200" y="2850000"/>
            <a:ext cx="3500000" cy="3200000"/>
          </a:xfrm>
          <a:prstGeom prst="rect">
            <a:avLst/>
          </a:prstGeom>
          <a:solidFill>
            <a:srgbClr val="F0F8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2" name="TB32"/>
          <p:cNvSpPr txBox="1">
            <a:spLocks noGrp="1"/>
          </p:cNvSpPr>
          <p:nvPr/>
        </p:nvSpPr>
        <p:spPr>
          <a:xfrm>
            <a:off x="600000" y="2950000"/>
            <a:ext cx="3200000" cy="45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600" b="1" dirty="0">
                <a:solidFill>
                  <a:srgbClr val="15616D"/>
                </a:solidFill>
                <a:latin typeface="Calibri"/>
              </a:rPr>
              <a:t>Bag of Words (BoW)</a:t>
            </a:r>
          </a:p>
        </p:txBody>
      </p:sp>
      <p:sp>
        <p:nvSpPr>
          <p:cNvPr id="33" name="BL33"/>
          <p:cNvSpPr txBox="1">
            <a:spLocks noGrp="1"/>
          </p:cNvSpPr>
          <p:nvPr/>
        </p:nvSpPr>
        <p:spPr>
          <a:xfrm>
            <a:off x="600000" y="3450000"/>
            <a:ext cx="3200000" cy="2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Count how many times each word appears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Creates a word frequency vector per document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BC5308"/>
                </a:solidFill>
                <a:latin typeface="Calibri"/>
              </a:rPr>
              <a:t>Simple but loses word order and context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Good for: spam filtering, topic classification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15616D"/>
                </a:solidFill>
                <a:latin typeface="Calibri"/>
              </a:rPr>
              <a:t>Tool: CountVectorizer, TfidfVectorizer</a:t>
            </a:r>
          </a:p>
        </p:txBody>
      </p:sp>
      <p:sp>
        <p:nvSpPr>
          <p:cNvPr id="34" name="CB34"/>
          <p:cNvSpPr>
            <a:spLocks noGrp="1"/>
          </p:cNvSpPr>
          <p:nvPr/>
        </p:nvSpPr>
        <p:spPr>
          <a:xfrm>
            <a:off x="4150000" y="2850000"/>
            <a:ext cx="3500000" cy="3200000"/>
          </a:xfrm>
          <a:prstGeom prst="rect">
            <a:avLst/>
          </a:prstGeom>
          <a:solidFill>
            <a:srgbClr val="FFF5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5" name="TB35"/>
          <p:cNvSpPr txBox="1">
            <a:spLocks noGrp="1"/>
          </p:cNvSpPr>
          <p:nvPr/>
        </p:nvSpPr>
        <p:spPr>
          <a:xfrm>
            <a:off x="4300000" y="2950000"/>
            <a:ext cx="3200000" cy="45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600" b="1" dirty="0">
                <a:solidFill>
                  <a:srgbClr val="BC5308"/>
                </a:solidFill>
                <a:latin typeface="Calibri"/>
              </a:rPr>
              <a:t>TF-IDF</a:t>
            </a:r>
          </a:p>
        </p:txBody>
      </p:sp>
      <p:sp>
        <p:nvSpPr>
          <p:cNvPr id="36" name="BL36"/>
          <p:cNvSpPr txBox="1">
            <a:spLocks noGrp="1"/>
          </p:cNvSpPr>
          <p:nvPr/>
        </p:nvSpPr>
        <p:spPr>
          <a:xfrm>
            <a:off x="4300000" y="3450000"/>
            <a:ext cx="3200000" cy="2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Term Frequency x Inverse Document Frequency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Rewards words rare in corpus, penalizes common words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15616D"/>
                </a:solidFill>
                <a:latin typeface="Calibri"/>
              </a:rPr>
              <a:t>Better than raw BoW for most classification tasks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Good for: document search, article ranking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BC5308"/>
                </a:solidFill>
                <a:latin typeface="Calibri"/>
              </a:rPr>
              <a:t>Tool: TfidfVectorizer in scikit-learn</a:t>
            </a:r>
          </a:p>
        </p:txBody>
      </p:sp>
      <p:sp>
        <p:nvSpPr>
          <p:cNvPr id="37" name="CB37"/>
          <p:cNvSpPr>
            <a:spLocks noGrp="1"/>
          </p:cNvSpPr>
          <p:nvPr/>
        </p:nvSpPr>
        <p:spPr>
          <a:xfrm>
            <a:off x="7850000" y="2850000"/>
            <a:ext cx="3900000" cy="3200000"/>
          </a:xfrm>
          <a:prstGeom prst="rect">
            <a:avLst/>
          </a:prstGeom>
          <a:solidFill>
            <a:srgbClr val="0015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38" name="TB38"/>
          <p:cNvSpPr txBox="1">
            <a:spLocks noGrp="1"/>
          </p:cNvSpPr>
          <p:nvPr/>
        </p:nvSpPr>
        <p:spPr>
          <a:xfrm>
            <a:off x="8000000" y="2950000"/>
            <a:ext cx="3600000" cy="45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600" b="1" dirty="0">
                <a:solidFill>
                  <a:srgbClr val="FF7D00"/>
                </a:solidFill>
                <a:latin typeface="Calibri"/>
              </a:rPr>
              <a:t>Word Embeddings</a:t>
            </a:r>
          </a:p>
        </p:txBody>
      </p:sp>
      <p:sp>
        <p:nvSpPr>
          <p:cNvPr id="39" name="BL39"/>
          <p:cNvSpPr txBox="1">
            <a:spLocks noGrp="1"/>
          </p:cNvSpPr>
          <p:nvPr/>
        </p:nvSpPr>
        <p:spPr>
          <a:xfrm>
            <a:off x="8000000" y="3450000"/>
            <a:ext cx="3600000" cy="2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Dense vectors — similar words cluster in space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Word2Vec: 'king' - 'man' + 'woman' = 'queen'!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8AA79F"/>
                </a:solidFill>
                <a:latin typeface="Calibri"/>
              </a:rPr>
              <a:t>Captures semantic meaning and word relationships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Modern: BERT, sentence-transformers for context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1" dirty="0">
                <a:solidFill>
                  <a:srgbClr val="FF7D00"/>
                </a:solidFill>
                <a:latin typeface="Calibri"/>
              </a:rPr>
              <a:t>Tool: gensim, HuggingFace transformers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Bag of Words — Demo &amp; Hands-On</a:t>
            </a:r>
          </a:p>
        </p:txBody>
      </p:sp>
      <p:sp>
        <p:nvSpPr>
          <p:cNvPr id="10" name="CB10"/>
          <p:cNvSpPr>
            <a:spLocks noGrp="1"/>
          </p:cNvSpPr>
          <p:nvPr/>
        </p:nvSpPr>
        <p:spPr>
          <a:xfrm>
            <a:off x="457200" y="950000"/>
            <a:ext cx="5600000" cy="4200000"/>
          </a:xfrm>
          <a:prstGeom prst="rect">
            <a:avLst/>
          </a:prstGeom>
          <a:solidFill>
            <a:srgbClr val="0015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TB11"/>
          <p:cNvSpPr txBox="1">
            <a:spLocks noGrp="1"/>
          </p:cNvSpPr>
          <p:nvPr/>
        </p:nvSpPr>
        <p:spPr>
          <a:xfrm>
            <a:off x="600000" y="1000000"/>
            <a:ext cx="53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FF7D00"/>
                </a:solidFill>
                <a:latin typeface="Trebuchet MS"/>
              </a:rPr>
              <a:t>Session 2 Demo: Kenyan News Classifier</a:t>
            </a:r>
          </a:p>
        </p:txBody>
      </p:sp>
      <p:sp>
        <p:nvSpPr>
          <p:cNvPr id="12" name="BL12"/>
          <p:cNvSpPr txBox="1">
            <a:spLocks noGrp="1"/>
          </p:cNvSpPr>
          <p:nvPr/>
        </p:nvSpPr>
        <p:spPr>
          <a:xfrm>
            <a:off x="600000" y="1600000"/>
            <a:ext cx="5200000" cy="3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C5CAB8"/>
                </a:solidFill>
                <a:latin typeface="Calibri"/>
              </a:rPr>
              <a:t>Dataset: 500+ Kenyan news article headlines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C5CAB8"/>
                </a:solidFill>
                <a:latin typeface="Calibri"/>
              </a:rPr>
              <a:t>Categories: Politics, Technology, Sports, Environment, Business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3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8AA79F"/>
                </a:solidFill>
                <a:latin typeface="Trebuchet MS"/>
              </a:rPr>
              <a:t>Step 1: Vectorize with CountVectorizer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from sklearn.feature_extraction.text import CountVectorizer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vectorizer = CountVectorizer(stop_words='english')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X = vectorizer.fit_transform(articles)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8AA79F"/>
                </a:solidFill>
                <a:latin typeface="Trebuchet MS"/>
              </a:rPr>
              <a:t>Step 2: Train Naive Bayes Classifier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from sklearn.naive_bayes import MultinomialNB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model = MultinomialNB()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model.fit(X_train, y_train)</a:t>
            </a:r>
          </a:p>
        </p:txBody>
      </p:sp>
      <p:sp>
        <p:nvSpPr>
          <p:cNvPr id="20" name="CB20"/>
          <p:cNvSpPr>
            <a:spLocks noGrp="1"/>
          </p:cNvSpPr>
          <p:nvPr/>
        </p:nvSpPr>
        <p:spPr>
          <a:xfrm>
            <a:off x="6300000" y="950000"/>
            <a:ext cx="5450000" cy="42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TB21"/>
          <p:cNvSpPr txBox="1">
            <a:spLocks noGrp="1"/>
          </p:cNvSpPr>
          <p:nvPr/>
        </p:nvSpPr>
        <p:spPr>
          <a:xfrm>
            <a:off x="6500000" y="1000000"/>
            <a:ext cx="51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15616D"/>
                </a:solidFill>
                <a:latin typeface="Trebuchet MS"/>
              </a:rPr>
              <a:t>Why Naive Bayes for Text?</a:t>
            </a:r>
          </a:p>
        </p:txBody>
      </p:sp>
      <p:sp>
        <p:nvSpPr>
          <p:cNvPr id="22" name="BL22"/>
          <p:cNvSpPr txBox="1">
            <a:spLocks noGrp="1"/>
          </p:cNvSpPr>
          <p:nvPr/>
        </p:nvSpPr>
        <p:spPr>
          <a:xfrm>
            <a:off x="6500000" y="1600000"/>
            <a:ext cx="5100000" cy="22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Fast to train — handles thousands of features efficiently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Works surprisingly well on short text (SMS, headlines)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Good baseline before trying SVM or deep learning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Probabilistic: gives probability for each class</a:t>
            </a:r>
          </a:p>
        </p:txBody>
      </p:sp>
      <p:sp>
        <p:nvSpPr>
          <p:cNvPr id="30" name="TB30"/>
          <p:cNvSpPr txBox="1">
            <a:spLocks noGrp="1"/>
          </p:cNvSpPr>
          <p:nvPr/>
        </p:nvSpPr>
        <p:spPr>
          <a:xfrm>
            <a:off x="6500000" y="3900000"/>
            <a:ext cx="51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600" b="1" dirty="0">
                <a:solidFill>
                  <a:srgbClr val="BC5308"/>
                </a:solidFill>
                <a:latin typeface="Calibri"/>
              </a:rPr>
              <a:t>Expected Results</a:t>
            </a:r>
          </a:p>
        </p:txBody>
      </p:sp>
      <p:sp>
        <p:nvSpPr>
          <p:cNvPr id="31" name="BL31"/>
          <p:cNvSpPr txBox="1">
            <a:spLocks noGrp="1"/>
          </p:cNvSpPr>
          <p:nvPr/>
        </p:nvSpPr>
        <p:spPr>
          <a:xfrm>
            <a:off x="6500000" y="4450000"/>
            <a:ext cx="5100000" cy="6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Accuracy: ~75-85% on balanced Kenyan news dataset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Word Embeddings — Meaning in Space</a:t>
            </a:r>
          </a:p>
        </p:txBody>
      </p:sp>
      <p:sp>
        <p:nvSpPr>
          <p:cNvPr id="10" name="TB10"/>
          <p:cNvSpPr txBox="1">
            <a:spLocks noGrp="1"/>
          </p:cNvSpPr>
          <p:nvPr/>
        </p:nvSpPr>
        <p:spPr>
          <a:xfrm>
            <a:off x="457200" y="950000"/>
            <a:ext cx="112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400" b="0" dirty="0">
                <a:solidFill>
                  <a:srgbClr val="555555"/>
                </a:solidFill>
                <a:latin typeface="Calibri"/>
              </a:rPr>
              <a:t>Embeddings capture meaning — similar words have similar vectors</a:t>
            </a:r>
          </a:p>
        </p:txBody>
      </p:sp>
      <p:sp>
        <p:nvSpPr>
          <p:cNvPr id="11" name="RC11"/>
          <p:cNvSpPr txBox="1">
            <a:spLocks noGrp="1"/>
          </p:cNvSpPr>
          <p:nvPr/>
        </p:nvSpPr>
        <p:spPr>
          <a:xfrm>
            <a:off x="457200" y="1450000"/>
            <a:ext cx="2700000" cy="1800000"/>
          </a:xfrm>
          <a:prstGeom prst="roundRect">
            <a:avLst>
              <a:gd name="adj" fmla="val 16667"/>
            </a:avLst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Trebuchet MS"/>
              </a:rPr>
              <a:t>Word2Vec</a:t>
            </a:r>
          </a:p>
          <a:p>
            <a:pPr algn="ctr"/>
            <a:r>
              <a:rPr lang="en-US" sz="1100" b="0" dirty="0">
                <a:solidFill>
                  <a:srgbClr val="C5CAB8"/>
                </a:solidFill>
                <a:latin typeface="Calibri"/>
              </a:rPr>
              <a:t>Predicts words from context (2013, Google)</a:t>
            </a:r>
          </a:p>
        </p:txBody>
      </p:sp>
      <p:sp>
        <p:nvSpPr>
          <p:cNvPr id="12" name="RC12"/>
          <p:cNvSpPr txBox="1">
            <a:spLocks noGrp="1"/>
          </p:cNvSpPr>
          <p:nvPr/>
        </p:nvSpPr>
        <p:spPr>
          <a:xfrm>
            <a:off x="3350000" y="1450000"/>
            <a:ext cx="2700000" cy="1800000"/>
          </a:xfrm>
          <a:prstGeom prst="roundRect">
            <a:avLst>
              <a:gd name="adj" fmla="val 16667"/>
            </a:avLst>
          </a:prstGeom>
          <a:solidFill>
            <a:srgbClr val="BC5308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Trebuchet MS"/>
              </a:rPr>
              <a:t>GloVe</a:t>
            </a:r>
          </a:p>
          <a:p>
            <a:pPr algn="ctr"/>
            <a:r>
              <a:rPr lang="en-US" sz="1100" b="0" dirty="0">
                <a:solidFill>
                  <a:srgbClr val="C5CAB8"/>
                </a:solidFill>
                <a:latin typeface="Calibri"/>
              </a:rPr>
              <a:t>Global word co-occurrence statistics</a:t>
            </a:r>
          </a:p>
        </p:txBody>
      </p:sp>
      <p:sp>
        <p:nvSpPr>
          <p:cNvPr id="13" name="RC13"/>
          <p:cNvSpPr txBox="1">
            <a:spLocks noGrp="1"/>
          </p:cNvSpPr>
          <p:nvPr/>
        </p:nvSpPr>
        <p:spPr>
          <a:xfrm>
            <a:off x="6250000" y="1450000"/>
            <a:ext cx="2700000" cy="1800000"/>
          </a:xfrm>
          <a:prstGeom prst="roundRect">
            <a:avLst>
              <a:gd name="adj" fmla="val 16667"/>
            </a:avLst>
          </a:prstGeom>
          <a:solidFill>
            <a:srgbClr val="FF7D00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4000" b="1" dirty="0">
                <a:solidFill>
                  <a:srgbClr val="001524"/>
                </a:solidFill>
                <a:latin typeface="Trebuchet MS"/>
              </a:rPr>
              <a:t>BERT</a:t>
            </a:r>
          </a:p>
          <a:p>
            <a:pPr algn="ctr"/>
            <a:r>
              <a:rPr lang="en-US" sz="1100" b="0" dirty="0">
                <a:solidFill>
                  <a:srgbClr val="001524"/>
                </a:solidFill>
                <a:latin typeface="Calibri"/>
              </a:rPr>
              <a:t>Bidirectional context (2018, Google)</a:t>
            </a:r>
          </a:p>
        </p:txBody>
      </p:sp>
      <p:sp>
        <p:nvSpPr>
          <p:cNvPr id="14" name="RC14"/>
          <p:cNvSpPr txBox="1">
            <a:spLocks noGrp="1"/>
          </p:cNvSpPr>
          <p:nvPr/>
        </p:nvSpPr>
        <p:spPr>
          <a:xfrm>
            <a:off x="9150000" y="1450000"/>
            <a:ext cx="2600000" cy="1800000"/>
          </a:xfrm>
          <a:prstGeom prst="roundRect">
            <a:avLst>
              <a:gd name="adj" fmla="val 16667"/>
            </a:avLst>
          </a:prstGeom>
          <a:solidFill>
            <a:srgbClr val="8AA79F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4000" b="1" dirty="0">
                <a:solidFill>
                  <a:srgbClr val="001524"/>
                </a:solidFill>
                <a:latin typeface="Trebuchet MS"/>
              </a:rPr>
              <a:t>Sentence Transformers</a:t>
            </a:r>
          </a:p>
          <a:p>
            <a:pPr algn="ctr"/>
            <a:r>
              <a:rPr lang="en-US" sz="1100" b="0" dirty="0">
                <a:solidFill>
                  <a:srgbClr val="001524"/>
                </a:solidFill>
                <a:latin typeface="Calibri"/>
              </a:rPr>
              <a:t>Semantic similarity for full sentences</a:t>
            </a:r>
          </a:p>
        </p:txBody>
      </p:sp>
      <p:sp>
        <p:nvSpPr>
          <p:cNvPr id="20" name="CB20"/>
          <p:cNvSpPr>
            <a:spLocks noGrp="1"/>
          </p:cNvSpPr>
          <p:nvPr/>
        </p:nvSpPr>
        <p:spPr>
          <a:xfrm>
            <a:off x="457200" y="3450000"/>
            <a:ext cx="5500000" cy="2700000"/>
          </a:xfrm>
          <a:prstGeom prst="rect">
            <a:avLst/>
          </a:prstGeom>
          <a:solidFill>
            <a:srgbClr val="F0F8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TB21"/>
          <p:cNvSpPr txBox="1">
            <a:spLocks noGrp="1"/>
          </p:cNvSpPr>
          <p:nvPr/>
        </p:nvSpPr>
        <p:spPr>
          <a:xfrm>
            <a:off x="600000" y="3550000"/>
            <a:ext cx="52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600" b="1" dirty="0">
                <a:solidFill>
                  <a:srgbClr val="15616D"/>
                </a:solidFill>
                <a:latin typeface="Calibri"/>
              </a:rPr>
              <a:t>The Famous Word2Vec Analogy</a:t>
            </a:r>
          </a:p>
        </p:txBody>
      </p:sp>
      <p:sp>
        <p:nvSpPr>
          <p:cNvPr id="22" name="BL22"/>
          <p:cNvSpPr txBox="1">
            <a:spLocks noGrp="1"/>
          </p:cNvSpPr>
          <p:nvPr/>
        </p:nvSpPr>
        <p:spPr>
          <a:xfrm>
            <a:off x="600000" y="4100000"/>
            <a:ext cx="5200000" cy="19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600" b="1" dirty="0">
                <a:solidFill>
                  <a:srgbClr val="BC5308"/>
                </a:solidFill>
                <a:latin typeface="Calibri"/>
              </a:rPr>
              <a:t>king - man + woman = queen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paris - france + italy = rome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Words are placed in 100-300 dimensional vector space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Cosine similarity measures how 'close' two words are in meaning</a:t>
            </a:r>
          </a:p>
        </p:txBody>
      </p:sp>
      <p:sp>
        <p:nvSpPr>
          <p:cNvPr id="23" name="CB23"/>
          <p:cNvSpPr>
            <a:spLocks noGrp="1"/>
          </p:cNvSpPr>
          <p:nvPr/>
        </p:nvSpPr>
        <p:spPr>
          <a:xfrm>
            <a:off x="6200000" y="3450000"/>
            <a:ext cx="5550000" cy="2700000"/>
          </a:xfrm>
          <a:prstGeom prst="rect">
            <a:avLst/>
          </a:prstGeom>
          <a:solidFill>
            <a:srgbClr val="0015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4" name="TB24"/>
          <p:cNvSpPr txBox="1">
            <a:spLocks noGrp="1"/>
          </p:cNvSpPr>
          <p:nvPr/>
        </p:nvSpPr>
        <p:spPr>
          <a:xfrm>
            <a:off x="6400000" y="3550000"/>
            <a:ext cx="51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600" b="1" dirty="0">
                <a:solidFill>
                  <a:srgbClr val="FF7D00"/>
                </a:solidFill>
                <a:latin typeface="Calibri"/>
              </a:rPr>
              <a:t>Real Applications in Kenya</a:t>
            </a:r>
          </a:p>
        </p:txBody>
      </p:sp>
      <p:sp>
        <p:nvSpPr>
          <p:cNvPr id="25" name="BL25"/>
          <p:cNvSpPr txBox="1">
            <a:spLocks noGrp="1"/>
          </p:cNvSpPr>
          <p:nvPr/>
        </p:nvSpPr>
        <p:spPr>
          <a:xfrm>
            <a:off x="6400000" y="4100000"/>
            <a:ext cx="5100000" cy="19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C5CAB8"/>
                </a:solidFill>
                <a:latin typeface="Calibri"/>
              </a:rPr>
              <a:t>Swahili NLP: Embeddings for local language processing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C5CAB8"/>
                </a:solidFill>
                <a:latin typeface="Calibri"/>
              </a:rPr>
              <a:t>Safaricom Zuri chatbot: sentence embeddings for customer queries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C5CAB8"/>
                </a:solidFill>
                <a:latin typeface="Calibri"/>
              </a:rPr>
              <a:t>Legal tech: finding similar court cases from case descriptions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C5CAB8"/>
                </a:solidFill>
                <a:latin typeface="Calibri"/>
              </a:rPr>
              <a:t>Agriculture: matching farmer queries to expert advice database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spaCy — Named Entity Recognition (NER)</a:t>
            </a:r>
          </a:p>
        </p:txBody>
      </p:sp>
      <p:sp>
        <p:nvSpPr>
          <p:cNvPr id="10" name="CB10"/>
          <p:cNvSpPr>
            <a:spLocks noGrp="1"/>
          </p:cNvSpPr>
          <p:nvPr/>
        </p:nvSpPr>
        <p:spPr>
          <a:xfrm>
            <a:off x="457200" y="950000"/>
            <a:ext cx="5600000" cy="4500000"/>
          </a:xfrm>
          <a:prstGeom prst="rect">
            <a:avLst/>
          </a:prstGeom>
          <a:solidFill>
            <a:srgbClr val="0015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TB11"/>
          <p:cNvSpPr txBox="1">
            <a:spLocks noGrp="1"/>
          </p:cNvSpPr>
          <p:nvPr/>
        </p:nvSpPr>
        <p:spPr>
          <a:xfrm>
            <a:off x="600000" y="1000000"/>
            <a:ext cx="52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FF7D00"/>
                </a:solidFill>
                <a:latin typeface="Trebuchet MS"/>
              </a:rPr>
              <a:t>What spaCy Can Extract</a:t>
            </a:r>
          </a:p>
        </p:txBody>
      </p:sp>
      <p:sp>
        <p:nvSpPr>
          <p:cNvPr id="12" name="BL12"/>
          <p:cNvSpPr txBox="1">
            <a:spLocks noGrp="1"/>
          </p:cNvSpPr>
          <p:nvPr/>
        </p:nvSpPr>
        <p:spPr>
          <a:xfrm>
            <a:off x="600000" y="1600000"/>
            <a:ext cx="5200000" cy="37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C5CAB8"/>
                </a:solidFill>
                <a:latin typeface="Calibri"/>
              </a:rPr>
              <a:t>PERSON — names of people (e.g. 'Peter Ndegwa', 'Uhuru Kenyatta')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C5CAB8"/>
                </a:solidFill>
                <a:latin typeface="Calibri"/>
              </a:rPr>
              <a:t>ORG — organizations (e.g. 'Safaricom', 'Nairobi Securities Exchange')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C5CAB8"/>
                </a:solidFill>
                <a:latin typeface="Calibri"/>
              </a:rPr>
              <a:t>GPE — geopolitical entities (e.g. 'Kenya', 'Nairobi', 'Mombasa')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C5CAB8"/>
                </a:solidFill>
                <a:latin typeface="Calibri"/>
              </a:rPr>
              <a:t>DATE — dates and time expressions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C5CAB8"/>
                </a:solidFill>
                <a:latin typeface="Calibri"/>
              </a:rPr>
              <a:t>MONEY — monetary values and currencies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3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8AA79F"/>
                </a:solidFill>
                <a:latin typeface="Trebuchet MS"/>
              </a:rPr>
              <a:t>Quick Start Code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import spacy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nlp = spacy.load('en_core_web_sm')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doc = nlp('Safaricom partnered with AWS in Nairobi, Kenya')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for ent in doc.ents: print(ent.text, ent.label_)</a:t>
            </a:r>
          </a:p>
        </p:txBody>
      </p:sp>
      <p:sp>
        <p:nvSpPr>
          <p:cNvPr id="20" name="CB20"/>
          <p:cNvSpPr>
            <a:spLocks noGrp="1"/>
          </p:cNvSpPr>
          <p:nvPr/>
        </p:nvSpPr>
        <p:spPr>
          <a:xfrm>
            <a:off x="6300000" y="950000"/>
            <a:ext cx="5450000" cy="45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TB21"/>
          <p:cNvSpPr txBox="1">
            <a:spLocks noGrp="1"/>
          </p:cNvSpPr>
          <p:nvPr/>
        </p:nvSpPr>
        <p:spPr>
          <a:xfrm>
            <a:off x="6500000" y="1000000"/>
            <a:ext cx="51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15616D"/>
                </a:solidFill>
                <a:latin typeface="Trebuchet MS"/>
              </a:rPr>
              <a:t>NER Use Cases in East Africa</a:t>
            </a:r>
          </a:p>
        </p:txBody>
      </p:sp>
      <p:sp>
        <p:nvSpPr>
          <p:cNvPr id="22" name="BL22"/>
          <p:cNvSpPr txBox="1">
            <a:spLocks noGrp="1"/>
          </p:cNvSpPr>
          <p:nvPr/>
        </p:nvSpPr>
        <p:spPr>
          <a:xfrm>
            <a:off x="6500000" y="1600000"/>
            <a:ext cx="5100000" cy="37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BC5308"/>
                </a:solidFill>
                <a:latin typeface="Trebuchet MS"/>
              </a:rPr>
              <a:t>News Monitoring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Track mentions of companies, politicians, locations in Kenyan news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Alert investors when their portfolio companies are mentioned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15616D"/>
                </a:solidFill>
                <a:latin typeface="Trebuchet MS"/>
              </a:rPr>
              <a:t>Financial Compliance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Extract party names from contracts and financial documents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Automated KYC — identify names and organizations in forms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8AA79F"/>
                </a:solidFill>
                <a:latin typeface="Trebuchet MS"/>
              </a:rPr>
              <a:t>Healthcare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Extract drug names, symptoms, diagnoses from patient notes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Digitize handwritten medical records at scale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AutoML — Machine Learning on Autopilot</a:t>
            </a:r>
          </a:p>
        </p:txBody>
      </p:sp>
      <p:sp>
        <p:nvSpPr>
          <p:cNvPr id="10" name="TB10"/>
          <p:cNvSpPr txBox="1">
            <a:spLocks noGrp="1"/>
          </p:cNvSpPr>
          <p:nvPr/>
        </p:nvSpPr>
        <p:spPr>
          <a:xfrm>
            <a:off x="457200" y="950000"/>
            <a:ext cx="112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400" b="0" dirty="0">
                <a:solidFill>
                  <a:srgbClr val="555555"/>
                </a:solidFill>
                <a:latin typeface="Calibri"/>
              </a:rPr>
              <a:t>AutoML automates model selection, hyperparameter tuning, and pipeline building</a:t>
            </a:r>
          </a:p>
        </p:txBody>
      </p:sp>
      <p:sp>
        <p:nvSpPr>
          <p:cNvPr id="11" name="RC11"/>
          <p:cNvSpPr txBox="1">
            <a:spLocks noGrp="1"/>
          </p:cNvSpPr>
          <p:nvPr/>
        </p:nvSpPr>
        <p:spPr>
          <a:xfrm>
            <a:off x="457200" y="1450000"/>
            <a:ext cx="2700000" cy="1800000"/>
          </a:xfrm>
          <a:prstGeom prst="roundRect">
            <a:avLst>
              <a:gd name="adj" fmla="val 16667"/>
            </a:avLst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Trebuchet MS"/>
              </a:rPr>
              <a:t>H2O AutoML</a:t>
            </a:r>
          </a:p>
          <a:p>
            <a:pPr algn="ctr"/>
            <a:r>
              <a:rPr lang="en-US" sz="1100" b="0" dirty="0">
                <a:solidFill>
                  <a:srgbClr val="C5CAB8"/>
                </a:solidFill>
                <a:latin typeface="Calibri"/>
              </a:rPr>
              <a:t>Open-source, production-grade, runs locally</a:t>
            </a:r>
          </a:p>
        </p:txBody>
      </p:sp>
      <p:sp>
        <p:nvSpPr>
          <p:cNvPr id="12" name="RC12"/>
          <p:cNvSpPr txBox="1">
            <a:spLocks noGrp="1"/>
          </p:cNvSpPr>
          <p:nvPr/>
        </p:nvSpPr>
        <p:spPr>
          <a:xfrm>
            <a:off x="3350000" y="1450000"/>
            <a:ext cx="2700000" cy="1800000"/>
          </a:xfrm>
          <a:prstGeom prst="roundRect">
            <a:avLst>
              <a:gd name="adj" fmla="val 16667"/>
            </a:avLst>
          </a:prstGeom>
          <a:solidFill>
            <a:srgbClr val="BC5308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Trebuchet MS"/>
              </a:rPr>
              <a:t>Google AutoML</a:t>
            </a:r>
          </a:p>
          <a:p>
            <a:pPr algn="ctr"/>
            <a:r>
              <a:rPr lang="en-US" sz="1100" b="0" dirty="0">
                <a:solidFill>
                  <a:srgbClr val="C5CAB8"/>
                </a:solidFill>
                <a:latin typeface="Calibri"/>
              </a:rPr>
              <a:t>Cloud-based, GUI interface, enterprise</a:t>
            </a:r>
          </a:p>
        </p:txBody>
      </p:sp>
      <p:sp>
        <p:nvSpPr>
          <p:cNvPr id="13" name="RC13"/>
          <p:cNvSpPr txBox="1">
            <a:spLocks noGrp="1"/>
          </p:cNvSpPr>
          <p:nvPr/>
        </p:nvSpPr>
        <p:spPr>
          <a:xfrm>
            <a:off x="6250000" y="1450000"/>
            <a:ext cx="2700000" cy="1800000"/>
          </a:xfrm>
          <a:prstGeom prst="roundRect">
            <a:avLst>
              <a:gd name="adj" fmla="val 16667"/>
            </a:avLst>
          </a:prstGeom>
          <a:solidFill>
            <a:srgbClr val="FF7D00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4000" b="1" dirty="0">
                <a:solidFill>
                  <a:srgbClr val="001524"/>
                </a:solidFill>
                <a:latin typeface="Trebuchet MS"/>
              </a:rPr>
              <a:t>AutoSklearn</a:t>
            </a:r>
          </a:p>
          <a:p>
            <a:pPr algn="ctr"/>
            <a:r>
              <a:rPr lang="en-US" sz="1100" b="0" dirty="0">
                <a:solidFill>
                  <a:srgbClr val="001524"/>
                </a:solidFill>
                <a:latin typeface="Calibri"/>
              </a:rPr>
              <a:t>scikit-learn wrapper with Bayesian optimization</a:t>
            </a:r>
          </a:p>
        </p:txBody>
      </p:sp>
      <p:sp>
        <p:nvSpPr>
          <p:cNvPr id="14" name="RC14"/>
          <p:cNvSpPr txBox="1">
            <a:spLocks noGrp="1"/>
          </p:cNvSpPr>
          <p:nvPr/>
        </p:nvSpPr>
        <p:spPr>
          <a:xfrm>
            <a:off x="9150000" y="1450000"/>
            <a:ext cx="2600000" cy="1800000"/>
          </a:xfrm>
          <a:prstGeom prst="roundRect">
            <a:avLst>
              <a:gd name="adj" fmla="val 16667"/>
            </a:avLst>
          </a:prstGeom>
          <a:solidFill>
            <a:srgbClr val="8AA79F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4000" b="1" dirty="0">
                <a:solidFill>
                  <a:srgbClr val="001524"/>
                </a:solidFill>
                <a:latin typeface="Trebuchet MS"/>
              </a:rPr>
              <a:t>TPOT</a:t>
            </a:r>
          </a:p>
          <a:p>
            <a:pPr algn="ctr"/>
            <a:r>
              <a:rPr lang="en-US" sz="1100" b="0" dirty="0">
                <a:solidFill>
                  <a:srgbClr val="001524"/>
                </a:solidFill>
                <a:latin typeface="Calibri"/>
              </a:rPr>
              <a:t>Genetic programming for pipeline optimization</a:t>
            </a:r>
          </a:p>
        </p:txBody>
      </p:sp>
      <p:sp>
        <p:nvSpPr>
          <p:cNvPr id="20" name="TB20"/>
          <p:cNvSpPr txBox="1">
            <a:spLocks noGrp="1"/>
          </p:cNvSpPr>
          <p:nvPr/>
        </p:nvSpPr>
        <p:spPr>
          <a:xfrm>
            <a:off x="457200" y="3450000"/>
            <a:ext cx="112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15616D"/>
                </a:solidFill>
                <a:latin typeface="Trebuchet MS"/>
              </a:rPr>
              <a:t>Why AutoML Matters (and its Limits)</a:t>
            </a:r>
          </a:p>
        </p:txBody>
      </p:sp>
      <p:sp>
        <p:nvSpPr>
          <p:cNvPr id="21" name="CB21"/>
          <p:cNvSpPr>
            <a:spLocks noGrp="1"/>
          </p:cNvSpPr>
          <p:nvPr/>
        </p:nvSpPr>
        <p:spPr>
          <a:xfrm>
            <a:off x="457200" y="3950000"/>
            <a:ext cx="5500000" cy="2100000"/>
          </a:xfrm>
          <a:prstGeom prst="rect">
            <a:avLst/>
          </a:prstGeom>
          <a:solidFill>
            <a:srgbClr val="F0F8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" name="TB22"/>
          <p:cNvSpPr txBox="1">
            <a:spLocks noGrp="1"/>
          </p:cNvSpPr>
          <p:nvPr/>
        </p:nvSpPr>
        <p:spPr>
          <a:xfrm>
            <a:off x="600000" y="4050000"/>
            <a:ext cx="52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500" b="1" dirty="0">
                <a:solidFill>
                  <a:srgbClr val="15616D"/>
                </a:solidFill>
                <a:latin typeface="Calibri"/>
              </a:rPr>
              <a:t>What AutoML Does Well</a:t>
            </a:r>
          </a:p>
        </p:txBody>
      </p:sp>
      <p:sp>
        <p:nvSpPr>
          <p:cNvPr id="23" name="BL23"/>
          <p:cNvSpPr txBox="1">
            <a:spLocks noGrp="1"/>
          </p:cNvSpPr>
          <p:nvPr/>
        </p:nvSpPr>
        <p:spPr>
          <a:xfrm>
            <a:off x="600000" y="4500000"/>
            <a:ext cx="5200000" cy="1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Searches hundreds of model + hyperparameter combinations automatically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Often beats manually tuned models on tabular data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Saves hours of manual experimentation for common tasks</a:t>
            </a:r>
          </a:p>
        </p:txBody>
      </p:sp>
      <p:sp>
        <p:nvSpPr>
          <p:cNvPr id="24" name="CB24"/>
          <p:cNvSpPr>
            <a:spLocks noGrp="1"/>
          </p:cNvSpPr>
          <p:nvPr/>
        </p:nvSpPr>
        <p:spPr>
          <a:xfrm>
            <a:off x="6200000" y="3950000"/>
            <a:ext cx="5550000" cy="2100000"/>
          </a:xfrm>
          <a:prstGeom prst="rect">
            <a:avLst/>
          </a:prstGeom>
          <a:solidFill>
            <a:srgbClr val="FFF5EC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5" name="TB25"/>
          <p:cNvSpPr txBox="1">
            <a:spLocks noGrp="1"/>
          </p:cNvSpPr>
          <p:nvPr/>
        </p:nvSpPr>
        <p:spPr>
          <a:xfrm>
            <a:off x="6400000" y="4050000"/>
            <a:ext cx="51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500" b="1" dirty="0">
                <a:solidFill>
                  <a:srgbClr val="BC5308"/>
                </a:solidFill>
                <a:latin typeface="Calibri"/>
              </a:rPr>
              <a:t>What AutoML Cannot Replace</a:t>
            </a:r>
          </a:p>
        </p:txBody>
      </p:sp>
      <p:sp>
        <p:nvSpPr>
          <p:cNvPr id="26" name="BL26"/>
          <p:cNvSpPr txBox="1">
            <a:spLocks noGrp="1"/>
          </p:cNvSpPr>
          <p:nvPr/>
        </p:nvSpPr>
        <p:spPr>
          <a:xfrm>
            <a:off x="6400000" y="4500000"/>
            <a:ext cx="5100000" cy="1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Problem definition — knowing what to predict and why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Data collection and cleaning — garbage in, garbage out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200" b="0" dirty="0">
                <a:solidFill>
                  <a:srgbClr val="444444"/>
                </a:solidFill>
                <a:latin typeface="Calibri"/>
              </a:rPr>
              <a:t>Domain expertise — understanding results and avoiding bias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H2O AutoML — Hands-On</a:t>
            </a:r>
          </a:p>
        </p:txBody>
      </p:sp>
      <p:sp>
        <p:nvSpPr>
          <p:cNvPr id="10" name="CB10"/>
          <p:cNvSpPr>
            <a:spLocks noGrp="1"/>
          </p:cNvSpPr>
          <p:nvPr/>
        </p:nvSpPr>
        <p:spPr>
          <a:xfrm>
            <a:off x="457200" y="950000"/>
            <a:ext cx="5600000" cy="4500000"/>
          </a:xfrm>
          <a:prstGeom prst="rect">
            <a:avLst/>
          </a:prstGeom>
          <a:solidFill>
            <a:srgbClr val="0015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TB11"/>
          <p:cNvSpPr txBox="1">
            <a:spLocks noGrp="1"/>
          </p:cNvSpPr>
          <p:nvPr/>
        </p:nvSpPr>
        <p:spPr>
          <a:xfrm>
            <a:off x="600000" y="1000000"/>
            <a:ext cx="52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FF7D00"/>
                </a:solidFill>
                <a:latin typeface="Trebuchet MS"/>
              </a:rPr>
              <a:t>H2O AutoML Code Walkthrough</a:t>
            </a:r>
          </a:p>
        </p:txBody>
      </p:sp>
      <p:sp>
        <p:nvSpPr>
          <p:cNvPr id="12" name="BL12"/>
          <p:cNvSpPr txBox="1">
            <a:spLocks noGrp="1"/>
          </p:cNvSpPr>
          <p:nvPr/>
        </p:nvSpPr>
        <p:spPr>
          <a:xfrm>
            <a:off x="600000" y="1600000"/>
            <a:ext cx="5200000" cy="37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8AA79F"/>
                </a:solidFill>
                <a:latin typeface="Trebuchet MS"/>
              </a:rPr>
              <a:t>Step 1: Start H2O and load data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import h2o; from h2o.automl import H2OAutoML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h2o.init()  # starts local cluster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df = h2o.import_file('kenya_yields.csv')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8AA79F"/>
                </a:solidFill>
                <a:latin typeface="Trebuchet MS"/>
              </a:rPr>
              <a:t>Step 2: Define target and train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aml = H2OAutoML(max_models=20, seed=42)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aml.train(x=features, y='Maize_Yield', training_frame=df)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8AA79F"/>
                </a:solidFill>
                <a:latin typeface="Trebuchet MS"/>
              </a:rPr>
              <a:t>Step 3: Explore results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aml.leaderboard  # ranked model comparison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aml.leader  # best model — get predictions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aml.leader.save('best_model/')  # save for production</a:t>
            </a:r>
          </a:p>
        </p:txBody>
      </p:sp>
      <p:sp>
        <p:nvSpPr>
          <p:cNvPr id="20" name="CB20"/>
          <p:cNvSpPr>
            <a:spLocks noGrp="1"/>
          </p:cNvSpPr>
          <p:nvPr/>
        </p:nvSpPr>
        <p:spPr>
          <a:xfrm>
            <a:off x="6300000" y="950000"/>
            <a:ext cx="5450000" cy="4500000"/>
          </a:xfrm>
          <a:prstGeom prst="rect">
            <a:avLst/>
          </a:prstGeom>
          <a:solidFill>
            <a:srgbClr val="F0F8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TB21"/>
          <p:cNvSpPr txBox="1">
            <a:spLocks noGrp="1"/>
          </p:cNvSpPr>
          <p:nvPr/>
        </p:nvSpPr>
        <p:spPr>
          <a:xfrm>
            <a:off x="6500000" y="1000000"/>
            <a:ext cx="51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15616D"/>
                </a:solidFill>
                <a:latin typeface="Trebuchet MS"/>
              </a:rPr>
              <a:t>H2O AutoML Output</a:t>
            </a:r>
          </a:p>
        </p:txBody>
      </p:sp>
      <p:sp>
        <p:nvSpPr>
          <p:cNvPr id="22" name="BL22"/>
          <p:cNvSpPr txBox="1">
            <a:spLocks noGrp="1"/>
          </p:cNvSpPr>
          <p:nvPr/>
        </p:nvSpPr>
        <p:spPr>
          <a:xfrm>
            <a:off x="6500000" y="1600000"/>
            <a:ext cx="5100000" cy="37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Leaderboard shows all models ranked by RMSE or AUC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Typical winners: Stacked Ensemble (combines all models)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XGBoost and GBM usually in top 3 for tabular data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3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BC5308"/>
                </a:solidFill>
                <a:latin typeface="Trebuchet MS"/>
              </a:rPr>
              <a:t>H2O Flow — Visual Dashboard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Web UI at localhost:54321 — no coding needed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View model performance, variable importance plots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Export models to MOJO format for Java deployment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3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15616D"/>
                </a:solidFill>
                <a:latin typeface="Trebuchet MS"/>
              </a:rPr>
              <a:t>Variable Importance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Shows which features matter most for predictions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Critical for explaining models to non-technical stakeholders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H2O AutoML — Hands-On</a:t>
            </a:r>
          </a:p>
        </p:txBody>
      </p:sp>
      <p:sp>
        <p:nvSpPr>
          <p:cNvPr id="10" name="CB10"/>
          <p:cNvSpPr>
            <a:spLocks noGrp="1"/>
          </p:cNvSpPr>
          <p:nvPr/>
        </p:nvSpPr>
        <p:spPr>
          <a:xfrm>
            <a:off x="457200" y="950000"/>
            <a:ext cx="5600000" cy="4500000"/>
          </a:xfrm>
          <a:prstGeom prst="rect">
            <a:avLst/>
          </a:prstGeom>
          <a:solidFill>
            <a:srgbClr val="001524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TB11"/>
          <p:cNvSpPr txBox="1">
            <a:spLocks noGrp="1"/>
          </p:cNvSpPr>
          <p:nvPr/>
        </p:nvSpPr>
        <p:spPr>
          <a:xfrm>
            <a:off x="600000" y="1000000"/>
            <a:ext cx="52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FF7D00"/>
                </a:solidFill>
                <a:latin typeface="Trebuchet MS"/>
              </a:rPr>
              <a:t>H2O AutoML Code Walkthrough</a:t>
            </a:r>
          </a:p>
        </p:txBody>
      </p:sp>
      <p:sp>
        <p:nvSpPr>
          <p:cNvPr id="12" name="BL12"/>
          <p:cNvSpPr txBox="1">
            <a:spLocks noGrp="1"/>
          </p:cNvSpPr>
          <p:nvPr/>
        </p:nvSpPr>
        <p:spPr>
          <a:xfrm>
            <a:off x="600000" y="1600000"/>
            <a:ext cx="5200000" cy="37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8AA79F"/>
                </a:solidFill>
                <a:latin typeface="Trebuchet MS"/>
              </a:rPr>
              <a:t>Step 1: Start H2O and load data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import h2o; from h2o.automl import H2OAutoML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h2o.init()  # starts local cluster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df = h2o.import_file('kenya_yields.csv')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8AA79F"/>
                </a:solidFill>
                <a:latin typeface="Trebuchet MS"/>
              </a:rPr>
              <a:t>Step 2: Define target and train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aml = H2OAutoML(max_models=20, seed=42)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aml.train(x=features, y='Maize_Yield', training_frame=df)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200" b="0" dirty="0">
              <a:solidFill>
                <a:srgbClr val="C5CAB8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300" b="1" dirty="0">
                <a:solidFill>
                  <a:srgbClr val="8AA79F"/>
                </a:solidFill>
                <a:latin typeface="Trebuchet MS"/>
              </a:rPr>
              <a:t>Step 3: Explore results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aml.leaderboard  # ranked model comparison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aml.leader  # best model — get predictions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200" b="0" dirty="0">
                <a:solidFill>
                  <a:srgbClr val="C5CAB8"/>
                </a:solidFill>
                <a:latin typeface="Calibri"/>
              </a:rPr>
              <a:t>aml.leader.save('best_model/')  # save for production</a:t>
            </a:r>
          </a:p>
        </p:txBody>
      </p:sp>
      <p:sp>
        <p:nvSpPr>
          <p:cNvPr id="20" name="CB20"/>
          <p:cNvSpPr>
            <a:spLocks noGrp="1"/>
          </p:cNvSpPr>
          <p:nvPr/>
        </p:nvSpPr>
        <p:spPr>
          <a:xfrm>
            <a:off x="6300000" y="950000"/>
            <a:ext cx="5450000" cy="4500000"/>
          </a:xfrm>
          <a:prstGeom prst="rect">
            <a:avLst/>
          </a:prstGeom>
          <a:solidFill>
            <a:srgbClr val="F0F8F7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" name="TB21"/>
          <p:cNvSpPr txBox="1">
            <a:spLocks noGrp="1"/>
          </p:cNvSpPr>
          <p:nvPr/>
        </p:nvSpPr>
        <p:spPr>
          <a:xfrm>
            <a:off x="6500000" y="1000000"/>
            <a:ext cx="5100000" cy="5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15616D"/>
                </a:solidFill>
                <a:latin typeface="Trebuchet MS"/>
              </a:rPr>
              <a:t>H2O AutoML Output</a:t>
            </a:r>
          </a:p>
        </p:txBody>
      </p:sp>
      <p:sp>
        <p:nvSpPr>
          <p:cNvPr id="22" name="BL22"/>
          <p:cNvSpPr txBox="1">
            <a:spLocks noGrp="1"/>
          </p:cNvSpPr>
          <p:nvPr/>
        </p:nvSpPr>
        <p:spPr>
          <a:xfrm>
            <a:off x="6500000" y="1600000"/>
            <a:ext cx="5100000" cy="37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Leaderboard shows all models ranked by RMSE or AUC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Typical winners: Stacked Ensemble (combines all models)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XGBoost and GBM usually in top 3 for tabular data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3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BC5308"/>
                </a:solidFill>
                <a:latin typeface="Trebuchet MS"/>
              </a:rPr>
              <a:t>H2O Flow — Visual Dashboard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Web UI at localhost:54321 — no coding needed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View model performance, variable importance plots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Export models to MOJO format for Java deployment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3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400" b="1" dirty="0">
                <a:solidFill>
                  <a:srgbClr val="15616D"/>
                </a:solidFill>
                <a:latin typeface="Trebuchet MS"/>
              </a:rPr>
              <a:t>Variable Importance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Shows which features matter most for predictions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Critical for explaining models to non-technical stakeholders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D01D2F-03F8-22D2-CF96-59E09DD52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A8A004-B734-5C23-1B29-49AB12A15E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3763" y="243472"/>
            <a:ext cx="10058400" cy="817578"/>
          </a:xfrm>
        </p:spPr>
        <p:txBody>
          <a:bodyPr/>
          <a:lstStyle/>
          <a:p>
            <a:r>
              <a:rPr lang="en-US" dirty="0"/>
              <a:t>H20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63F105-F0F2-94AC-5BCA-A49ED42B46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691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67EBB-18D0-FB94-F5A9-6E3B8658E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6AEA4D-FC1C-25E8-C18A-F5821D4436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3763" y="243472"/>
            <a:ext cx="10058400" cy="817578"/>
          </a:xfrm>
        </p:spPr>
        <p:txBody>
          <a:bodyPr/>
          <a:lstStyle/>
          <a:p>
            <a:r>
              <a:rPr lang="en-US" dirty="0"/>
              <a:t>H20 Saving the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94F739-CDE3-7319-51DC-777A1F6F40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87499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HeaderBar"/>
          <p:cNvSpPr>
            <a:spLocks noGrp="1"/>
          </p:cNvSpPr>
          <p:nvPr/>
        </p:nvSpPr>
        <p:spPr>
          <a:xfrm>
            <a:off x="0" y="0"/>
            <a:ext cx="12192000" cy="8000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l"/>
            <a:r>
              <a:rPr lang="en-US" sz="2400" b="1" dirty="0">
                <a:solidFill>
                  <a:srgbClr val="FFFFFF"/>
                </a:solidFill>
                <a:latin typeface="Trebuchet MS"/>
              </a:rPr>
              <a:t>  Key Takeaways — Session 2</a:t>
            </a:r>
          </a:p>
        </p:txBody>
      </p:sp>
      <p:sp>
        <p:nvSpPr>
          <p:cNvPr id="10" name="RC10"/>
          <p:cNvSpPr txBox="1">
            <a:spLocks noGrp="1"/>
          </p:cNvSpPr>
          <p:nvPr/>
        </p:nvSpPr>
        <p:spPr>
          <a:xfrm>
            <a:off x="457200" y="950000"/>
            <a:ext cx="3600000" cy="1500000"/>
          </a:xfrm>
          <a:prstGeom prst="roundRect">
            <a:avLst>
              <a:gd name="adj" fmla="val 16667"/>
            </a:avLst>
          </a:prstGeom>
          <a:solidFill>
            <a:srgbClr val="15616D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Trebuchet MS"/>
              </a:rPr>
              <a:t>Text = Numbers</a:t>
            </a:r>
          </a:p>
          <a:p>
            <a:pPr algn="ctr"/>
            <a:r>
              <a:rPr lang="en-US" sz="1100" b="0" dirty="0">
                <a:solidFill>
                  <a:srgbClr val="C5CAB8"/>
                </a:solidFill>
                <a:latin typeface="Calibri"/>
              </a:rPr>
              <a:t>NLP converts language to vectors machines understand</a:t>
            </a:r>
          </a:p>
        </p:txBody>
      </p:sp>
      <p:sp>
        <p:nvSpPr>
          <p:cNvPr id="11" name="RC11"/>
          <p:cNvSpPr txBox="1">
            <a:spLocks noGrp="1"/>
          </p:cNvSpPr>
          <p:nvPr/>
        </p:nvSpPr>
        <p:spPr>
          <a:xfrm>
            <a:off x="4296600" y="950000"/>
            <a:ext cx="3600000" cy="1500000"/>
          </a:xfrm>
          <a:prstGeom prst="roundRect">
            <a:avLst>
              <a:gd name="adj" fmla="val 16667"/>
            </a:avLst>
          </a:prstGeom>
          <a:solidFill>
            <a:srgbClr val="BC5308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4000" b="1" dirty="0">
                <a:solidFill>
                  <a:srgbClr val="FFFFFF"/>
                </a:solidFill>
                <a:latin typeface="Trebuchet MS"/>
              </a:rPr>
              <a:t>Context Matters</a:t>
            </a:r>
          </a:p>
          <a:p>
            <a:pPr algn="ctr"/>
            <a:r>
              <a:rPr lang="en-US" sz="1100" b="0" dirty="0">
                <a:solidFill>
                  <a:srgbClr val="C5CAB8"/>
                </a:solidFill>
                <a:latin typeface="Calibri"/>
              </a:rPr>
              <a:t>Embeddings capture meaning, BoW only counts words</a:t>
            </a:r>
          </a:p>
        </p:txBody>
      </p:sp>
      <p:sp>
        <p:nvSpPr>
          <p:cNvPr id="12" name="RC12"/>
          <p:cNvSpPr txBox="1">
            <a:spLocks noGrp="1"/>
          </p:cNvSpPr>
          <p:nvPr/>
        </p:nvSpPr>
        <p:spPr>
          <a:xfrm>
            <a:off x="8136000" y="950000"/>
            <a:ext cx="3600000" cy="1500000"/>
          </a:xfrm>
          <a:prstGeom prst="roundRect">
            <a:avLst>
              <a:gd name="adj" fmla="val 16667"/>
            </a:avLst>
          </a:prstGeom>
          <a:solidFill>
            <a:srgbClr val="FF7D00"/>
          </a:solidFill>
          <a:ln>
            <a:noFill/>
          </a:ln>
        </p:spPr>
        <p:txBody>
          <a:bodyPr anchor="ctr">
            <a:normAutofit/>
          </a:bodyPr>
          <a:lstStyle/>
          <a:p>
            <a:pPr algn="ctr"/>
            <a:r>
              <a:rPr lang="en-US" sz="4000" b="1" dirty="0">
                <a:solidFill>
                  <a:srgbClr val="001524"/>
                </a:solidFill>
                <a:latin typeface="Trebuchet MS"/>
              </a:rPr>
              <a:t>AutoML Helps</a:t>
            </a:r>
          </a:p>
          <a:p>
            <a:pPr algn="ctr"/>
            <a:r>
              <a:rPr lang="en-US" sz="1100" b="0" dirty="0">
                <a:solidFill>
                  <a:srgbClr val="001524"/>
                </a:solidFill>
                <a:latin typeface="Calibri"/>
              </a:rPr>
              <a:t>Automates search but needs human guidance</a:t>
            </a:r>
          </a:p>
        </p:txBody>
      </p:sp>
      <p:sp>
        <p:nvSpPr>
          <p:cNvPr id="20" name="TB20"/>
          <p:cNvSpPr txBox="1">
            <a:spLocks noGrp="1"/>
          </p:cNvSpPr>
          <p:nvPr/>
        </p:nvSpPr>
        <p:spPr>
          <a:xfrm>
            <a:off x="457200" y="2700000"/>
            <a:ext cx="11200000" cy="4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algn="l"/>
            <a:r>
              <a:rPr lang="en-US" sz="1800" b="1" dirty="0">
                <a:solidFill>
                  <a:srgbClr val="15616D"/>
                </a:solidFill>
                <a:latin typeface="Trebuchet MS"/>
              </a:rPr>
              <a:t>What You Should Take Away From Today</a:t>
            </a:r>
          </a:p>
        </p:txBody>
      </p:sp>
      <p:sp>
        <p:nvSpPr>
          <p:cNvPr id="21" name="BL21"/>
          <p:cNvSpPr txBox="1">
            <a:spLocks noGrp="1"/>
          </p:cNvSpPr>
          <p:nvPr/>
        </p:nvSpPr>
        <p:spPr>
          <a:xfrm>
            <a:off x="457200" y="3200000"/>
            <a:ext cx="5400000" cy="30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500" b="1" dirty="0">
                <a:solidFill>
                  <a:srgbClr val="15616D"/>
                </a:solidFill>
                <a:latin typeface="Trebuchet MS"/>
              </a:rPr>
              <a:t>NLP Fundamentals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Text must be converted to numbers before ML can work on it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BoW/TF-IDF are simple and effective baselines — start here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Embeddings (Word2Vec, BERT) capture semantic meaning — more powerful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spaCy gives you NER, POS tagging, dependency parsing for free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3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500" b="1" dirty="0">
                <a:solidFill>
                  <a:srgbClr val="BC5308"/>
                </a:solidFill>
                <a:latin typeface="Trebuchet MS"/>
              </a:rPr>
              <a:t>AutoML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H2O AutoML can find the best model without manual tuning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Stacked Ensembles often beat any single algorithm</a:t>
            </a:r>
          </a:p>
        </p:txBody>
      </p:sp>
      <p:sp>
        <p:nvSpPr>
          <p:cNvPr id="22" name="BL22"/>
          <p:cNvSpPr txBox="1">
            <a:spLocks noGrp="1"/>
          </p:cNvSpPr>
          <p:nvPr/>
        </p:nvSpPr>
        <p:spPr>
          <a:xfrm>
            <a:off x="6100000" y="3200000"/>
            <a:ext cx="5700000" cy="3000000"/>
          </a:xfrm>
          <a:prstGeom prst="rect">
            <a:avLst/>
          </a:prstGeom>
          <a:noFill/>
        </p:spPr>
        <p:txBody>
          <a:bodyPr>
            <a:normAutofit/>
          </a:bodyPr>
          <a:lstStyle/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500" b="1" dirty="0">
                <a:solidFill>
                  <a:srgbClr val="8AA79F"/>
                </a:solidFill>
                <a:latin typeface="Trebuchet MS"/>
              </a:rPr>
              <a:t>Kenya NLP Opportunities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Swahili NLP is underdeveloped — a major research opportunity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Local news classification, social media monitoring — high demand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M-Pesa customer service automation using text classification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endParaRPr lang="en-US" sz="1300" b="0" dirty="0">
              <a:solidFill>
                <a:srgbClr val="444444"/>
              </a:solidFill>
              <a:latin typeface="Calibri"/>
            </a:endParaRP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None/>
            </a:pPr>
            <a:r>
              <a:rPr lang="en-US" sz="1500" b="1" dirty="0">
                <a:solidFill>
                  <a:srgbClr val="FF7D00"/>
                </a:solidFill>
                <a:latin typeface="Trebuchet MS"/>
              </a:rPr>
              <a:t>Coming Up: Session 3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Large Language Models — what they are and how they work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Running LLMs locally with Ollama (privacy + cost benefits)</a:t>
            </a:r>
          </a:p>
          <a:p>
            <a:pPr marL="342900" indent="-342900">
              <a:lnSpc>
                <a:spcPts val="3600"/>
              </a:lnSpc>
              <a:spcBef>
                <a:spcPts val="200"/>
              </a:spcBef>
              <a:buChar char="■"/>
            </a:pPr>
            <a:r>
              <a:rPr lang="en-US" sz="1300" b="0" dirty="0">
                <a:solidFill>
                  <a:srgbClr val="444444"/>
                </a:solidFill>
                <a:latin typeface="Calibri"/>
              </a:rPr>
              <a:t>Hugging Face ecosystem — thousands of free pre-trained models</a:t>
            </a:r>
          </a:p>
        </p:txBody>
      </p:sp>
      <p:sp>
        <p:nvSpPr>
          <p:cNvPr id="90" name="FooterBar"/>
          <p:cNvSpPr>
            <a:spLocks noGrp="1"/>
          </p:cNvSpPr>
          <p:nvPr/>
        </p:nvSpPr>
        <p:spPr>
          <a:xfrm>
            <a:off x="0" y="6400800"/>
            <a:ext cx="12192000" cy="457200"/>
          </a:xfrm>
          <a:prstGeom prst="rect">
            <a:avLst/>
          </a:prstGeom>
          <a:solidFill>
            <a:srgbClr val="15616D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52C0B2E1-0268-42EC-ABD3-94F81A05BC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KE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2256B4-48EA-40FC-BBC0-AA1EE6E008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KE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3D44BCCA-102D-4A9D-B1E4-2450CAF0B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5" name="Rectangle 14">
            <a:extLst>
              <a:ext uri="{FF2B5EF4-FFF2-40B4-BE49-F238E27FC236}">
                <a16:creationId xmlns:a16="http://schemas.microsoft.com/office/drawing/2014/main" id="{8C6E698C-8155-4B8B-BDC9-B7299772B5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91F808E-D6DA-2833-13C5-77731477E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5201" y="643467"/>
            <a:ext cx="6255026" cy="505400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/>
            <a:r>
              <a:rPr lang="en-US" sz="8000" dirty="0">
                <a:solidFill>
                  <a:schemeClr val="tx1">
                    <a:lumMod val="85000"/>
                    <a:lumOff val="15000"/>
                  </a:schemeClr>
                </a:solidFill>
              </a:rPr>
              <a:t>Q &amp; A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77AF0A-E3E6-9BF1-0698-4E320DFA2C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870995" y="643467"/>
            <a:ext cx="3341488" cy="5054008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400" cap="all" spc="200" dirty="0">
                <a:solidFill>
                  <a:schemeClr val="tx2"/>
                </a:solidFill>
                <a:latin typeface="+mj-lt"/>
              </a:rPr>
              <a:t>Questions?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09525C9A-1972-4836-BA7A-706C946EF4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534656" y="1391367"/>
            <a:ext cx="0" cy="3558208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8A549DE7-671D-4575-AF43-858FD99981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K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22D9B36-9BE7-472B-8808-7E0D681073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40942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K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9624143-8FB4-6431-44AB-F78D789C7D2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048" y="6404950"/>
            <a:ext cx="354030" cy="3605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08652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Custom 6">
      <a:dk1>
        <a:srgbClr val="000000"/>
      </a:dk1>
      <a:lt1>
        <a:sysClr val="window" lastClr="FFFFFF"/>
      </a:lt1>
      <a:dk2>
        <a:srgbClr val="BC5308"/>
      </a:dk2>
      <a:lt2>
        <a:srgbClr val="8AA79F"/>
      </a:lt2>
      <a:accent1>
        <a:srgbClr val="15616D"/>
      </a:accent1>
      <a:accent2>
        <a:srgbClr val="8AA79F"/>
      </a:accent2>
      <a:accent3>
        <a:srgbClr val="C5CAB8"/>
      </a:accent3>
      <a:accent4>
        <a:srgbClr val="FF7D00"/>
      </a:accent4>
      <a:accent5>
        <a:srgbClr val="BC5308"/>
      </a:accent5>
      <a:accent6>
        <a:srgbClr val="78290F"/>
      </a:accent6>
      <a:hlink>
        <a:srgbClr val="FFECD1"/>
      </a:hlink>
      <a:folHlink>
        <a:srgbClr val="001524"/>
      </a:folHlink>
    </a:clrScheme>
    <a:fontScheme name="Cambria">
      <a:maj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mbria" panose="02040503050406030204"/>
        <a:ea typeface=""/>
        <a:cs typeface=""/>
        <a:font script="Jpan" typeface="HG明朝B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0</TotalTime>
  <Words>1439</Words>
  <Application>Microsoft Office PowerPoint</Application>
  <PresentationFormat>Widescreen</PresentationFormat>
  <Paragraphs>226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Calibri</vt:lpstr>
      <vt:lpstr>Cambria</vt:lpstr>
      <vt:lpstr>Trebuchet MS</vt:lpstr>
      <vt:lpstr>Retrospect</vt:lpstr>
      <vt:lpstr>Short Course On Machine Learning and AI 2026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H20 Dataframes</vt:lpstr>
      <vt:lpstr>H20 Saving the model</vt:lpstr>
      <vt:lpstr>PowerPoint Presentation</vt:lpstr>
      <vt:lpstr>Q &amp; 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Kamau Kamau</dc:creator>
  <cp:lastModifiedBy>John Kamau Kamau</cp:lastModifiedBy>
  <cp:revision>24</cp:revision>
  <dcterms:created xsi:type="dcterms:W3CDTF">2023-09-12T11:22:30Z</dcterms:created>
  <dcterms:modified xsi:type="dcterms:W3CDTF">2026-03-22T14:19:25Z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95cf23d-70b0-4a80-9221-1d774ac27fb2_Enabled">
    <vt:lpwstr>true</vt:lpwstr>
  </property>
  <property fmtid="{D5CDD505-2E9C-101B-9397-08002B2CF9AE}" pid="3" name="MSIP_Label_695cf23d-70b0-4a80-9221-1d774ac27fb2_SetDate">
    <vt:lpwstr>2026-03-15T13:26:08Z</vt:lpwstr>
  </property>
  <property fmtid="{D5CDD505-2E9C-101B-9397-08002B2CF9AE}" pid="4" name="MSIP_Label_695cf23d-70b0-4a80-9221-1d774ac27fb2_Method">
    <vt:lpwstr>Standard</vt:lpwstr>
  </property>
  <property fmtid="{D5CDD505-2E9C-101B-9397-08002B2CF9AE}" pid="5" name="MSIP_Label_695cf23d-70b0-4a80-9221-1d774ac27fb2_Name">
    <vt:lpwstr>Document internal</vt:lpwstr>
  </property>
  <property fmtid="{D5CDD505-2E9C-101B-9397-08002B2CF9AE}" pid="6" name="MSIP_Label_695cf23d-70b0-4a80-9221-1d774ac27fb2_SiteId">
    <vt:lpwstr>8482881e-3699-4b3f-b135-cf4800bc1efb</vt:lpwstr>
  </property>
  <property fmtid="{D5CDD505-2E9C-101B-9397-08002B2CF9AE}" pid="7" name="MSIP_Label_695cf23d-70b0-4a80-9221-1d774ac27fb2_ActionId">
    <vt:lpwstr>db57165a-df63-4076-b308-48fb73fba492</vt:lpwstr>
  </property>
  <property fmtid="{D5CDD505-2E9C-101B-9397-08002B2CF9AE}" pid="8" name="MSIP_Label_695cf23d-70b0-4a80-9221-1d774ac27fb2_ContentBits">
    <vt:lpwstr>0</vt:lpwstr>
  </property>
  <property fmtid="{D5CDD505-2E9C-101B-9397-08002B2CF9AE}" pid="9" name="MSIP_Label_695cf23d-70b0-4a80-9221-1d774ac27fb2_Tag">
    <vt:lpwstr>10, 3, 0, 1</vt:lpwstr>
  </property>
</Properties>
</file>