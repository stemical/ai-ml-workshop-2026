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Sigmoid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-6</c:v>
                </c:pt>
                <c:pt idx="1">
                  <c:v>-4</c:v>
                </c:pt>
                <c:pt idx="2">
                  <c:v>-2</c:v>
                </c:pt>
                <c:pt idx="3">
                  <c:v>0</c:v>
                </c:pt>
                <c:pt idx="4">
                  <c:v>2</c:v>
                </c:pt>
                <c:pt idx="5">
                  <c:v>4</c:v>
                </c:pt>
                <c:pt idx="6">
                  <c:v>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2.4726231566347743E-3</c:v>
                </c:pt>
                <c:pt idx="1">
                  <c:v>1.7986209962091559E-2</c:v>
                </c:pt>
                <c:pt idx="2">
                  <c:v>0.11920292202211755</c:v>
                </c:pt>
                <c:pt idx="3">
                  <c:v>0.5</c:v>
                </c:pt>
                <c:pt idx="4">
                  <c:v>0.88079707797788231</c:v>
                </c:pt>
                <c:pt idx="5">
                  <c:v>0.98201379003790845</c:v>
                </c:pt>
                <c:pt idx="6">
                  <c:v>0.99752737684336534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910-4998-B761-13D7E5614F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666666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666666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7794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cienceexchange.caltech.edu/topics/artificial-intelligence-research/artificial-intelligence-vs-machine-learning#:~:text=Artificial%20intelligence%20,agents%E2%80%94that%20do%20not%20yet%20exis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cienceexchange.caltech.edu/topics/artificial-intelligence-research/artificial-intelligence-vs-machine-learning#:~:text=Machine%20learning%20can%20be%20thought,often%20able%20to%20outperform%20experts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online.maryville.edu/blog/history-of-ai/#:~:text=,the%20span%20of%20two%20years" TargetMode="External"/><Relationship Id="rId3" Type="http://schemas.openxmlformats.org/officeDocument/2006/relationships/hyperlink" Target="https://online.maryville.edu/blog/history-of-ai/#:~:text=,is%20used%20in%20AI%20research" TargetMode="External"/><Relationship Id="rId7" Type="http://schemas.openxmlformats.org/officeDocument/2006/relationships/hyperlink" Target="https://online.maryville.edu/blog/history-of-ai/#:~:text=%2A%201990s%3A%C2%A0Deep%20Blue%2C%20a%20chess,index%20has%2026%20million%20page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online.maryville.edu/blog/history-of-ai/#:~:text=%2A%201980s%3A%C2%A0Mercedes,of%20a%20modern%20chatbot%20system" TargetMode="External"/><Relationship Id="rId5" Type="http://schemas.openxmlformats.org/officeDocument/2006/relationships/hyperlink" Target="https://online.maryville.edu/blog/history-of-ai/#:~:text=,is%20developed%20at%20Stanford%20University" TargetMode="External"/><Relationship Id="rId4" Type="http://schemas.openxmlformats.org/officeDocument/2006/relationships/hyperlink" Target="https://online.maryville.edu/blog/history-of-ai/#:~:text=,with%20a%20person%20in%20English" TargetMode="External"/><Relationship Id="rId9" Type="http://schemas.openxmlformats.org/officeDocument/2006/relationships/hyperlink" Target="https://online.maryville.edu/blog/history-of-ai/#:~:text=,users%20worldwide%20surpasses%204%20billion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artificial-intelligence/types-of-artificial-intelligence/#:~:text=1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ilvus.io/ai-quick-reference/what-are-the-different-types-of-datasets-eg-structured-unstructured-semistructured#:~:text=Datasets%20are%20categorized%20into%20three,store%2C%20process%2C%20and%20analyze%20data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python/choosing-the-right-ide-for-python-development-a-comparison/#:~:text=Top%20IDEs%20for%20Python%20Developmen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geeksforgeeks.org/python/choosing-the-best-python-notebook-google-colab-vs-jupyter/#:~:text=Google%20Colab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cikit-learn#:~:text=and%20open,4" TargetMode="External"/><Relationship Id="rId7" Type="http://schemas.openxmlformats.org/officeDocument/2006/relationships/hyperlink" Target="https://h2o.ai/platform/ai-cloud/make/h2o/#:~:text=H2O%E2%80%99s%20AutoML%20can%20be%20used,models%20in%20the%20AutoML%20Leaderboard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h2o.ai/platform/ai-cloud/make/h2o/#:~:text=Key%20Features%20of%20H2O" TargetMode="External"/><Relationship Id="rId5" Type="http://schemas.openxmlformats.org/officeDocument/2006/relationships/hyperlink" Target="https://h2o.ai/platform/ai-cloud/make/h2o/#:~:text=Open%20Source%2C%20Distributed%20Machine%20Learning,for%20Everyone" TargetMode="External"/><Relationship Id="rId4" Type="http://schemas.openxmlformats.org/officeDocument/2006/relationships/hyperlink" Target="https://en.wikipedia.org/wiki/Scikit-learn#:~:text=%2A%20Large%20catalogue%20of%20well,processing%20and%20model%20fitting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achine-learning/steps-to-build-a-machine-learning-model/#:~:text=1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geeksforgeeks.org/machine-learning/steps-to-build-a-machine-learning-model/#:~:text=tools.%20,feedback%20to%20identify%20issues%20early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quest.io/guide/data-cleaning-in-python-tutorial/#:~:text=Messy%20datasets%20with%20inconsistent%20formats%2C,focus%20on%20extracting%20valuable%20insight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eksforgeeks.org/machine-learning/understanding-logistic-regression/#:~:text=Assumptions%20of%20Logistic%20Regression" TargetMode="External"/><Relationship Id="rId3" Type="http://schemas.openxmlformats.org/officeDocument/2006/relationships/chart" Target="../charts/chart1.xml"/><Relationship Id="rId7" Type="http://schemas.openxmlformats.org/officeDocument/2006/relationships/hyperlink" Target="https://www.geeksforgeeks.org/machine-learning/understanding-logistic-regression/#:~:text=Logistic%20Regression%20is%20a%20supervised,belongs%20to%20a%20specific%20clas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geeksforgeeks.org/machine-learning/ml-linear-regression/#:~:text=3,Least%20Squares%20Method" TargetMode="External"/><Relationship Id="rId5" Type="http://schemas.openxmlformats.org/officeDocument/2006/relationships/hyperlink" Target="https://www.geeksforgeeks.org/machine-learning/ml-linear-regression/#:~:text=In%20linear%20regression%2C%20the%20best,predicted%20values%20from%20the%20model" TargetMode="External"/><Relationship Id="rId4" Type="http://schemas.openxmlformats.org/officeDocument/2006/relationships/hyperlink" Target="https://www.geeksforgeeks.org/machine-learning/ml-linear-regression/#:~:text=Linear%20regression%20is%20a%20type,represented%20by%20a%20straight%20line" TargetMode="External"/><Relationship Id="rId9" Type="http://schemas.openxmlformats.org/officeDocument/2006/relationships/hyperlink" Target="https://www.geeksforgeeks.org/machine-learning/understanding-logistic-regression/#:~:text=Understanding%20Sigmoid%20Function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achine-learning/what-is-lasso-regression/#:~:text=Lasso%20Regression%20,dimensional%20datasets%20where%20interpretability" TargetMode="External"/><Relationship Id="rId7" Type="http://schemas.openxmlformats.org/officeDocument/2006/relationships/hyperlink" Target="https://www.geeksforgeeks.org/machine-learning/lasso-vs-ridge-vs-elastic-net-ml/#:~:text=Elastic%20Net%20Regression%20,L2%20Regularization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geeksforgeeks.org/machine-learning/lasso-vs-ridge-vs-elastic-net-ml/#:~:text=Lasso%20Regression%20" TargetMode="External"/><Relationship Id="rId5" Type="http://schemas.openxmlformats.org/officeDocument/2006/relationships/hyperlink" Target="https://www.geeksforgeeks.org/machine-learning/lasso-vs-ridge-vs-elastic-net-ml/#:~:text=Ridge%20Regression%20" TargetMode="External"/><Relationship Id="rId4" Type="http://schemas.openxmlformats.org/officeDocument/2006/relationships/hyperlink" Target="https://www.geeksforgeeks.org/machine-learning/what-is-lasso-regression/#:~:text=,Useful%20for%20high%E2%80%91dimensional%20datasets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eksforgeeks.org/machine-learning/random-forest-algorithm-in-machine-learning/#:~:text=Key%20Features%20of%20Random%20Forest" TargetMode="External"/><Relationship Id="rId3" Type="http://schemas.openxmlformats.org/officeDocument/2006/relationships/hyperlink" Target="https://www.geeksforgeeks.org/machine-learning/decision-tree-introduction-example/#:~:text=A%20decision%20tree%20is%20a,step%20by%20step%20decision%2C%20where" TargetMode="External"/><Relationship Id="rId7" Type="http://schemas.openxmlformats.org/officeDocument/2006/relationships/hyperlink" Target="https://www.geeksforgeeks.org/machine-learning/random-forest-algorithm-in-machine-learning/#:~:text=Working%20of%20Random%20Forest%20Algorithm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geeksforgeeks.org/machine-learning/random-forest-algorithm-in-machine-learning/#:~:text=Random%20Forest%20is%20a%20machine,improving%20accuracy%20and%20reducing%20errors" TargetMode="External"/><Relationship Id="rId5" Type="http://schemas.openxmlformats.org/officeDocument/2006/relationships/hyperlink" Target="https://www.geeksforgeeks.org/machine-learning/decision-tree-introduction-example/#:~:text=Information%20Gain%20and%20Gini%20Index,in%20Decision%20Tree" TargetMode="External"/><Relationship Id="rId4" Type="http://schemas.openxmlformats.org/officeDocument/2006/relationships/hyperlink" Target="https://www.geeksforgeeks.org/machine-learning/decision-tree-introduction-example/#:~:text=A%20decision%20tree%20splits%20the,understand%20this%20with%20an%20example" TargetMode="External"/><Relationship Id="rId9" Type="http://schemas.openxmlformats.org/officeDocument/2006/relationships/hyperlink" Target="https://www.geeksforgeeks.org/machine-learning/random-forest-algorithm-in-machine-learning/#:~:text=Assumptions%20of%20Random%20Forest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lamarr-institute.org/blog/support-vector-machines/#:~:text=The%20solution%20idea%20involves%20transforming,clearly%20separates%20the%20two%20classes" TargetMode="External"/><Relationship Id="rId3" Type="http://schemas.openxmlformats.org/officeDocument/2006/relationships/hyperlink" Target="https://www.geeksforgeeks.org/machine-learning/k-nearest-neighbours/#:~:text=K%E2%80%91Nearest%20Neighbor%20,average%20value%20of%20those%20neighbors" TargetMode="External"/><Relationship Id="rId7" Type="http://schemas.openxmlformats.org/officeDocument/2006/relationships/hyperlink" Target="https://lamarr-institute.org/blog/support-vector-machines/#:~:text=Soft%20Margin%20SVM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amarr-institute.org/blog/support-vector-machines/#:~:text=Support%20Vector%20Machines%20,as%20text%20and%20image%20classification" TargetMode="External"/><Relationship Id="rId5" Type="http://schemas.openxmlformats.org/officeDocument/2006/relationships/hyperlink" Target="https://www.geeksforgeeks.org/machine-learning/k-nearest-neighbours/#:~:text=Distance%20Metrics%20Used%20in%20KNN,Algorithm" TargetMode="External"/><Relationship Id="rId4" Type="http://schemas.openxmlformats.org/officeDocument/2006/relationships/hyperlink" Target="https://www.geeksforgeeks.org/machine-learning/k-nearest-neighbours/#:~:text=What%20is%20%27K%27%20in%20K,Nearest%20Neighbour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achine-learning/confusion-matrix-machine-learning/#:~:text=Accuracy%20shows%20how%20many%20predictions,calculated%20using%20the%20below%20formula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geeksforgeeks.org/machine-learning/confusion-matrix-machine-learning/#:~:text=F1,matter%20more%20than%20the%20other" TargetMode="External"/><Relationship Id="rId5" Type="http://schemas.openxmlformats.org/officeDocument/2006/relationships/hyperlink" Target="https://www.geeksforgeeks.org/machine-learning/confusion-matrix-machine-learning/#:~:text=Recall%20measures%20how%20how%20good,consequences%20like%20in%20medical%20tests" TargetMode="External"/><Relationship Id="rId4" Type="http://schemas.openxmlformats.org/officeDocument/2006/relationships/hyperlink" Target="https://www.geeksforgeeks.org/machine-learning/confusion-matrix-machine-learning/#:~:text=Precision%20focus%20on%20the%20quality,The%20formula%20of%20precision%20is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pig.apache.org/#:~:text=Apache%20Pig%20is%20a%20platform,handle%20very%20large%20data%20sets" TargetMode="External"/><Relationship Id="rId3" Type="http://schemas.openxmlformats.org/officeDocument/2006/relationships/hyperlink" Target="https://www.geeksforgeeks.org/big-data/hadoop-architecture/#:~:text=Hadoop%20is%20an%20open,scale%20data%20efficiently" TargetMode="External"/><Relationship Id="rId7" Type="http://schemas.openxmlformats.org/officeDocument/2006/relationships/hyperlink" Target="https://www.databricks.com/blog/what-is-apache-hive#:~:text=What%20are%20some%20features%20of,Hive" TargetMode="External"/><Relationship Id="rId12" Type="http://schemas.openxmlformats.org/officeDocument/2006/relationships/hyperlink" Target="https://spark.apache.org/#:~:text=The%20most%20widely,scalable%20computing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databricks.com/blog/what-is-apache-hive#:~:text=,partition%20pruning%20for%20query%20performance" TargetMode="External"/><Relationship Id="rId11" Type="http://schemas.openxmlformats.org/officeDocument/2006/relationships/hyperlink" Target="https://spark.apache.org/#:~:text=Key%20features" TargetMode="External"/><Relationship Id="rId5" Type="http://schemas.openxmlformats.org/officeDocument/2006/relationships/hyperlink" Target="https://www.geeksforgeeks.org/big-data/hadoop-architecture/#:~:text=3,Negotiator" TargetMode="External"/><Relationship Id="rId10" Type="http://schemas.openxmlformats.org/officeDocument/2006/relationships/hyperlink" Target="https://spark.apache.org/#:~:text=What%20is%20Apache%20Spark%E2%84%A2%3F" TargetMode="External"/><Relationship Id="rId4" Type="http://schemas.openxmlformats.org/officeDocument/2006/relationships/hyperlink" Target="https://www.geeksforgeeks.org/big-data/hadoop-architecture/#:~:text=2" TargetMode="External"/><Relationship Id="rId9" Type="http://schemas.openxmlformats.org/officeDocument/2006/relationships/hyperlink" Target="https://pig.apache.org/#:~:text=At%20the%20present%20time%2C%20Pig%27s,has%20the%20following%20key%20properties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medium.com/@sumitqeunboxed/vibe-coding-the-era-of-gen-ai-powered-natural-language-driven-software-development-6c70a73686ca#:~:text=E%20arlier%20this%20year,powered%20tools%20generate%20the%20implementation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en.wikipedia.org/wiki/Vibe_coding#:~:text=The%20concept%20refers%20to%20a,7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n.wikipedia.org/wiki/Vibe_coding#:~:text=Advocates%20of%20vibe%20coding%20say,7" TargetMode="External"/><Relationship Id="rId5" Type="http://schemas.openxmlformats.org/officeDocument/2006/relationships/hyperlink" Target="https://en.wikipedia.org/wiki/Vibe_coding#:~:text=The%20term%20was%20coined%20by,5" TargetMode="External"/><Relationship Id="rId4" Type="http://schemas.openxmlformats.org/officeDocument/2006/relationships/hyperlink" Target="https://en.wikipedia.org/wiki/Vibe_coding#:~:text=%5BImage%200%5DThe%20term%20,pictured%20in%202019" TargetMode="External"/><Relationship Id="rId9" Type="http://schemas.openxmlformats.org/officeDocument/2006/relationships/hyperlink" Target="https://medium.com/@sumitqeunboxed/vibe-coding-the-era-of-gen-ai-powered-natural-language-driven-software-development-6c70a73686ca#:~:text=The%20operational%20flow%20of%20vibe,coding%20typically%20follows%20this%20pattern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5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11" Type="http://schemas.openxmlformats.org/officeDocument/2006/relationships/image" Target="../media/image24.png"/><Relationship Id="rId5" Type="http://schemas.openxmlformats.org/officeDocument/2006/relationships/image" Target="../media/image20.png"/><Relationship Id="rId10" Type="http://schemas.openxmlformats.org/officeDocument/2006/relationships/image" Target="../media/image7.svg"/><Relationship Id="rId4" Type="http://schemas.openxmlformats.org/officeDocument/2006/relationships/image" Target="../media/image19.svg"/><Relationship Id="rId9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E4057"/>
                </a:solidFill>
              </a:rPr>
              <a:t>Machine Learning Workshop
</a:t>
            </a:r>
            <a:r>
              <a:rPr lang="en-US" sz="1400" dirty="0">
                <a:solidFill>
                  <a:srgbClr val="F78422"/>
                </a:solidFill>
              </a:rPr>
              <a:t>Methods, Tools &amp; Applications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</a:rPr>
              <a:t>March 22, 2026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7143" r="7143"/>
          <a:stretch/>
        </p:blipFill>
        <p:spPr>
          <a:xfrm>
            <a:off x="4572000" y="548640"/>
            <a:ext cx="411480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365760" y="48051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Workshop · Class Series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4057"/>
                </a:solidFill>
              </a:rPr>
              <a:t>Workshop Overview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11887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</a:rPr>
              <a:t>Class 1: Intro &amp; History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640" y="192024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</a:rPr>
              <a:t>Class 2: Tools &amp; Environments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8640" y="265176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584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</a:rPr>
              <a:t>Class 3: Supervised Learning</a:t>
            </a: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8640" y="3383280"/>
            <a:ext cx="320040" cy="3200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0584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</a:rPr>
              <a:t>Class 4: Big Data &amp; LLMs</a:t>
            </a:r>
            <a:endParaRPr lang="en-US" sz="1400" dirty="0"/>
          </a:p>
        </p:txBody>
      </p:sp>
      <p:sp>
        <p:nvSpPr>
          <p:cNvPr id="11" name="Text 5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4057"/>
                </a:solidFill>
              </a:rPr>
              <a:t>Artificial Intelligence &amp; Machine Learning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2743200" cy="2743200"/>
          </a:xfrm>
          <a:prstGeom prst="ellipse">
            <a:avLst/>
          </a:prstGeom>
          <a:solidFill>
            <a:srgbClr val="97B1DF">
              <a:alpha val="70000"/>
            </a:srgbClr>
          </a:solidFill>
          <a:ln w="12700">
            <a:solidFill>
              <a:srgbClr val="97B1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560320" y="1097280"/>
            <a:ext cx="2743200" cy="2743200"/>
          </a:xfrm>
          <a:prstGeom prst="ellipse">
            <a:avLst/>
          </a:prstGeom>
          <a:solidFill>
            <a:srgbClr val="F78422">
              <a:alpha val="70000"/>
            </a:srgbClr>
          </a:solidFill>
          <a:ln w="12700">
            <a:solidFill>
              <a:srgbClr val="F784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4057"/>
                </a:solidFill>
              </a:rPr>
              <a:t>Artificial Intelligence
</a:t>
            </a:r>
            <a:r>
              <a:rPr lang="en-US" sz="1000" dirty="0">
                <a:solidFill>
                  <a:srgbClr val="666666"/>
                </a:solidFill>
              </a:rPr>
              <a:t>Broad field aiming to mimic human intelligence through reasoning, perception &amp; decision‑making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89120" y="39319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4057"/>
                </a:solidFill>
              </a:rPr>
              <a:t>Machine Learning
</a:t>
            </a:r>
            <a:r>
              <a:rPr lang="en-US" sz="1000" dirty="0">
                <a:solidFill>
                  <a:srgbClr val="666666"/>
                </a:solidFill>
              </a:rPr>
              <a:t>Subset of AI; algorithms learn patterns from data to make predictions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24688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E4057"/>
                </a:solidFill>
              </a:rPr>
              <a:t>ML is part of AI: learns from labelled and unlabelled data using statistical methods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666666"/>
                </a:solidFill>
                <a:hlinkClick r:id="rId3"/>
              </a:rPr>
              <a:t>[1]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4"/>
              </a:rPr>
              <a:t>[2]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4057"/>
                </a:solidFill>
              </a:rPr>
              <a:t>History of AI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2002536"/>
            <a:ext cx="8229600" cy="18288"/>
          </a:xfrm>
          <a:prstGeom prst="rect">
            <a:avLst/>
          </a:prstGeom>
          <a:solidFill>
            <a:srgbClr val="E0E6ED"/>
          </a:solidFill>
          <a:ln w="12700">
            <a:solidFill>
              <a:srgbClr val="E0E6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999309" y="1965960"/>
            <a:ext cx="91440" cy="91440"/>
          </a:xfrm>
          <a:prstGeom prst="ellipse">
            <a:avLst/>
          </a:prstGeom>
          <a:solidFill>
            <a:srgbClr val="F78422"/>
          </a:solidFill>
          <a:ln w="12700">
            <a:solidFill>
              <a:srgbClr val="F784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2084832"/>
            <a:ext cx="99277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4057"/>
                </a:solidFill>
              </a:rPr>
              <a:t>1950s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359152"/>
            <a:ext cx="99277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8422"/>
                </a:solidFill>
              </a:rPr>
              <a:t>Birth of AI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587752"/>
            <a:ext cx="99277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Turing &amp; McCarthy propose intelligent machines; Lisp created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174966" y="1965960"/>
            <a:ext cx="91440" cy="91440"/>
          </a:xfrm>
          <a:prstGeom prst="ellipse">
            <a:avLst/>
          </a:prstGeom>
          <a:solidFill>
            <a:srgbClr val="F78422"/>
          </a:solidFill>
          <a:ln w="12700">
            <a:solidFill>
              <a:srgbClr val="F784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724297" y="2084832"/>
            <a:ext cx="99277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4057"/>
                </a:solidFill>
              </a:rPr>
              <a:t>1960s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24297" y="2359152"/>
            <a:ext cx="99277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8422"/>
                </a:solidFill>
              </a:rPr>
              <a:t>Early Programs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24297" y="2587752"/>
            <a:ext cx="99277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First industrial robot &amp; ELIZA chatbot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350623" y="1965960"/>
            <a:ext cx="91440" cy="91440"/>
          </a:xfrm>
          <a:prstGeom prst="ellipse">
            <a:avLst/>
          </a:prstGeom>
          <a:solidFill>
            <a:srgbClr val="F78422"/>
          </a:solidFill>
          <a:ln w="12700">
            <a:solidFill>
              <a:srgbClr val="F784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899954" y="2084832"/>
            <a:ext cx="99277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4057"/>
                </a:solidFill>
              </a:rPr>
              <a:t>1970s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99954" y="2359152"/>
            <a:ext cx="99277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8422"/>
                </a:solidFill>
              </a:rPr>
              <a:t>Robotics &amp; Expert Systems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99954" y="2587752"/>
            <a:ext cx="99277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Anthropomorphic robot in Japan; medical diagnosis system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26280" y="1965960"/>
            <a:ext cx="91440" cy="91440"/>
          </a:xfrm>
          <a:prstGeom prst="ellipse">
            <a:avLst/>
          </a:prstGeom>
          <a:solidFill>
            <a:srgbClr val="F78422"/>
          </a:solidFill>
          <a:ln w="12700">
            <a:solidFill>
              <a:srgbClr val="F784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075611" y="2084832"/>
            <a:ext cx="99277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4057"/>
                </a:solidFill>
              </a:rPr>
              <a:t>1980s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75611" y="2359152"/>
            <a:ext cx="99277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8422"/>
                </a:solidFill>
              </a:rPr>
              <a:t>Autonomous Vehicles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75611" y="2587752"/>
            <a:ext cx="99277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Mercedes tests driverless car; Jabberwacky chatbot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701937" y="1965960"/>
            <a:ext cx="91440" cy="91440"/>
          </a:xfrm>
          <a:prstGeom prst="ellipse">
            <a:avLst/>
          </a:prstGeom>
          <a:solidFill>
            <a:srgbClr val="F78422"/>
          </a:solidFill>
          <a:ln w="12700">
            <a:solidFill>
              <a:srgbClr val="F784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251269" y="2084832"/>
            <a:ext cx="99277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4057"/>
                </a:solidFill>
              </a:rPr>
              <a:t>1990s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51269" y="2359152"/>
            <a:ext cx="99277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8422"/>
                </a:solidFill>
              </a:rPr>
              <a:t>Games &amp; Search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51269" y="2587752"/>
            <a:ext cx="99277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Deep Blue beats world chess champ; web search expands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877594" y="1965960"/>
            <a:ext cx="91440" cy="91440"/>
          </a:xfrm>
          <a:prstGeom prst="ellipse">
            <a:avLst/>
          </a:prstGeom>
          <a:solidFill>
            <a:srgbClr val="F78422"/>
          </a:solidFill>
          <a:ln w="12700">
            <a:solidFill>
              <a:srgbClr val="F784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426926" y="2084832"/>
            <a:ext cx="99277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4057"/>
                </a:solidFill>
              </a:rPr>
              <a:t>2000s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26926" y="2359152"/>
            <a:ext cx="99277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8422"/>
                </a:solidFill>
              </a:rPr>
              <a:t>Robots &amp; Data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26926" y="2587752"/>
            <a:ext cx="99277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ASIMO &amp; Kismet robots; digital data explodes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053251" y="1965960"/>
            <a:ext cx="91440" cy="91440"/>
          </a:xfrm>
          <a:prstGeom prst="ellipse">
            <a:avLst/>
          </a:prstGeom>
          <a:solidFill>
            <a:srgbClr val="F78422"/>
          </a:solidFill>
          <a:ln w="12700">
            <a:solidFill>
              <a:srgbClr val="F784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602583" y="2084832"/>
            <a:ext cx="99277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4057"/>
                </a:solidFill>
              </a:rPr>
              <a:t>2010s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02583" y="2359152"/>
            <a:ext cx="99277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8422"/>
                </a:solidFill>
              </a:rPr>
              <a:t>AI Goes Mainstream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02583" y="2587752"/>
            <a:ext cx="99277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Watson wins Jeopardy; billions on the internet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666666"/>
                </a:solidFill>
                <a:hlinkClick r:id="rId3"/>
              </a:rPr>
              <a:t>[3]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4"/>
              </a:rPr>
              <a:t>[4]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5"/>
              </a:rPr>
              <a:t>[5]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6"/>
              </a:rPr>
              <a:t>[6]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7"/>
              </a:rPr>
              <a:t>[7]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8"/>
              </a:rPr>
              <a:t>[8]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9"/>
              </a:rPr>
              <a:t>[9]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4057"/>
                </a:solidFill>
              </a:rPr>
              <a:t>Types of AI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2286000"/>
          </a:xfrm>
          <a:prstGeom prst="roundRect">
            <a:avLst>
              <a:gd name="adj" fmla="val 4000"/>
            </a:avLst>
          </a:prstGeom>
          <a:solidFill>
            <a:srgbClr val="97B1DF">
              <a:alpha val="90000"/>
            </a:srgbClr>
          </a:solidFill>
          <a:ln w="12700">
            <a:solidFill>
              <a:srgbClr val="97B1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3749040" cy="2194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4057"/>
                </a:solidFill>
              </a:rPr>
              <a:t>By Capability
</a:t>
            </a:r>
            <a:r>
              <a:rPr lang="en-US" sz="1000" dirty="0">
                <a:solidFill>
                  <a:srgbClr val="666666"/>
                </a:solidFill>
              </a:rPr>
              <a:t>• Narrow AI: specialized for specific tasks
• General AI: hypothetical systems with human‑like cognition
• Super AI: surpasses human intelligence (speculative)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46320" y="1005840"/>
            <a:ext cx="3840480" cy="2286000"/>
          </a:xfrm>
          <a:prstGeom prst="roundRect">
            <a:avLst>
              <a:gd name="adj" fmla="val 4000"/>
            </a:avLst>
          </a:prstGeom>
          <a:solidFill>
            <a:srgbClr val="F78422">
              <a:alpha val="90000"/>
            </a:srgbClr>
          </a:solidFill>
          <a:ln w="12700">
            <a:solidFill>
              <a:srgbClr val="F784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892040" y="1051560"/>
            <a:ext cx="3749040" cy="2194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4057"/>
                </a:solidFill>
              </a:rPr>
              <a:t>By Functionality
</a:t>
            </a:r>
            <a:r>
              <a:rPr lang="en-US" sz="1000" dirty="0">
                <a:solidFill>
                  <a:srgbClr val="666666"/>
                </a:solidFill>
              </a:rPr>
              <a:t>• Reactive machines: respond only to current inputs
• Limited memory: uses past data (e.g. self‑driving cars)
• Theory of mind: understands emotions &amp; beliefs
• Self‑aware: conscious AI (future)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666666"/>
                </a:solidFill>
                <a:hlinkClick r:id="rId3"/>
              </a:rPr>
              <a:t>[10]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3"/>
              </a:rPr>
              <a:t>[11]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4057"/>
                </a:solidFill>
              </a:rPr>
              <a:t>Data Types &amp; Datasets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1920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 &amp; Examples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Typical Methods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Structured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Tabular data with fixed schema (e.g. SQL tables)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Regression &amp; Classification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Semi‑structured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Data with tags or keys (JSON, XML)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Transformations, Serialization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Unstructured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Free‑form text, images, audio &amp; video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Natural language &amp; Computer vision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8422"/>
                </a:solidFill>
              </a:rPr>
              <a:t>Note: </a:t>
            </a:r>
            <a:r>
              <a:rPr lang="en-US" sz="1000" dirty="0">
                <a:solidFill>
                  <a:srgbClr val="666666"/>
                </a:solidFill>
              </a:rPr>
              <a:t>Labelled datasets enable supervised learning; unlabelled data leads to unsupervised methods like clustering &amp; dimensionality reduction.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666666"/>
                </a:solidFill>
                <a:hlinkClick r:id="rId3"/>
              </a:rPr>
              <a:t>[12]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4057"/>
                </a:solidFill>
              </a:rPr>
              <a:t>Key Machine Learning Terms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96012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144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</a:rPr>
              <a:t>Supervised Learning
</a:t>
            </a:r>
            <a:r>
              <a:rPr lang="en-US" sz="1000" dirty="0">
                <a:solidFill>
                  <a:srgbClr val="666666"/>
                </a:solidFill>
              </a:rPr>
              <a:t>Models train on labelled data to map inputs to target outputs (e.g. regression, classification).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640" y="187452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18288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</a:rPr>
              <a:t>Unsupervised Learning
</a:t>
            </a:r>
            <a:r>
              <a:rPr lang="en-US" sz="1000" dirty="0">
                <a:solidFill>
                  <a:srgbClr val="666666"/>
                </a:solidFill>
              </a:rPr>
              <a:t>Discovers hidden patterns in unlabelled data (e.g. clustering, dimensionality reduction).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8640" y="2788920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5840" y="2743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</a:rPr>
              <a:t>Hyperparameter
</a:t>
            </a:r>
            <a:r>
              <a:rPr lang="en-US" sz="1000" dirty="0">
                <a:solidFill>
                  <a:srgbClr val="666666"/>
                </a:solidFill>
              </a:rPr>
              <a:t>Settings chosen prior to training (e.g. number of trees, learning rate). Tuned via cross‑validation.</a:t>
            </a:r>
            <a:endParaRPr lang="en-US" sz="13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8640" y="3703320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05840" y="36576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</a:rPr>
              <a:t>Overfitting &amp; Underfitting
</a:t>
            </a:r>
            <a:r>
              <a:rPr lang="en-US" sz="1000" dirty="0">
                <a:solidFill>
                  <a:srgbClr val="666666"/>
                </a:solidFill>
              </a:rPr>
              <a:t>Overfitting captures noise in training data; underfitting fails to capture underlying patterns.</a:t>
            </a:r>
            <a:endParaRPr lang="en-US" sz="1300" dirty="0"/>
          </a:p>
        </p:txBody>
      </p:sp>
      <p:sp>
        <p:nvSpPr>
          <p:cNvPr id="11" name="Text 5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4057"/>
                </a:solidFill>
              </a:rPr>
              <a:t>Python Environments &amp; IDEs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5603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Environment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Key Features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Jupyter Notebook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Interactive, web‑based notebooks; ideal for data exploration &amp; visualization.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Google Colab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Cloud notebooks with free GPU/TPU; easy sharing; automatic library installation.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VS Code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Lightweight editor with extensions; integrates terminal, debugging &amp; Git.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PyCharm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Full‑featured IDE with intelligent code completion &amp; refactoring; ideal for larger projects.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Spyder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Data science‑oriented IDE with variable explorer &amp; interactive console.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666666"/>
                </a:solidFill>
                <a:hlinkClick r:id="rId3"/>
              </a:rPr>
              <a:t>[13]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4"/>
              </a:rPr>
              <a:t>[14]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4057"/>
                </a:solidFill>
              </a:rPr>
              <a:t>Key ML Libraries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97B1DF">
              <a:alpha val="90000"/>
            </a:srgbClr>
          </a:solidFill>
          <a:ln w="12700">
            <a:solidFill>
              <a:srgbClr val="97B1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4057"/>
                </a:solidFill>
              </a:rPr>
              <a:t>scikit‑learn
</a:t>
            </a:r>
            <a:r>
              <a:rPr lang="en-US" sz="1000" dirty="0">
                <a:solidFill>
                  <a:srgbClr val="666666"/>
                </a:solidFill>
              </a:rPr>
              <a:t>• Open‑source Python library
• Classification, regression &amp; clustering algorithms (SVM, RF, k‑means, DBSCAN)
• Consistent API with fit/predict; utilities for splitting, cross‑validation &amp; pipelines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63440" y="91440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78422">
              <a:alpha val="90000"/>
            </a:srgbClr>
          </a:solidFill>
          <a:ln w="12700">
            <a:solidFill>
              <a:srgbClr val="F784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709160" y="9601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4057"/>
                </a:solidFill>
              </a:rPr>
              <a:t>H2O.ai
</a:t>
            </a:r>
            <a:r>
              <a:rPr lang="en-US" sz="1000" dirty="0">
                <a:solidFill>
                  <a:srgbClr val="666666"/>
                </a:solidFill>
              </a:rPr>
              <a:t>• Distributed open‑source ML platform
• Algorithms: Random Forest, GLM, GBM, XGBoost, Deep Learning
• AutoML automates model training &amp; hyperparameter tuning
• Accessible from R, Python &amp; Java; supports stacked ensembles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666666"/>
                </a:solidFill>
                <a:hlinkClick r:id="rId3"/>
              </a:rPr>
              <a:t>[15]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4"/>
              </a:rPr>
              <a:t>[16]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5"/>
              </a:rPr>
              <a:t>[17]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6"/>
              </a:rPr>
              <a:t>[18]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7"/>
              </a:rPr>
              <a:t>[19]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4057"/>
                </a:solidFill>
              </a:rPr>
              <a:t>Supervised ML Workflow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982980" cy="548640"/>
          </a:xfrm>
          <a:prstGeom prst="roundRect">
            <a:avLst>
              <a:gd name="adj" fmla="val 8333"/>
            </a:avLst>
          </a:prstGeom>
          <a:solidFill>
            <a:srgbClr val="97B1DF">
              <a:alpha val="85000"/>
            </a:srgbClr>
          </a:solidFill>
          <a:ln w="12700">
            <a:solidFill>
              <a:srgbClr val="97B1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75488" y="1874520"/>
            <a:ext cx="9464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4057"/>
                </a:solidFill>
              </a:rPr>
              <a:t>Define problem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49324" y="2011680"/>
            <a:ext cx="27432" cy="182880"/>
          </a:xfrm>
          <a:prstGeom prst="rightArrow">
            <a:avLst/>
          </a:prstGeom>
          <a:solidFill>
            <a:srgbClr val="F78422"/>
          </a:solidFill>
          <a:ln w="12700">
            <a:solidFill>
              <a:srgbClr val="F784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485900" y="1828800"/>
            <a:ext cx="982980" cy="548640"/>
          </a:xfrm>
          <a:prstGeom prst="roundRect">
            <a:avLst>
              <a:gd name="adj" fmla="val 8333"/>
            </a:avLst>
          </a:prstGeom>
          <a:solidFill>
            <a:srgbClr val="97B1DF">
              <a:alpha val="85000"/>
            </a:srgbClr>
          </a:solidFill>
          <a:ln w="12700">
            <a:solidFill>
              <a:srgbClr val="97B1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504188" y="1874520"/>
            <a:ext cx="9464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4057"/>
                </a:solidFill>
              </a:rPr>
              <a:t>Collect &amp; explore data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78024" y="2011680"/>
            <a:ext cx="27432" cy="182880"/>
          </a:xfrm>
          <a:prstGeom prst="rightArrow">
            <a:avLst/>
          </a:prstGeom>
          <a:solidFill>
            <a:srgbClr val="F78422"/>
          </a:solidFill>
          <a:ln w="12700">
            <a:solidFill>
              <a:srgbClr val="F784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2514600" y="1828800"/>
            <a:ext cx="982980" cy="548640"/>
          </a:xfrm>
          <a:prstGeom prst="roundRect">
            <a:avLst>
              <a:gd name="adj" fmla="val 8333"/>
            </a:avLst>
          </a:prstGeom>
          <a:solidFill>
            <a:srgbClr val="97B1DF">
              <a:alpha val="85000"/>
            </a:srgbClr>
          </a:solidFill>
          <a:ln w="12700">
            <a:solidFill>
              <a:srgbClr val="97B1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532888" y="1874520"/>
            <a:ext cx="9464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4057"/>
                </a:solidFill>
              </a:rPr>
              <a:t>Clean &amp; preprocess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506724" y="2011680"/>
            <a:ext cx="27432" cy="182880"/>
          </a:xfrm>
          <a:prstGeom prst="rightArrow">
            <a:avLst/>
          </a:prstGeom>
          <a:solidFill>
            <a:srgbClr val="F78422"/>
          </a:solidFill>
          <a:ln w="12700">
            <a:solidFill>
              <a:srgbClr val="F784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543300" y="1828800"/>
            <a:ext cx="982980" cy="548640"/>
          </a:xfrm>
          <a:prstGeom prst="roundRect">
            <a:avLst>
              <a:gd name="adj" fmla="val 8333"/>
            </a:avLst>
          </a:prstGeom>
          <a:solidFill>
            <a:srgbClr val="97B1DF">
              <a:alpha val="85000"/>
            </a:srgbClr>
          </a:solidFill>
          <a:ln w="12700">
            <a:solidFill>
              <a:srgbClr val="97B1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561588" y="1874520"/>
            <a:ext cx="9464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4057"/>
                </a:solidFill>
              </a:rPr>
              <a:t>Feature engineering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35424" y="2011680"/>
            <a:ext cx="27432" cy="182880"/>
          </a:xfrm>
          <a:prstGeom prst="rightArrow">
            <a:avLst/>
          </a:prstGeom>
          <a:solidFill>
            <a:srgbClr val="F78422"/>
          </a:solidFill>
          <a:ln w="12700">
            <a:solidFill>
              <a:srgbClr val="F784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572000" y="1828800"/>
            <a:ext cx="982980" cy="548640"/>
          </a:xfrm>
          <a:prstGeom prst="roundRect">
            <a:avLst>
              <a:gd name="adj" fmla="val 8333"/>
            </a:avLst>
          </a:prstGeom>
          <a:solidFill>
            <a:srgbClr val="97B1DF">
              <a:alpha val="85000"/>
            </a:srgbClr>
          </a:solidFill>
          <a:ln w="12700">
            <a:solidFill>
              <a:srgbClr val="97B1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90288" y="1874520"/>
            <a:ext cx="9464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4057"/>
                </a:solidFill>
              </a:rPr>
              <a:t>Train/test split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564124" y="2011680"/>
            <a:ext cx="27432" cy="182880"/>
          </a:xfrm>
          <a:prstGeom prst="rightArrow">
            <a:avLst/>
          </a:prstGeom>
          <a:solidFill>
            <a:srgbClr val="F78422"/>
          </a:solidFill>
          <a:ln w="12700">
            <a:solidFill>
              <a:srgbClr val="F784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5600700" y="1828800"/>
            <a:ext cx="982980" cy="548640"/>
          </a:xfrm>
          <a:prstGeom prst="roundRect">
            <a:avLst>
              <a:gd name="adj" fmla="val 8333"/>
            </a:avLst>
          </a:prstGeom>
          <a:solidFill>
            <a:srgbClr val="97B1DF">
              <a:alpha val="85000"/>
            </a:srgbClr>
          </a:solidFill>
          <a:ln w="12700">
            <a:solidFill>
              <a:srgbClr val="97B1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618988" y="1874520"/>
            <a:ext cx="9464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4057"/>
                </a:solidFill>
              </a:rPr>
              <a:t>Select algorithm &amp; train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592824" y="2011680"/>
            <a:ext cx="27432" cy="182880"/>
          </a:xfrm>
          <a:prstGeom prst="rightArrow">
            <a:avLst/>
          </a:prstGeom>
          <a:solidFill>
            <a:srgbClr val="F78422"/>
          </a:solidFill>
          <a:ln w="12700">
            <a:solidFill>
              <a:srgbClr val="F784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629400" y="1828800"/>
            <a:ext cx="982980" cy="548640"/>
          </a:xfrm>
          <a:prstGeom prst="roundRect">
            <a:avLst>
              <a:gd name="adj" fmla="val 8333"/>
            </a:avLst>
          </a:prstGeom>
          <a:solidFill>
            <a:srgbClr val="97B1DF">
              <a:alpha val="85000"/>
            </a:srgbClr>
          </a:solidFill>
          <a:ln w="12700">
            <a:solidFill>
              <a:srgbClr val="97B1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647688" y="1874520"/>
            <a:ext cx="9464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4057"/>
                </a:solidFill>
              </a:rPr>
              <a:t>Evaluate &amp; tune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621524" y="2011680"/>
            <a:ext cx="27432" cy="182880"/>
          </a:xfrm>
          <a:prstGeom prst="rightArrow">
            <a:avLst/>
          </a:prstGeom>
          <a:solidFill>
            <a:srgbClr val="F78422"/>
          </a:solidFill>
          <a:ln w="12700">
            <a:solidFill>
              <a:srgbClr val="F784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7658100" y="1828800"/>
            <a:ext cx="982980" cy="548640"/>
          </a:xfrm>
          <a:prstGeom prst="roundRect">
            <a:avLst>
              <a:gd name="adj" fmla="val 8333"/>
            </a:avLst>
          </a:prstGeom>
          <a:solidFill>
            <a:srgbClr val="97B1DF">
              <a:alpha val="85000"/>
            </a:srgbClr>
          </a:solidFill>
          <a:ln w="12700">
            <a:solidFill>
              <a:srgbClr val="97B1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676388" y="1874520"/>
            <a:ext cx="9464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4057"/>
                </a:solidFill>
              </a:rPr>
              <a:t>Deploy &amp; monitor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666666"/>
                </a:solidFill>
                <a:hlinkClick r:id="rId3"/>
              </a:rPr>
              <a:t>[20]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4"/>
              </a:rPr>
              <a:t>[21]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4057"/>
                </a:solidFill>
              </a:rPr>
              <a:t>Data Cleaning &amp; Preparation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78422"/>
                </a:solidFill>
              </a:rPr>
              <a:t>• </a:t>
            </a:r>
            <a:r>
              <a:rPr lang="en-US" sz="1000" dirty="0">
                <a:solidFill>
                  <a:srgbClr val="666666"/>
                </a:solidFill>
              </a:rPr>
              <a:t>Handle missing data: impute or drop rows/columns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78422"/>
                </a:solidFill>
              </a:rPr>
              <a:t>• </a:t>
            </a:r>
            <a:r>
              <a:rPr lang="en-US" sz="1000" dirty="0">
                <a:solidFill>
                  <a:srgbClr val="666666"/>
                </a:solidFill>
              </a:rPr>
              <a:t>Parse &amp; convert data types (dates, categories)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78422"/>
                </a:solidFill>
              </a:rPr>
              <a:t>• </a:t>
            </a:r>
            <a:r>
              <a:rPr lang="en-US" sz="1000" dirty="0">
                <a:solidFill>
                  <a:srgbClr val="666666"/>
                </a:solidFill>
              </a:rPr>
              <a:t>Remove duplicates &amp; inconsistent formatting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78422"/>
                </a:solidFill>
              </a:rPr>
              <a:t>• </a:t>
            </a:r>
            <a:r>
              <a:rPr lang="en-US" sz="1000" dirty="0">
                <a:solidFill>
                  <a:srgbClr val="666666"/>
                </a:solidFill>
              </a:rPr>
              <a:t>Detect &amp; treat outliers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78422"/>
                </a:solidFill>
              </a:rPr>
              <a:t>• </a:t>
            </a:r>
            <a:r>
              <a:rPr lang="en-US" sz="1000" dirty="0">
                <a:solidFill>
                  <a:srgbClr val="666666"/>
                </a:solidFill>
              </a:rPr>
              <a:t>Encode categorical variables (one‑hot or label)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78422"/>
                </a:solidFill>
              </a:rPr>
              <a:t>• </a:t>
            </a:r>
            <a:r>
              <a:rPr lang="en-US" sz="1000" dirty="0">
                <a:solidFill>
                  <a:srgbClr val="666666"/>
                </a:solidFill>
              </a:rPr>
              <a:t>Scale &amp; normalize numeric features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4057"/>
                </a:solidFill>
              </a:rPr>
              <a:t>Pandas simplifies cleaning with
</a:t>
            </a:r>
            <a:r>
              <a:rPr lang="en-US" sz="1000" i="1" dirty="0">
                <a:solidFill>
                  <a:srgbClr val="666666"/>
                </a:solidFill>
              </a:rPr>
              <a:t>dropna(), fillna(), astype(), merge(), groupby()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666666"/>
                </a:solidFill>
                <a:hlinkClick r:id="rId3"/>
              </a:rPr>
              <a:t>[22]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4057"/>
                </a:solidFill>
              </a:rPr>
              <a:t>Regression Models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4057"/>
                </a:solidFill>
              </a:rPr>
              <a:t>Linear Regression
</a:t>
            </a:r>
            <a:r>
              <a:rPr lang="en-US" sz="1000" i="1" dirty="0">
                <a:solidFill>
                  <a:srgbClr val="666666"/>
                </a:solidFill>
              </a:rPr>
              <a:t>Model: y = β₀ + β₁x + ε
</a:t>
            </a:r>
            <a:r>
              <a:rPr lang="en-US" sz="1000" dirty="0">
                <a:solidFill>
                  <a:srgbClr val="666666"/>
                </a:solidFill>
              </a:rPr>
              <a:t>• Predicts continuous outcomes
• Minimizes sum of squared residuals
• Assumes linearity &amp; independence; sensitive to outliers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0" y="9144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4057"/>
                </a:solidFill>
              </a:rPr>
              <a:t>Logistic Regression
</a:t>
            </a:r>
            <a:r>
              <a:rPr lang="en-US" sz="1000" i="1" dirty="0">
                <a:solidFill>
                  <a:srgbClr val="666666"/>
                </a:solidFill>
              </a:rPr>
              <a:t>Sigmoid: σ(z) = 1/(1 + e^{−z})
</a:t>
            </a:r>
            <a:r>
              <a:rPr lang="en-US" sz="1000" dirty="0">
                <a:solidFill>
                  <a:srgbClr val="666666"/>
                </a:solidFill>
              </a:rPr>
              <a:t>• Outputs class probabilities (0–1)
• Used for binary &amp; multi‑class classification
• Assumes linear relationship on log‑odds; trained via maximum likelihood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0" y="2560320"/>
          <a:ext cx="411480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666666"/>
                </a:solidFill>
                <a:hlinkClick r:id="rId4"/>
              </a:rPr>
              <a:t>[23]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5"/>
              </a:rPr>
              <a:t>[24]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6"/>
              </a:rPr>
              <a:t>[25]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7"/>
              </a:rPr>
              <a:t>[26]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8"/>
              </a:rPr>
              <a:t>[27]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9"/>
              </a:rPr>
              <a:t>[28]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4057"/>
                </a:solidFill>
              </a:rPr>
              <a:t>Regularization &amp; Feature Selection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05840"/>
          </a:xfrm>
          <a:prstGeom prst="roundRect">
            <a:avLst>
              <a:gd name="adj" fmla="val 4545"/>
            </a:avLst>
          </a:prstGeom>
          <a:solidFill>
            <a:srgbClr val="97B1DF">
              <a:alpha val="10000"/>
            </a:srgbClr>
          </a:solidFill>
          <a:ln w="12700">
            <a:solidFill>
              <a:srgbClr val="97B1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</a:rPr>
              <a:t>Ridge (L2)
</a:t>
            </a:r>
            <a:r>
              <a:rPr lang="en-US" sz="1000" i="1" dirty="0">
                <a:solidFill>
                  <a:srgbClr val="666666"/>
                </a:solidFill>
              </a:rPr>
              <a:t>minimize ||y - Xβ||² + λ||β||²
</a:t>
            </a:r>
            <a:r>
              <a:rPr lang="en-US" sz="1000" dirty="0">
                <a:solidFill>
                  <a:srgbClr val="666666"/>
                </a:solidFill>
              </a:rPr>
              <a:t>Penalizes squared coefficients; shrinks weights but keeps all features; mitigates multicollinearity.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1005840"/>
          </a:xfrm>
          <a:prstGeom prst="roundRect">
            <a:avLst>
              <a:gd name="adj" fmla="val 4545"/>
            </a:avLst>
          </a:prstGeom>
          <a:solidFill>
            <a:srgbClr val="F78422">
              <a:alpha val="10000"/>
            </a:srgbClr>
          </a:solidFill>
          <a:ln w="12700">
            <a:solidFill>
              <a:srgbClr val="F784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</a:rPr>
              <a:t>Lasso (L1)
</a:t>
            </a:r>
            <a:r>
              <a:rPr lang="en-US" sz="1000" i="1" dirty="0">
                <a:solidFill>
                  <a:srgbClr val="666666"/>
                </a:solidFill>
              </a:rPr>
              <a:t>minimize ||y - Xβ||² + λ||β||₁
</a:t>
            </a:r>
            <a:r>
              <a:rPr lang="en-US" sz="1000" dirty="0">
                <a:solidFill>
                  <a:srgbClr val="666666"/>
                </a:solidFill>
              </a:rPr>
              <a:t>Penalizes absolute coefficients; drives some weights to zero; performs feature selection.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8229600" cy="1005840"/>
          </a:xfrm>
          <a:prstGeom prst="roundRect">
            <a:avLst>
              <a:gd name="adj" fmla="val 4545"/>
            </a:avLst>
          </a:prstGeom>
          <a:solidFill>
            <a:srgbClr val="2E4057">
              <a:alpha val="10000"/>
            </a:srgbClr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02920" y="333756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</a:rPr>
              <a:t>Elastic Net
</a:t>
            </a:r>
            <a:r>
              <a:rPr lang="en-US" sz="1000" i="1" dirty="0">
                <a:solidFill>
                  <a:srgbClr val="666666"/>
                </a:solidFill>
              </a:rPr>
              <a:t>minimize ||y - Xβ||² + λ₁||β||₁ + λ₂||β||²
</a:t>
            </a:r>
            <a:r>
              <a:rPr lang="en-US" sz="1000" dirty="0">
                <a:solidFill>
                  <a:srgbClr val="666666"/>
                </a:solidFill>
              </a:rPr>
              <a:t>Combines L1 &amp; L2; balances sparsity and stability; useful when predictors are correlated.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666666"/>
                </a:solidFill>
                <a:hlinkClick r:id="rId3"/>
              </a:rPr>
              <a:t>[29]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4"/>
              </a:rPr>
              <a:t>[30]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5"/>
              </a:rPr>
              <a:t>[31]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6"/>
              </a:rPr>
              <a:t>[32]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7"/>
              </a:rPr>
              <a:t>[33]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4057"/>
                </a:solidFill>
              </a:rPr>
              <a:t>Tree‑Based Models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4057"/>
                </a:solidFill>
              </a:rPr>
              <a:t>Decision Trees
</a:t>
            </a:r>
            <a:r>
              <a:rPr lang="en-US" sz="1000" dirty="0">
                <a:solidFill>
                  <a:srgbClr val="666666"/>
                </a:solidFill>
              </a:rPr>
              <a:t>• Hierarchical structure of root, branches &amp; leaves
• Splits data based on feature values (information gain/Gini)
• Easy to interpret but prone to overfitting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0" y="91440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4057"/>
                </a:solidFill>
              </a:rPr>
              <a:t>Random Forest
</a:t>
            </a:r>
            <a:r>
              <a:rPr lang="en-US" sz="1000" dirty="0">
                <a:solidFill>
                  <a:srgbClr val="666666"/>
                </a:solidFill>
              </a:rPr>
              <a:t>• Ensemble of many decision trees built on bootstrapped samples
• Random subset of features at each split
• Aggregates predictions: majority vote (classification) or mean (regression)
• Reduces overfitting &amp; improves accuracy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666666"/>
                </a:solidFill>
                <a:hlinkClick r:id="rId3"/>
              </a:rPr>
              <a:t>[34]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4"/>
              </a:rPr>
              <a:t>[35]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5"/>
              </a:rPr>
              <a:t>[36]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6"/>
              </a:rPr>
              <a:t>[37]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7"/>
              </a:rPr>
              <a:t>[38]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8"/>
              </a:rPr>
              <a:t>[39]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9"/>
              </a:rPr>
              <a:t>[40]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4057"/>
                </a:solidFill>
              </a:rPr>
              <a:t>KNN &amp; Support Vector Machines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206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4057"/>
                </a:solidFill>
              </a:rPr>
              <a:t>K‑Nearest Neighbors (KNN)
</a:t>
            </a:r>
            <a:r>
              <a:rPr lang="en-US" sz="1000" dirty="0">
                <a:solidFill>
                  <a:srgbClr val="666666"/>
                </a:solidFill>
              </a:rPr>
              <a:t>• Non‑parametric &amp; lazy learner; no training phase
• Predicts based on majority vote or average of K closest points (distance metrics: Euclidean, Manhattan, Minkowski)
• Choice of K influences bias–variance trade‑off; odd K avoids ties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0" y="9144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4057"/>
                </a:solidFill>
              </a:rPr>
              <a:t>Support Vector Machines (SVM)
</a:t>
            </a:r>
            <a:r>
              <a:rPr lang="en-US" sz="1000" dirty="0">
                <a:solidFill>
                  <a:srgbClr val="666666"/>
                </a:solidFill>
              </a:rPr>
              <a:t>• Finds hyperplane maximizing margin between classes
• Soft margin allows misclassification controlled by C parameter
• Kernel trick projects data into higher dimensions for non‑linear separation (e.g. RBF, polynomial)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666666"/>
                </a:solidFill>
                <a:hlinkClick r:id="rId3"/>
              </a:rPr>
              <a:t>[41]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4"/>
              </a:rPr>
              <a:t>[42]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5"/>
              </a:rPr>
              <a:t>[43]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6"/>
              </a:rPr>
              <a:t>[44]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7"/>
              </a:rPr>
              <a:t>[45]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8"/>
              </a:rPr>
              <a:t>[46]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4057"/>
                </a:solidFill>
              </a:rPr>
              <a:t>Evaluation Metrics</a:t>
            </a:r>
            <a:endParaRPr lang="en-US" sz="2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4114800" cy="13716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Predicted: Positive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Predicted: Negative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Actual: Positive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4057"/>
                          </a:solidFill>
                        </a:rPr>
                        <a:t>True Positive</a:t>
                      </a:r>
                      <a:endParaRPr lang="en-US" sz="1000" dirty="0"/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4057"/>
                          </a:solidFill>
                        </a:rPr>
                        <a:t>(TP)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4057"/>
                          </a:solidFill>
                        </a:rPr>
                        <a:t>False Negative</a:t>
                      </a:r>
                      <a:endParaRPr lang="en-US" sz="1000" dirty="0"/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4057"/>
                          </a:solidFill>
                        </a:rPr>
                        <a:t>(FN)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Actual: Negative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4057"/>
                          </a:solidFill>
                        </a:rPr>
                        <a:t>False Positive</a:t>
                      </a:r>
                      <a:endParaRPr lang="en-US" sz="1000" dirty="0"/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4057"/>
                          </a:solidFill>
                        </a:rPr>
                        <a:t>(FP)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4057"/>
                          </a:solidFill>
                        </a:rPr>
                        <a:t>True Negative</a:t>
                      </a:r>
                      <a:endParaRPr lang="en-US" sz="1000" dirty="0"/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4057"/>
                          </a:solidFill>
                        </a:rPr>
                        <a:t>(TN)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4057"/>
                </a:solidFill>
              </a:rPr>
              <a:t>Accuracy: </a:t>
            </a:r>
            <a:r>
              <a:rPr lang="en-US" sz="1000" i="1" dirty="0">
                <a:solidFill>
                  <a:srgbClr val="F78422"/>
                </a:solidFill>
              </a:rPr>
              <a:t>(TP+TN)/(TP+FP+FN+TN)
</a:t>
            </a:r>
            <a:r>
              <a:rPr lang="en-US" sz="1000" dirty="0">
                <a:solidFill>
                  <a:srgbClr val="666666"/>
                </a:solidFill>
              </a:rPr>
              <a:t>Overall correctness of predictions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754880" y="1417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4057"/>
                </a:solidFill>
              </a:rPr>
              <a:t>Precision: </a:t>
            </a:r>
            <a:r>
              <a:rPr lang="en-US" sz="1000" i="1" dirty="0">
                <a:solidFill>
                  <a:srgbClr val="F78422"/>
                </a:solidFill>
              </a:rPr>
              <a:t>TP/(TP+FP)
</a:t>
            </a:r>
            <a:r>
              <a:rPr lang="en-US" sz="1000" dirty="0">
                <a:solidFill>
                  <a:srgbClr val="666666"/>
                </a:solidFill>
              </a:rPr>
              <a:t>Quality of positive predictions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754880" y="1828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4057"/>
                </a:solidFill>
              </a:rPr>
              <a:t>Recall: </a:t>
            </a:r>
            <a:r>
              <a:rPr lang="en-US" sz="1000" i="1" dirty="0">
                <a:solidFill>
                  <a:srgbClr val="F78422"/>
                </a:solidFill>
              </a:rPr>
              <a:t>TP/(TP+FN)
</a:t>
            </a:r>
            <a:r>
              <a:rPr lang="en-US" sz="1000" dirty="0">
                <a:solidFill>
                  <a:srgbClr val="666666"/>
                </a:solidFill>
              </a:rPr>
              <a:t>Ability to capture actual positives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754880" y="2240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4057"/>
                </a:solidFill>
              </a:rPr>
              <a:t>F1 Score: </a:t>
            </a:r>
            <a:r>
              <a:rPr lang="en-US" sz="1000" i="1" dirty="0">
                <a:solidFill>
                  <a:srgbClr val="F78422"/>
                </a:solidFill>
              </a:rPr>
              <a:t>2·Precision·Recall/(Precision+Recall)
</a:t>
            </a:r>
            <a:r>
              <a:rPr lang="en-US" sz="1000" dirty="0">
                <a:solidFill>
                  <a:srgbClr val="666666"/>
                </a:solidFill>
              </a:rPr>
              <a:t>Harmonic mean of precision &amp; recall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666666"/>
                </a:solidFill>
                <a:hlinkClick r:id="rId3"/>
              </a:rPr>
              <a:t>[47]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4"/>
              </a:rPr>
              <a:t>[48]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5"/>
              </a:rPr>
              <a:t>[49]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6"/>
              </a:rPr>
              <a:t>[50]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4057"/>
                </a:solidFill>
              </a:rPr>
              <a:t>Big Data Frameworks</a:t>
            </a:r>
            <a:endParaRPr lang="en-US" sz="2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9260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Framework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Role &amp; Features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Hadoop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Open‑source framework for storing &amp; processing large data; based on MapReduce paradigm.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HDFS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Distributed file system with large block size &amp; replication; built for high throughput.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YARN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Resource manager handling job scheduling; supports MapReduce, Spark &amp; more.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Hive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SQL‑like warehouse; translates queries into MapReduce/Spark jobs; supports schema‑on‑read &amp; columnar formats.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Pig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High‑level platform using Pig Latin; compiles to MapReduce; extensible via user‑defined functions.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Spark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Unified engine for batch &amp; streaming; distributed SQL; scales from laptops to clusters; widely adopted.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666666"/>
                </a:solidFill>
                <a:hlinkClick r:id="rId3"/>
              </a:rPr>
              <a:t>[51]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4"/>
              </a:rPr>
              <a:t>[52]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5"/>
              </a:rPr>
              <a:t>[53]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6"/>
              </a:rPr>
              <a:t>[54]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7"/>
              </a:rPr>
              <a:t>[55]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8"/>
              </a:rPr>
              <a:t>[56]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9"/>
              </a:rPr>
              <a:t>[57]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10"/>
              </a:rPr>
              <a:t>[58]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11"/>
              </a:rPr>
              <a:t>[59]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12"/>
              </a:rPr>
              <a:t>[60]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4057"/>
                </a:solidFill>
              </a:rPr>
              <a:t>Large Language Models &amp; Vibe Coding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4057"/>
                </a:solidFill>
              </a:rPr>
              <a:t>Large Language Models (LLMs)
</a:t>
            </a:r>
            <a:r>
              <a:rPr lang="en-US" sz="1000" dirty="0">
                <a:solidFill>
                  <a:srgbClr val="666666"/>
                </a:solidFill>
              </a:rPr>
              <a:t>• Trained on billions of words; generate, translate &amp; summarize text
• Examples: GPT‑4, Claude, LLaMA
</a:t>
            </a:r>
            <a:r>
              <a:rPr lang="en-US" sz="1400" b="1" dirty="0">
                <a:solidFill>
                  <a:srgbClr val="2E4057"/>
                </a:solidFill>
              </a:rPr>
              <a:t>
Vibe Coding
</a:t>
            </a:r>
            <a:r>
              <a:rPr lang="en-US" sz="1000" dirty="0">
                <a:solidFill>
                  <a:srgbClr val="666666"/>
                </a:solidFill>
              </a:rPr>
              <a:t>• Developers describe desired functionality; LLM produces code
• Proposed by Andrej Karpathy (2025); enables rapid prototyping
• Benefits: empowers non‑experts; accelerates development
• Risks: reduced accountability, potential security vulnerabilities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1250" b="1250"/>
          <a:stretch/>
        </p:blipFill>
        <p:spPr>
          <a:xfrm>
            <a:off x="5303520" y="914400"/>
            <a:ext cx="365760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666666"/>
                </a:solidFill>
                <a:hlinkClick r:id="rId4"/>
              </a:rPr>
              <a:t>[61]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5"/>
              </a:rPr>
              <a:t>[62]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6"/>
              </a:rPr>
              <a:t>[63]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7"/>
              </a:rPr>
              <a:t>[64]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8"/>
              </a:rPr>
              <a:t>[65]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r>
              <a:rPr lang="en-US" sz="600" u="sng" dirty="0">
                <a:solidFill>
                  <a:srgbClr val="666666"/>
                </a:solidFill>
                <a:hlinkClick r:id="rId9"/>
              </a:rPr>
              <a:t>[66]</a:t>
            </a: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4057"/>
                </a:solidFill>
              </a:rPr>
              <a:t>Key Takeaways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9601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Understand AI vs ML and the categories of intelligent systems.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640" y="160020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Choose appropriate tools: IDEs, libraries &amp; frameworks.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8640" y="224028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5840" y="2194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Select models thoughtfully: linear, tree‑based, instance‑based &amp; margin‑based.</a:t>
            </a:r>
            <a:endParaRPr lang="en-US" sz="11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8640" y="2880360"/>
            <a:ext cx="320040" cy="3200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05840" y="2834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Evaluate models using confusion matrix metrics and regularize to avoid overfitting.</a:t>
            </a:r>
            <a:endParaRPr lang="en-US" sz="11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8640" y="3520440"/>
            <a:ext cx="320040" cy="32004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0584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Embrace big data tools &amp; LLMs while remaining critical of automation.</a:t>
            </a:r>
            <a:endParaRPr lang="en-US" sz="1100" dirty="0"/>
          </a:p>
        </p:txBody>
      </p:sp>
      <p:sp>
        <p:nvSpPr>
          <p:cNvPr id="13" name="Text 6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E4057"/>
                </a:solidFill>
              </a:rPr>
              <a:t>Questions?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78422"/>
                </a:solidFill>
              </a:rPr>
              <a:t>Thank you for attending!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1706</Words>
  <Application>Microsoft Office PowerPoint</Application>
  <PresentationFormat>On-screen Show (16:9)</PresentationFormat>
  <Paragraphs>179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John Kamau Kamau</cp:lastModifiedBy>
  <cp:revision>1</cp:revision>
  <dcterms:created xsi:type="dcterms:W3CDTF">2026-03-22T13:20:36Z</dcterms:created>
  <dcterms:modified xsi:type="dcterms:W3CDTF">2026-03-23T08:31:55Z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95cf23d-70b0-4a80-9221-1d774ac27fb2_Enabled">
    <vt:lpwstr>true</vt:lpwstr>
  </property>
  <property fmtid="{D5CDD505-2E9C-101B-9397-08002B2CF9AE}" pid="3" name="MSIP_Label_695cf23d-70b0-4a80-9221-1d774ac27fb2_SetDate">
    <vt:lpwstr>2026-03-23T08:31:55Z</vt:lpwstr>
  </property>
  <property fmtid="{D5CDD505-2E9C-101B-9397-08002B2CF9AE}" pid="4" name="MSIP_Label_695cf23d-70b0-4a80-9221-1d774ac27fb2_Method">
    <vt:lpwstr>Standard</vt:lpwstr>
  </property>
  <property fmtid="{D5CDD505-2E9C-101B-9397-08002B2CF9AE}" pid="5" name="MSIP_Label_695cf23d-70b0-4a80-9221-1d774ac27fb2_Name">
    <vt:lpwstr>Document internal</vt:lpwstr>
  </property>
  <property fmtid="{D5CDD505-2E9C-101B-9397-08002B2CF9AE}" pid="6" name="MSIP_Label_695cf23d-70b0-4a80-9221-1d774ac27fb2_SiteId">
    <vt:lpwstr>8482881e-3699-4b3f-b135-cf4800bc1efb</vt:lpwstr>
  </property>
  <property fmtid="{D5CDD505-2E9C-101B-9397-08002B2CF9AE}" pid="7" name="MSIP_Label_695cf23d-70b0-4a80-9221-1d774ac27fb2_ActionId">
    <vt:lpwstr>5568f09c-7e1d-4def-8999-da24da49d228</vt:lpwstr>
  </property>
  <property fmtid="{D5CDD505-2E9C-101B-9397-08002B2CF9AE}" pid="8" name="MSIP_Label_695cf23d-70b0-4a80-9221-1d774ac27fb2_ContentBits">
    <vt:lpwstr>0</vt:lpwstr>
  </property>
  <property fmtid="{D5CDD505-2E9C-101B-9397-08002B2CF9AE}" pid="9" name="MSIP_Label_695cf23d-70b0-4a80-9221-1d774ac27fb2_Tag">
    <vt:lpwstr>10, 3, 0, 1</vt:lpwstr>
  </property>
</Properties>
</file>